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92" r:id="rId2"/>
    <p:sldId id="293" r:id="rId3"/>
    <p:sldId id="294" r:id="rId4"/>
    <p:sldId id="295" r:id="rId5"/>
    <p:sldId id="296" r:id="rId6"/>
    <p:sldId id="297" r:id="rId7"/>
    <p:sldId id="298" r:id="rId8"/>
    <p:sldId id="299" r:id="rId9"/>
    <p:sldId id="301" r:id="rId10"/>
    <p:sldId id="303" r:id="rId11"/>
    <p:sldId id="28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40" userDrawn="1">
          <p15:clr>
            <a:srgbClr val="A4A3A4"/>
          </p15:clr>
        </p15:guide>
        <p15:guide id="3" pos="384" userDrawn="1">
          <p15:clr>
            <a:srgbClr val="A4A3A4"/>
          </p15:clr>
        </p15:guide>
        <p15:guide id="4" pos="7296" userDrawn="1">
          <p15:clr>
            <a:srgbClr val="A4A3A4"/>
          </p15:clr>
        </p15:guide>
        <p15:guide id="5" orient="horz" pos="3890" userDrawn="1">
          <p15:clr>
            <a:srgbClr val="A4A3A4"/>
          </p15:clr>
        </p15:guide>
        <p15:guide id="6" orient="horz" pos="432" userDrawn="1">
          <p15:clr>
            <a:srgbClr val="A4A3A4"/>
          </p15:clr>
        </p15:guide>
        <p15:guide id="7" orient="horz" pos="1008" userDrawn="1">
          <p15:clr>
            <a:srgbClr val="A4A3A4"/>
          </p15:clr>
        </p15:guide>
        <p15:guide id="8" pos="3144" userDrawn="1">
          <p15:clr>
            <a:srgbClr val="A4A3A4"/>
          </p15:clr>
        </p15:guide>
        <p15:guide id="9" pos="44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1100F"/>
    <a:srgbClr val="FFC857"/>
    <a:srgbClr val="008C45"/>
    <a:srgbClr val="E0E0E0"/>
    <a:srgbClr val="C41F1F"/>
    <a:srgbClr val="FF4D4D"/>
    <a:srgbClr val="BD1111"/>
    <a:srgbClr val="BFBFBF"/>
    <a:srgbClr val="FFD100"/>
    <a:srgbClr val="4DD1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42C714-A422-4D4F-8C01-DA73FB8225DC}" v="3039" dt="2026-03-10T16:19:34.189"/>
    <p1510:client id="{B2FF74CD-7607-914A-AA9E-FD34331ABF51}" v="3942" dt="2026-03-10T06:35:25.5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17"/>
    <p:restoredTop sz="84231"/>
  </p:normalViewPr>
  <p:slideViewPr>
    <p:cSldViewPr snapToGrid="0" showGuides="1">
      <p:cViewPr>
        <p:scale>
          <a:sx n="109" d="100"/>
          <a:sy n="109" d="100"/>
        </p:scale>
        <p:origin x="96" y="-448"/>
      </p:cViewPr>
      <p:guideLst>
        <p:guide orient="horz" pos="2136"/>
        <p:guide pos="3840"/>
        <p:guide pos="384"/>
        <p:guide pos="7296"/>
        <p:guide orient="horz" pos="3890"/>
        <p:guide orient="horz" pos="432"/>
        <p:guide orient="horz" pos="1008"/>
        <p:guide pos="3144"/>
        <p:guide pos="448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1764180519101778E-2"/>
          <c:y val="4.3017890627063286E-2"/>
          <c:w val="0.96592100466608344"/>
          <c:h val="0.76360861804864733"/>
        </c:manualLayout>
      </c:layout>
      <c:barChart>
        <c:barDir val="col"/>
        <c:grouping val="stacked"/>
        <c:varyColors val="0"/>
        <c:ser>
          <c:idx val="0"/>
          <c:order val="0"/>
          <c:tx>
            <c:strRef>
              <c:f>Sheet1!$B$1</c:f>
              <c:strCache>
                <c:ptCount val="1"/>
                <c:pt idx="0">
                  <c:v>China BEV</c:v>
                </c:pt>
              </c:strCache>
            </c:strRef>
          </c:tx>
          <c:spPr>
            <a:solidFill>
              <a:srgbClr val="BD1111"/>
            </a:solidFill>
            <a:ln>
              <a:noFill/>
            </a:ln>
            <a:effectLst/>
          </c:spPr>
          <c:invertIfNegative val="0"/>
          <c:cat>
            <c:numRef>
              <c:f>Sheet1!$A$2:$A$12</c:f>
              <c:numCache>
                <c:formatCode>General</c:formatCode>
                <c:ptCount val="11"/>
                <c:pt idx="0">
                  <c:v>2014</c:v>
                </c:pt>
                <c:pt idx="1">
                  <c:v>2015</c:v>
                </c:pt>
                <c:pt idx="2">
                  <c:v>2016</c:v>
                </c:pt>
                <c:pt idx="3">
                  <c:v>2017</c:v>
                </c:pt>
                <c:pt idx="4">
                  <c:v>2018</c:v>
                </c:pt>
                <c:pt idx="5">
                  <c:v>2019</c:v>
                </c:pt>
                <c:pt idx="6">
                  <c:v>2020</c:v>
                </c:pt>
                <c:pt idx="7">
                  <c:v>2021</c:v>
                </c:pt>
                <c:pt idx="8">
                  <c:v>2022</c:v>
                </c:pt>
                <c:pt idx="9">
                  <c:v>2023</c:v>
                </c:pt>
                <c:pt idx="10">
                  <c:v>2024</c:v>
                </c:pt>
              </c:numCache>
            </c:numRef>
          </c:cat>
          <c:val>
            <c:numRef>
              <c:f>Sheet1!$B$2:$B$12</c:f>
              <c:numCache>
                <c:formatCode>General</c:formatCode>
                <c:ptCount val="11"/>
                <c:pt idx="0">
                  <c:v>0</c:v>
                </c:pt>
                <c:pt idx="1">
                  <c:v>0.1</c:v>
                </c:pt>
                <c:pt idx="2">
                  <c:v>0.3</c:v>
                </c:pt>
                <c:pt idx="3">
                  <c:v>0.5</c:v>
                </c:pt>
                <c:pt idx="4">
                  <c:v>0.8</c:v>
                </c:pt>
                <c:pt idx="5">
                  <c:v>0.8</c:v>
                </c:pt>
                <c:pt idx="6">
                  <c:v>0.9</c:v>
                </c:pt>
                <c:pt idx="7">
                  <c:v>2.7</c:v>
                </c:pt>
                <c:pt idx="8">
                  <c:v>4.4000000000000004</c:v>
                </c:pt>
                <c:pt idx="9">
                  <c:v>5.4</c:v>
                </c:pt>
                <c:pt idx="10">
                  <c:v>6.4</c:v>
                </c:pt>
              </c:numCache>
            </c:numRef>
          </c:val>
          <c:extLst>
            <c:ext xmlns:c16="http://schemas.microsoft.com/office/drawing/2014/chart" uri="{C3380CC4-5D6E-409C-BE32-E72D297353CC}">
              <c16:uniqueId val="{00000000-7938-934E-A78D-BD3910066543}"/>
            </c:ext>
          </c:extLst>
        </c:ser>
        <c:ser>
          <c:idx val="1"/>
          <c:order val="1"/>
          <c:tx>
            <c:strRef>
              <c:f>Sheet1!$C$1</c:f>
              <c:strCache>
                <c:ptCount val="1"/>
                <c:pt idx="0">
                  <c:v>China PHEV</c:v>
                </c:pt>
              </c:strCache>
            </c:strRef>
          </c:tx>
          <c:spPr>
            <a:solidFill>
              <a:srgbClr val="FF4D4D"/>
            </a:solidFill>
            <a:ln>
              <a:noFill/>
            </a:ln>
            <a:effectLst/>
          </c:spPr>
          <c:invertIfNegative val="0"/>
          <c:cat>
            <c:numRef>
              <c:f>Sheet1!$A$2:$A$12</c:f>
              <c:numCache>
                <c:formatCode>General</c:formatCode>
                <c:ptCount val="11"/>
                <c:pt idx="0">
                  <c:v>2014</c:v>
                </c:pt>
                <c:pt idx="1">
                  <c:v>2015</c:v>
                </c:pt>
                <c:pt idx="2">
                  <c:v>2016</c:v>
                </c:pt>
                <c:pt idx="3">
                  <c:v>2017</c:v>
                </c:pt>
                <c:pt idx="4">
                  <c:v>2018</c:v>
                </c:pt>
                <c:pt idx="5">
                  <c:v>2019</c:v>
                </c:pt>
                <c:pt idx="6">
                  <c:v>2020</c:v>
                </c:pt>
                <c:pt idx="7">
                  <c:v>2021</c:v>
                </c:pt>
                <c:pt idx="8">
                  <c:v>2022</c:v>
                </c:pt>
                <c:pt idx="9">
                  <c:v>2023</c:v>
                </c:pt>
                <c:pt idx="10">
                  <c:v>2024</c:v>
                </c:pt>
              </c:numCache>
            </c:numRef>
          </c:cat>
          <c:val>
            <c:numRef>
              <c:f>Sheet1!$C$2:$C$12</c:f>
              <c:numCache>
                <c:formatCode>General</c:formatCode>
                <c:ptCount val="11"/>
                <c:pt idx="0">
                  <c:v>0</c:v>
                </c:pt>
                <c:pt idx="1">
                  <c:v>0.1</c:v>
                </c:pt>
                <c:pt idx="2">
                  <c:v>0.1</c:v>
                </c:pt>
                <c:pt idx="3">
                  <c:v>0.1</c:v>
                </c:pt>
                <c:pt idx="4">
                  <c:v>0.3</c:v>
                </c:pt>
                <c:pt idx="5">
                  <c:v>0.2</c:v>
                </c:pt>
                <c:pt idx="6">
                  <c:v>0.2</c:v>
                </c:pt>
                <c:pt idx="7">
                  <c:v>0.5</c:v>
                </c:pt>
                <c:pt idx="8">
                  <c:v>1.5</c:v>
                </c:pt>
                <c:pt idx="9">
                  <c:v>2.7</c:v>
                </c:pt>
                <c:pt idx="10">
                  <c:v>4.9000000000000004</c:v>
                </c:pt>
              </c:numCache>
            </c:numRef>
          </c:val>
          <c:extLst>
            <c:ext xmlns:c16="http://schemas.microsoft.com/office/drawing/2014/chart" uri="{C3380CC4-5D6E-409C-BE32-E72D297353CC}">
              <c16:uniqueId val="{00000001-7938-934E-A78D-BD3910066543}"/>
            </c:ext>
          </c:extLst>
        </c:ser>
        <c:ser>
          <c:idx val="2"/>
          <c:order val="2"/>
          <c:tx>
            <c:strRef>
              <c:f>Sheet1!$D$1</c:f>
              <c:strCache>
                <c:ptCount val="1"/>
                <c:pt idx="0">
                  <c:v>Europe BEV</c:v>
                </c:pt>
              </c:strCache>
            </c:strRef>
          </c:tx>
          <c:spPr>
            <a:solidFill>
              <a:srgbClr val="008C45"/>
            </a:solidFill>
            <a:ln>
              <a:noFill/>
            </a:ln>
            <a:effectLst/>
          </c:spPr>
          <c:invertIfNegative val="0"/>
          <c:cat>
            <c:numRef>
              <c:f>Sheet1!$A$2:$A$12</c:f>
              <c:numCache>
                <c:formatCode>General</c:formatCode>
                <c:ptCount val="11"/>
                <c:pt idx="0">
                  <c:v>2014</c:v>
                </c:pt>
                <c:pt idx="1">
                  <c:v>2015</c:v>
                </c:pt>
                <c:pt idx="2">
                  <c:v>2016</c:v>
                </c:pt>
                <c:pt idx="3">
                  <c:v>2017</c:v>
                </c:pt>
                <c:pt idx="4">
                  <c:v>2018</c:v>
                </c:pt>
                <c:pt idx="5">
                  <c:v>2019</c:v>
                </c:pt>
                <c:pt idx="6">
                  <c:v>2020</c:v>
                </c:pt>
                <c:pt idx="7">
                  <c:v>2021</c:v>
                </c:pt>
                <c:pt idx="8">
                  <c:v>2022</c:v>
                </c:pt>
                <c:pt idx="9">
                  <c:v>2023</c:v>
                </c:pt>
                <c:pt idx="10">
                  <c:v>2024</c:v>
                </c:pt>
              </c:numCache>
            </c:numRef>
          </c:cat>
          <c:val>
            <c:numRef>
              <c:f>Sheet1!$D$2:$D$12</c:f>
              <c:numCache>
                <c:formatCode>General</c:formatCode>
                <c:ptCount val="11"/>
                <c:pt idx="0">
                  <c:v>0.1</c:v>
                </c:pt>
                <c:pt idx="1">
                  <c:v>0.1</c:v>
                </c:pt>
                <c:pt idx="2">
                  <c:v>0.1</c:v>
                </c:pt>
                <c:pt idx="3">
                  <c:v>0.1</c:v>
                </c:pt>
                <c:pt idx="4">
                  <c:v>0.2</c:v>
                </c:pt>
                <c:pt idx="5">
                  <c:v>0.4</c:v>
                </c:pt>
                <c:pt idx="6">
                  <c:v>0.8</c:v>
                </c:pt>
                <c:pt idx="7">
                  <c:v>1.2</c:v>
                </c:pt>
                <c:pt idx="8">
                  <c:v>1.6</c:v>
                </c:pt>
                <c:pt idx="9">
                  <c:v>2.2000000000000002</c:v>
                </c:pt>
                <c:pt idx="10">
                  <c:v>2.2000000000000002</c:v>
                </c:pt>
              </c:numCache>
            </c:numRef>
          </c:val>
          <c:extLst>
            <c:ext xmlns:c16="http://schemas.microsoft.com/office/drawing/2014/chart" uri="{C3380CC4-5D6E-409C-BE32-E72D297353CC}">
              <c16:uniqueId val="{00000002-7938-934E-A78D-BD3910066543}"/>
            </c:ext>
          </c:extLst>
        </c:ser>
        <c:ser>
          <c:idx val="3"/>
          <c:order val="3"/>
          <c:tx>
            <c:strRef>
              <c:f>Sheet1!$E$1</c:f>
              <c:strCache>
                <c:ptCount val="1"/>
                <c:pt idx="0">
                  <c:v>Europe PHEV</c:v>
                </c:pt>
              </c:strCache>
            </c:strRef>
          </c:tx>
          <c:spPr>
            <a:solidFill>
              <a:srgbClr val="4DD17A"/>
            </a:solidFill>
            <a:ln>
              <a:noFill/>
            </a:ln>
            <a:effectLst/>
          </c:spPr>
          <c:invertIfNegative val="0"/>
          <c:cat>
            <c:numRef>
              <c:f>Sheet1!$A$2:$A$12</c:f>
              <c:numCache>
                <c:formatCode>General</c:formatCode>
                <c:ptCount val="11"/>
                <c:pt idx="0">
                  <c:v>2014</c:v>
                </c:pt>
                <c:pt idx="1">
                  <c:v>2015</c:v>
                </c:pt>
                <c:pt idx="2">
                  <c:v>2016</c:v>
                </c:pt>
                <c:pt idx="3">
                  <c:v>2017</c:v>
                </c:pt>
                <c:pt idx="4">
                  <c:v>2018</c:v>
                </c:pt>
                <c:pt idx="5">
                  <c:v>2019</c:v>
                </c:pt>
                <c:pt idx="6">
                  <c:v>2020</c:v>
                </c:pt>
                <c:pt idx="7">
                  <c:v>2021</c:v>
                </c:pt>
                <c:pt idx="8">
                  <c:v>2022</c:v>
                </c:pt>
                <c:pt idx="9">
                  <c:v>2023</c:v>
                </c:pt>
                <c:pt idx="10">
                  <c:v>2024</c:v>
                </c:pt>
              </c:numCache>
            </c:numRef>
          </c:cat>
          <c:val>
            <c:numRef>
              <c:f>Sheet1!$E$2:$E$12</c:f>
              <c:numCache>
                <c:formatCode>General</c:formatCode>
                <c:ptCount val="11"/>
                <c:pt idx="0">
                  <c:v>0</c:v>
                </c:pt>
                <c:pt idx="1">
                  <c:v>0.1</c:v>
                </c:pt>
                <c:pt idx="2">
                  <c:v>0.1</c:v>
                </c:pt>
                <c:pt idx="3">
                  <c:v>0.2</c:v>
                </c:pt>
                <c:pt idx="4">
                  <c:v>0.2</c:v>
                </c:pt>
                <c:pt idx="5">
                  <c:v>0.2</c:v>
                </c:pt>
                <c:pt idx="6">
                  <c:v>0.6</c:v>
                </c:pt>
                <c:pt idx="7">
                  <c:v>1.1000000000000001</c:v>
                </c:pt>
                <c:pt idx="8">
                  <c:v>1</c:v>
                </c:pt>
                <c:pt idx="9">
                  <c:v>1</c:v>
                </c:pt>
                <c:pt idx="10">
                  <c:v>1</c:v>
                </c:pt>
              </c:numCache>
            </c:numRef>
          </c:val>
          <c:extLst>
            <c:ext xmlns:c16="http://schemas.microsoft.com/office/drawing/2014/chart" uri="{C3380CC4-5D6E-409C-BE32-E72D297353CC}">
              <c16:uniqueId val="{00000003-7938-934E-A78D-BD3910066543}"/>
            </c:ext>
          </c:extLst>
        </c:ser>
        <c:ser>
          <c:idx val="4"/>
          <c:order val="4"/>
          <c:tx>
            <c:strRef>
              <c:f>Sheet1!$F$1</c:f>
              <c:strCache>
                <c:ptCount val="1"/>
                <c:pt idx="0">
                  <c:v>US BEV</c:v>
                </c:pt>
              </c:strCache>
            </c:strRef>
          </c:tx>
          <c:spPr>
            <a:solidFill>
              <a:srgbClr val="FFD100"/>
            </a:solidFill>
            <a:ln>
              <a:noFill/>
            </a:ln>
            <a:effectLst/>
          </c:spPr>
          <c:invertIfNegative val="0"/>
          <c:cat>
            <c:numRef>
              <c:f>Sheet1!$A$2:$A$12</c:f>
              <c:numCache>
                <c:formatCode>General</c:formatCode>
                <c:ptCount val="11"/>
                <c:pt idx="0">
                  <c:v>2014</c:v>
                </c:pt>
                <c:pt idx="1">
                  <c:v>2015</c:v>
                </c:pt>
                <c:pt idx="2">
                  <c:v>2016</c:v>
                </c:pt>
                <c:pt idx="3">
                  <c:v>2017</c:v>
                </c:pt>
                <c:pt idx="4">
                  <c:v>2018</c:v>
                </c:pt>
                <c:pt idx="5">
                  <c:v>2019</c:v>
                </c:pt>
                <c:pt idx="6">
                  <c:v>2020</c:v>
                </c:pt>
                <c:pt idx="7">
                  <c:v>2021</c:v>
                </c:pt>
                <c:pt idx="8">
                  <c:v>2022</c:v>
                </c:pt>
                <c:pt idx="9">
                  <c:v>2023</c:v>
                </c:pt>
                <c:pt idx="10">
                  <c:v>2024</c:v>
                </c:pt>
              </c:numCache>
            </c:numRef>
          </c:cat>
          <c:val>
            <c:numRef>
              <c:f>Sheet1!$F$2:$F$12</c:f>
              <c:numCache>
                <c:formatCode>General</c:formatCode>
                <c:ptCount val="11"/>
                <c:pt idx="0">
                  <c:v>0.1</c:v>
                </c:pt>
                <c:pt idx="1">
                  <c:v>0.1</c:v>
                </c:pt>
                <c:pt idx="2">
                  <c:v>0.1</c:v>
                </c:pt>
                <c:pt idx="3">
                  <c:v>0.1</c:v>
                </c:pt>
                <c:pt idx="4">
                  <c:v>0.2</c:v>
                </c:pt>
                <c:pt idx="5">
                  <c:v>0.2</c:v>
                </c:pt>
                <c:pt idx="6">
                  <c:v>0.2</c:v>
                </c:pt>
                <c:pt idx="7">
                  <c:v>0.5</c:v>
                </c:pt>
                <c:pt idx="8">
                  <c:v>0.8</c:v>
                </c:pt>
                <c:pt idx="9">
                  <c:v>1.1000000000000001</c:v>
                </c:pt>
                <c:pt idx="10">
                  <c:v>1.2</c:v>
                </c:pt>
              </c:numCache>
            </c:numRef>
          </c:val>
          <c:extLst>
            <c:ext xmlns:c16="http://schemas.microsoft.com/office/drawing/2014/chart" uri="{C3380CC4-5D6E-409C-BE32-E72D297353CC}">
              <c16:uniqueId val="{00000004-7938-934E-A78D-BD3910066543}"/>
            </c:ext>
          </c:extLst>
        </c:ser>
        <c:ser>
          <c:idx val="5"/>
          <c:order val="5"/>
          <c:tx>
            <c:strRef>
              <c:f>Sheet1!$G$1</c:f>
              <c:strCache>
                <c:ptCount val="1"/>
                <c:pt idx="0">
                  <c:v>US PHEV</c:v>
                </c:pt>
              </c:strCache>
            </c:strRef>
          </c:tx>
          <c:spPr>
            <a:solidFill>
              <a:srgbClr val="FFC857"/>
            </a:solidFill>
            <a:ln>
              <a:noFill/>
            </a:ln>
            <a:effectLst/>
          </c:spPr>
          <c:invertIfNegative val="0"/>
          <c:cat>
            <c:numRef>
              <c:f>Sheet1!$A$2:$A$12</c:f>
              <c:numCache>
                <c:formatCode>General</c:formatCode>
                <c:ptCount val="11"/>
                <c:pt idx="0">
                  <c:v>2014</c:v>
                </c:pt>
                <c:pt idx="1">
                  <c:v>2015</c:v>
                </c:pt>
                <c:pt idx="2">
                  <c:v>2016</c:v>
                </c:pt>
                <c:pt idx="3">
                  <c:v>2017</c:v>
                </c:pt>
                <c:pt idx="4">
                  <c:v>2018</c:v>
                </c:pt>
                <c:pt idx="5">
                  <c:v>2019</c:v>
                </c:pt>
                <c:pt idx="6">
                  <c:v>2020</c:v>
                </c:pt>
                <c:pt idx="7">
                  <c:v>2021</c:v>
                </c:pt>
                <c:pt idx="8">
                  <c:v>2022</c:v>
                </c:pt>
                <c:pt idx="9">
                  <c:v>2023</c:v>
                </c:pt>
                <c:pt idx="10">
                  <c:v>2024</c:v>
                </c:pt>
              </c:numCache>
            </c:numRef>
          </c:cat>
          <c:val>
            <c:numRef>
              <c:f>Sheet1!$G$2:$G$12</c:f>
              <c:numCache>
                <c:formatCode>General</c:formatCode>
                <c:ptCount val="11"/>
                <c:pt idx="0">
                  <c:v>0.1</c:v>
                </c:pt>
                <c:pt idx="1">
                  <c:v>0</c:v>
                </c:pt>
                <c:pt idx="2">
                  <c:v>0.1</c:v>
                </c:pt>
                <c:pt idx="3">
                  <c:v>0.1</c:v>
                </c:pt>
                <c:pt idx="4">
                  <c:v>0.1</c:v>
                </c:pt>
                <c:pt idx="5">
                  <c:v>0.1</c:v>
                </c:pt>
                <c:pt idx="6">
                  <c:v>0.1</c:v>
                </c:pt>
                <c:pt idx="7">
                  <c:v>0.2</c:v>
                </c:pt>
                <c:pt idx="8">
                  <c:v>0.2</c:v>
                </c:pt>
                <c:pt idx="9">
                  <c:v>0.3</c:v>
                </c:pt>
                <c:pt idx="10">
                  <c:v>0.3</c:v>
                </c:pt>
              </c:numCache>
            </c:numRef>
          </c:val>
          <c:extLst>
            <c:ext xmlns:c16="http://schemas.microsoft.com/office/drawing/2014/chart" uri="{C3380CC4-5D6E-409C-BE32-E72D297353CC}">
              <c16:uniqueId val="{00000005-7938-934E-A78D-BD3910066543}"/>
            </c:ext>
          </c:extLst>
        </c:ser>
        <c:ser>
          <c:idx val="6"/>
          <c:order val="6"/>
          <c:tx>
            <c:strRef>
              <c:f>Sheet1!$H$1</c:f>
              <c:strCache>
                <c:ptCount val="1"/>
                <c:pt idx="0">
                  <c:v>Rest of World BEV</c:v>
                </c:pt>
              </c:strCache>
            </c:strRef>
          </c:tx>
          <c:spPr>
            <a:solidFill>
              <a:srgbClr val="BFBFBF"/>
            </a:solidFill>
            <a:ln>
              <a:noFill/>
            </a:ln>
            <a:effectLst/>
          </c:spPr>
          <c:invertIfNegative val="0"/>
          <c:cat>
            <c:numRef>
              <c:f>Sheet1!$A$2:$A$12</c:f>
              <c:numCache>
                <c:formatCode>General</c:formatCode>
                <c:ptCount val="11"/>
                <c:pt idx="0">
                  <c:v>2014</c:v>
                </c:pt>
                <c:pt idx="1">
                  <c:v>2015</c:v>
                </c:pt>
                <c:pt idx="2">
                  <c:v>2016</c:v>
                </c:pt>
                <c:pt idx="3">
                  <c:v>2017</c:v>
                </c:pt>
                <c:pt idx="4">
                  <c:v>2018</c:v>
                </c:pt>
                <c:pt idx="5">
                  <c:v>2019</c:v>
                </c:pt>
                <c:pt idx="6">
                  <c:v>2020</c:v>
                </c:pt>
                <c:pt idx="7">
                  <c:v>2021</c:v>
                </c:pt>
                <c:pt idx="8">
                  <c:v>2022</c:v>
                </c:pt>
                <c:pt idx="9">
                  <c:v>2023</c:v>
                </c:pt>
                <c:pt idx="10">
                  <c:v>2024</c:v>
                </c:pt>
              </c:numCache>
            </c:numRef>
          </c:cat>
          <c:val>
            <c:numRef>
              <c:f>Sheet1!$H$2:$H$12</c:f>
              <c:numCache>
                <c:formatCode>General</c:formatCode>
                <c:ptCount val="11"/>
                <c:pt idx="0">
                  <c:v>0</c:v>
                </c:pt>
                <c:pt idx="1">
                  <c:v>0</c:v>
                </c:pt>
                <c:pt idx="2">
                  <c:v>0</c:v>
                </c:pt>
                <c:pt idx="3">
                  <c:v>0</c:v>
                </c:pt>
                <c:pt idx="4">
                  <c:v>0.1</c:v>
                </c:pt>
                <c:pt idx="5">
                  <c:v>0.1</c:v>
                </c:pt>
                <c:pt idx="6">
                  <c:v>0.1</c:v>
                </c:pt>
                <c:pt idx="7">
                  <c:v>0.2</c:v>
                </c:pt>
                <c:pt idx="8">
                  <c:v>0.5</c:v>
                </c:pt>
                <c:pt idx="9">
                  <c:v>0.8</c:v>
                </c:pt>
                <c:pt idx="10">
                  <c:v>1</c:v>
                </c:pt>
              </c:numCache>
            </c:numRef>
          </c:val>
          <c:extLst>
            <c:ext xmlns:c16="http://schemas.microsoft.com/office/drawing/2014/chart" uri="{C3380CC4-5D6E-409C-BE32-E72D297353CC}">
              <c16:uniqueId val="{00000006-7938-934E-A78D-BD3910066543}"/>
            </c:ext>
          </c:extLst>
        </c:ser>
        <c:ser>
          <c:idx val="7"/>
          <c:order val="7"/>
          <c:tx>
            <c:strRef>
              <c:f>Sheet1!$I$1</c:f>
              <c:strCache>
                <c:ptCount val="1"/>
                <c:pt idx="0">
                  <c:v>Rest of World PHEV</c:v>
                </c:pt>
              </c:strCache>
            </c:strRef>
          </c:tx>
          <c:spPr>
            <a:solidFill>
              <a:srgbClr val="E0E0E0"/>
            </a:solidFill>
            <a:ln>
              <a:noFill/>
            </a:ln>
            <a:effectLst/>
          </c:spPr>
          <c:invertIfNegative val="0"/>
          <c:cat>
            <c:numRef>
              <c:f>Sheet1!$A$2:$A$12</c:f>
              <c:numCache>
                <c:formatCode>General</c:formatCode>
                <c:ptCount val="11"/>
                <c:pt idx="0">
                  <c:v>2014</c:v>
                </c:pt>
                <c:pt idx="1">
                  <c:v>2015</c:v>
                </c:pt>
                <c:pt idx="2">
                  <c:v>2016</c:v>
                </c:pt>
                <c:pt idx="3">
                  <c:v>2017</c:v>
                </c:pt>
                <c:pt idx="4">
                  <c:v>2018</c:v>
                </c:pt>
                <c:pt idx="5">
                  <c:v>2019</c:v>
                </c:pt>
                <c:pt idx="6">
                  <c:v>2020</c:v>
                </c:pt>
                <c:pt idx="7">
                  <c:v>2021</c:v>
                </c:pt>
                <c:pt idx="8">
                  <c:v>2022</c:v>
                </c:pt>
                <c:pt idx="9">
                  <c:v>2023</c:v>
                </c:pt>
                <c:pt idx="10">
                  <c:v>2024</c:v>
                </c:pt>
              </c:numCache>
            </c:numRef>
          </c:cat>
          <c:val>
            <c:numRef>
              <c:f>Sheet1!$I$2:$I$12</c:f>
              <c:numCache>
                <c:formatCode>General</c:formatCode>
                <c:ptCount val="11"/>
                <c:pt idx="0">
                  <c:v>0</c:v>
                </c:pt>
                <c:pt idx="1">
                  <c:v>0</c:v>
                </c:pt>
                <c:pt idx="2">
                  <c:v>0</c:v>
                </c:pt>
                <c:pt idx="3">
                  <c:v>0.1</c:v>
                </c:pt>
                <c:pt idx="4">
                  <c:v>0.1</c:v>
                </c:pt>
                <c:pt idx="5">
                  <c:v>0.1</c:v>
                </c:pt>
                <c:pt idx="6">
                  <c:v>0.1</c:v>
                </c:pt>
                <c:pt idx="7">
                  <c:v>0.1</c:v>
                </c:pt>
                <c:pt idx="8">
                  <c:v>0.1</c:v>
                </c:pt>
                <c:pt idx="9">
                  <c:v>0.2</c:v>
                </c:pt>
                <c:pt idx="10">
                  <c:v>0.3</c:v>
                </c:pt>
              </c:numCache>
            </c:numRef>
          </c:val>
          <c:extLst>
            <c:ext xmlns:c16="http://schemas.microsoft.com/office/drawing/2014/chart" uri="{C3380CC4-5D6E-409C-BE32-E72D297353CC}">
              <c16:uniqueId val="{00000007-7938-934E-A78D-BD3910066543}"/>
            </c:ext>
          </c:extLst>
        </c:ser>
        <c:dLbls>
          <c:showLegendKey val="0"/>
          <c:showVal val="0"/>
          <c:showCatName val="0"/>
          <c:showSerName val="0"/>
          <c:showPercent val="0"/>
          <c:showBubbleSize val="0"/>
        </c:dLbls>
        <c:gapWidth val="150"/>
        <c:overlap val="100"/>
        <c:axId val="880257056"/>
        <c:axId val="1240111008"/>
      </c:barChart>
      <c:catAx>
        <c:axId val="8802570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bg1"/>
                </a:solidFill>
                <a:latin typeface="Montserrat" pitchFamily="2" charset="77"/>
                <a:ea typeface="+mn-ea"/>
                <a:cs typeface="+mn-cs"/>
              </a:defRPr>
            </a:pPr>
            <a:endParaRPr lang="en-US"/>
          </a:p>
        </c:txPr>
        <c:crossAx val="1240111008"/>
        <c:crosses val="autoZero"/>
        <c:auto val="1"/>
        <c:lblAlgn val="ctr"/>
        <c:lblOffset val="100"/>
        <c:noMultiLvlLbl val="0"/>
      </c:catAx>
      <c:valAx>
        <c:axId val="124011100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bg1"/>
                </a:solidFill>
                <a:latin typeface="Montserrat" pitchFamily="2" charset="77"/>
                <a:ea typeface="+mn-ea"/>
                <a:cs typeface="+mn-cs"/>
              </a:defRPr>
            </a:pPr>
            <a:endParaRPr lang="en-US"/>
          </a:p>
        </c:txPr>
        <c:crossAx val="88025705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ontserrat"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bg1"/>
          </a:solidFill>
          <a:latin typeface="Montserrat" pitchFamily="2" charset="77"/>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6770F-4FA2-624A-ABA3-86A4CAC7B491}" type="datetimeFigureOut">
              <a:rPr lang="en-US" smtClean="0"/>
              <a:t>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D70997-B7B6-A147-B379-FE4C5E3CAC92}" type="slidenum">
              <a:rPr lang="en-US" smtClean="0"/>
              <a:t>‹#›</a:t>
            </a:fld>
            <a:endParaRPr lang="en-US"/>
          </a:p>
        </p:txBody>
      </p:sp>
    </p:spTree>
    <p:extLst>
      <p:ext uri="{BB962C8B-B14F-4D97-AF65-F5344CB8AC3E}">
        <p14:creationId xmlns:p14="http://schemas.microsoft.com/office/powerpoint/2010/main" val="1164960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67BC2-F6C9-1814-E937-99E6B514E5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C94470-7533-59E8-210C-EB72292486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9A62BC-57B3-9DB6-E781-B4DC9402E472}"/>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The core tension in this story is luxury scarcity versus EV standardization. Historically, Ferrari’s economics have been driven by controlled production, emotional differentiation, and strong pricing power. But electrification may standardize performance characteristics across manufacturers, potentially weakening the durability of that moat.</a:t>
            </a:r>
          </a:p>
          <a:p>
            <a:r>
              <a:rPr lang="en-US" sz="1200" b="0" i="0" u="none" strike="noStrike" kern="1200" dirty="0">
                <a:solidFill>
                  <a:schemeClr val="tx1"/>
                </a:solidFill>
                <a:effectLst/>
                <a:latin typeface="+mn-lt"/>
                <a:ea typeface="+mn-ea"/>
                <a:cs typeface="+mn-cs"/>
              </a:rPr>
              <a:t>Under our base-case DCF model, we estimate an intrinsic value of €226.84 per share.</a:t>
            </a:r>
          </a:p>
          <a:p>
            <a:r>
              <a:rPr lang="en-US" sz="1200" b="0" i="0" u="none" strike="noStrike" kern="1200" dirty="0">
                <a:solidFill>
                  <a:schemeClr val="tx1"/>
                </a:solidFill>
                <a:effectLst/>
                <a:latin typeface="+mn-lt"/>
                <a:ea typeface="+mn-ea"/>
                <a:cs typeface="+mn-cs"/>
              </a:rPr>
              <a:t>As of early March 2026, the stock trades around €304 per share — implying roughly 25–30% downside.</a:t>
            </a:r>
          </a:p>
          <a:p>
            <a:r>
              <a:rPr lang="en-US" sz="1200" b="0" i="0" u="none" strike="noStrike" kern="1200" dirty="0">
                <a:solidFill>
                  <a:schemeClr val="tx1"/>
                </a:solidFill>
                <a:effectLst/>
                <a:latin typeface="+mn-lt"/>
                <a:ea typeface="+mn-ea"/>
                <a:cs typeface="+mn-cs"/>
              </a:rPr>
              <a:t>Therefore, our recommendation is to short Ferrari, not because it’s a weak company, but because we believe structural risk to long-term pricing power is underpriced.</a:t>
            </a:r>
            <a:endParaRPr lang="en-US" dirty="0">
              <a:latin typeface="Bodoni MT" panose="02070603080606020203" pitchFamily="18" charset="77"/>
            </a:endParaRPr>
          </a:p>
          <a:p>
            <a:endParaRPr lang="en-US" dirty="0"/>
          </a:p>
        </p:txBody>
      </p:sp>
      <p:sp>
        <p:nvSpPr>
          <p:cNvPr id="4" name="Slide Number Placeholder 3">
            <a:extLst>
              <a:ext uri="{FF2B5EF4-FFF2-40B4-BE49-F238E27FC236}">
                <a16:creationId xmlns:a16="http://schemas.microsoft.com/office/drawing/2014/main" id="{4F5A7428-D060-DFFE-A9E9-653E93CBC052}"/>
              </a:ext>
            </a:extLst>
          </p:cNvPr>
          <p:cNvSpPr>
            <a:spLocks noGrp="1"/>
          </p:cNvSpPr>
          <p:nvPr>
            <p:ph type="sldNum" sz="quarter" idx="5"/>
          </p:nvPr>
        </p:nvSpPr>
        <p:spPr/>
        <p:txBody>
          <a:bodyPr/>
          <a:lstStyle/>
          <a:p>
            <a:fld id="{A2D70997-B7B6-A147-B379-FE4C5E3CAC92}" type="slidenum">
              <a:rPr lang="en-US" smtClean="0"/>
              <a:t>2</a:t>
            </a:fld>
            <a:endParaRPr lang="en-US"/>
          </a:p>
        </p:txBody>
      </p:sp>
    </p:spTree>
    <p:extLst>
      <p:ext uri="{BB962C8B-B14F-4D97-AF65-F5344CB8AC3E}">
        <p14:creationId xmlns:p14="http://schemas.microsoft.com/office/powerpoint/2010/main" val="364961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E3D22-A0E4-44BA-622B-C6D4ED7502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C2ABCE-ACD8-DF93-DA8D-BE0D482F77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4831D0-08E6-F3AD-6D60-3C8704F012A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Bodoni MT" panose="02070603080606020203" pitchFamily="18" charset="77"/>
            </a:endParaRPr>
          </a:p>
          <a:p>
            <a:endParaRPr lang="en-US" dirty="0"/>
          </a:p>
        </p:txBody>
      </p:sp>
      <p:sp>
        <p:nvSpPr>
          <p:cNvPr id="4" name="Slide Number Placeholder 3">
            <a:extLst>
              <a:ext uri="{FF2B5EF4-FFF2-40B4-BE49-F238E27FC236}">
                <a16:creationId xmlns:a16="http://schemas.microsoft.com/office/drawing/2014/main" id="{C03468E2-A9DB-6B00-AB28-0399C860DD8B}"/>
              </a:ext>
            </a:extLst>
          </p:cNvPr>
          <p:cNvSpPr>
            <a:spLocks noGrp="1"/>
          </p:cNvSpPr>
          <p:nvPr>
            <p:ph type="sldNum" sz="quarter" idx="5"/>
          </p:nvPr>
        </p:nvSpPr>
        <p:spPr/>
        <p:txBody>
          <a:bodyPr/>
          <a:lstStyle/>
          <a:p>
            <a:fld id="{A2D70997-B7B6-A147-B379-FE4C5E3CAC92}" type="slidenum">
              <a:rPr lang="en-US" smtClean="0"/>
              <a:t>3</a:t>
            </a:fld>
            <a:endParaRPr lang="en-US"/>
          </a:p>
        </p:txBody>
      </p:sp>
    </p:spTree>
    <p:extLst>
      <p:ext uri="{BB962C8B-B14F-4D97-AF65-F5344CB8AC3E}">
        <p14:creationId xmlns:p14="http://schemas.microsoft.com/office/powerpoint/2010/main" val="3131255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1FC1F-1363-A24C-B52F-A48EE7C3A6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058FC-CAE1-C904-53B9-B9DD9F4B7B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FF1A1C-3E7A-A071-7D21-4CABD838B78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Bodoni MT" panose="02070603080606020203" pitchFamily="18" charset="77"/>
            </a:endParaRPr>
          </a:p>
          <a:p>
            <a:endParaRPr lang="en-US" dirty="0"/>
          </a:p>
        </p:txBody>
      </p:sp>
      <p:sp>
        <p:nvSpPr>
          <p:cNvPr id="4" name="Slide Number Placeholder 3">
            <a:extLst>
              <a:ext uri="{FF2B5EF4-FFF2-40B4-BE49-F238E27FC236}">
                <a16:creationId xmlns:a16="http://schemas.microsoft.com/office/drawing/2014/main" id="{0BD76F54-2651-08C8-5091-5C85F37F75C4}"/>
              </a:ext>
            </a:extLst>
          </p:cNvPr>
          <p:cNvSpPr>
            <a:spLocks noGrp="1"/>
          </p:cNvSpPr>
          <p:nvPr>
            <p:ph type="sldNum" sz="quarter" idx="5"/>
          </p:nvPr>
        </p:nvSpPr>
        <p:spPr/>
        <p:txBody>
          <a:bodyPr/>
          <a:lstStyle/>
          <a:p>
            <a:fld id="{A2D70997-B7B6-A147-B379-FE4C5E3CAC92}" type="slidenum">
              <a:rPr lang="en-US" smtClean="0"/>
              <a:t>4</a:t>
            </a:fld>
            <a:endParaRPr lang="en-US"/>
          </a:p>
        </p:txBody>
      </p:sp>
    </p:spTree>
    <p:extLst>
      <p:ext uri="{BB962C8B-B14F-4D97-AF65-F5344CB8AC3E}">
        <p14:creationId xmlns:p14="http://schemas.microsoft.com/office/powerpoint/2010/main" val="26537992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7135E-AB64-AEEE-13AE-AD74AFD034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70A691-4242-861D-8A03-5E48361267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369A2F-212D-3DAC-E528-EF33B9BECFD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Bodoni MT" panose="02070603080606020203" pitchFamily="18" charset="77"/>
            </a:endParaRPr>
          </a:p>
          <a:p>
            <a:endParaRPr lang="en-US" dirty="0"/>
          </a:p>
        </p:txBody>
      </p:sp>
      <p:sp>
        <p:nvSpPr>
          <p:cNvPr id="4" name="Slide Number Placeholder 3">
            <a:extLst>
              <a:ext uri="{FF2B5EF4-FFF2-40B4-BE49-F238E27FC236}">
                <a16:creationId xmlns:a16="http://schemas.microsoft.com/office/drawing/2014/main" id="{8713CD8C-996E-80EF-90D2-06929DD867F4}"/>
              </a:ext>
            </a:extLst>
          </p:cNvPr>
          <p:cNvSpPr>
            <a:spLocks noGrp="1"/>
          </p:cNvSpPr>
          <p:nvPr>
            <p:ph type="sldNum" sz="quarter" idx="5"/>
          </p:nvPr>
        </p:nvSpPr>
        <p:spPr/>
        <p:txBody>
          <a:bodyPr/>
          <a:lstStyle/>
          <a:p>
            <a:fld id="{A2D70997-B7B6-A147-B379-FE4C5E3CAC92}" type="slidenum">
              <a:rPr lang="en-US" smtClean="0"/>
              <a:t>5</a:t>
            </a:fld>
            <a:endParaRPr lang="en-US"/>
          </a:p>
        </p:txBody>
      </p:sp>
    </p:spTree>
    <p:extLst>
      <p:ext uri="{BB962C8B-B14F-4D97-AF65-F5344CB8AC3E}">
        <p14:creationId xmlns:p14="http://schemas.microsoft.com/office/powerpoint/2010/main" val="3353840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7C761-C2C7-A56D-089C-ED94C6FA37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F8F511-95CF-40B3-9FFC-C2A7FFCF5B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33E5F7-47F4-6484-6CE5-9DC368541D4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Bodoni MT" panose="02070603080606020203" pitchFamily="18" charset="77"/>
            </a:endParaRPr>
          </a:p>
          <a:p>
            <a:endParaRPr lang="en-US" dirty="0"/>
          </a:p>
        </p:txBody>
      </p:sp>
      <p:sp>
        <p:nvSpPr>
          <p:cNvPr id="4" name="Slide Number Placeholder 3">
            <a:extLst>
              <a:ext uri="{FF2B5EF4-FFF2-40B4-BE49-F238E27FC236}">
                <a16:creationId xmlns:a16="http://schemas.microsoft.com/office/drawing/2014/main" id="{90EDF799-BEA3-554D-107C-6FCA5C63B5C1}"/>
              </a:ext>
            </a:extLst>
          </p:cNvPr>
          <p:cNvSpPr>
            <a:spLocks noGrp="1"/>
          </p:cNvSpPr>
          <p:nvPr>
            <p:ph type="sldNum" sz="quarter" idx="5"/>
          </p:nvPr>
        </p:nvSpPr>
        <p:spPr/>
        <p:txBody>
          <a:bodyPr/>
          <a:lstStyle/>
          <a:p>
            <a:fld id="{A2D70997-B7B6-A147-B379-FE4C5E3CAC92}" type="slidenum">
              <a:rPr lang="en-US" smtClean="0"/>
              <a:t>6</a:t>
            </a:fld>
            <a:endParaRPr lang="en-US"/>
          </a:p>
        </p:txBody>
      </p:sp>
    </p:spTree>
    <p:extLst>
      <p:ext uri="{BB962C8B-B14F-4D97-AF65-F5344CB8AC3E}">
        <p14:creationId xmlns:p14="http://schemas.microsoft.com/office/powerpoint/2010/main" val="31423752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AE169-3147-F490-FCCC-BC099BEFDE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8FD30E-C086-C89B-7D01-1DC8B0B689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B6D680-DC83-3344-B66B-C9C3039FB45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Bodoni MT" panose="02070603080606020203" pitchFamily="18" charset="77"/>
            </a:endParaRPr>
          </a:p>
          <a:p>
            <a:endParaRPr lang="en-US" dirty="0"/>
          </a:p>
        </p:txBody>
      </p:sp>
      <p:sp>
        <p:nvSpPr>
          <p:cNvPr id="4" name="Slide Number Placeholder 3">
            <a:extLst>
              <a:ext uri="{FF2B5EF4-FFF2-40B4-BE49-F238E27FC236}">
                <a16:creationId xmlns:a16="http://schemas.microsoft.com/office/drawing/2014/main" id="{0FDCC0DD-D9B7-D5BA-9070-E67119A04495}"/>
              </a:ext>
            </a:extLst>
          </p:cNvPr>
          <p:cNvSpPr>
            <a:spLocks noGrp="1"/>
          </p:cNvSpPr>
          <p:nvPr>
            <p:ph type="sldNum" sz="quarter" idx="5"/>
          </p:nvPr>
        </p:nvSpPr>
        <p:spPr/>
        <p:txBody>
          <a:bodyPr/>
          <a:lstStyle/>
          <a:p>
            <a:fld id="{A2D70997-B7B6-A147-B379-FE4C5E3CAC92}" type="slidenum">
              <a:rPr lang="en-US" smtClean="0"/>
              <a:t>7</a:t>
            </a:fld>
            <a:endParaRPr lang="en-US"/>
          </a:p>
        </p:txBody>
      </p:sp>
    </p:spTree>
    <p:extLst>
      <p:ext uri="{BB962C8B-B14F-4D97-AF65-F5344CB8AC3E}">
        <p14:creationId xmlns:p14="http://schemas.microsoft.com/office/powerpoint/2010/main" val="3401878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0D4AC-4EA8-59E9-57AB-8601FC9A2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7D175F-A5CF-6CB1-FF3A-88630C3EB3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4F9231-D17A-94CA-C40D-9B8E7FB2DFC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Bodoni MT" panose="02070603080606020203" pitchFamily="18" charset="77"/>
            </a:endParaRPr>
          </a:p>
          <a:p>
            <a:endParaRPr lang="en-US" dirty="0"/>
          </a:p>
        </p:txBody>
      </p:sp>
      <p:sp>
        <p:nvSpPr>
          <p:cNvPr id="4" name="Slide Number Placeholder 3">
            <a:extLst>
              <a:ext uri="{FF2B5EF4-FFF2-40B4-BE49-F238E27FC236}">
                <a16:creationId xmlns:a16="http://schemas.microsoft.com/office/drawing/2014/main" id="{F8AE689F-CF60-5C30-BA12-956B5737A7A5}"/>
              </a:ext>
            </a:extLst>
          </p:cNvPr>
          <p:cNvSpPr>
            <a:spLocks noGrp="1"/>
          </p:cNvSpPr>
          <p:nvPr>
            <p:ph type="sldNum" sz="quarter" idx="5"/>
          </p:nvPr>
        </p:nvSpPr>
        <p:spPr/>
        <p:txBody>
          <a:bodyPr/>
          <a:lstStyle/>
          <a:p>
            <a:fld id="{A2D70997-B7B6-A147-B379-FE4C5E3CAC92}" type="slidenum">
              <a:rPr lang="en-US" smtClean="0"/>
              <a:t>8</a:t>
            </a:fld>
            <a:endParaRPr lang="en-US"/>
          </a:p>
        </p:txBody>
      </p:sp>
    </p:spTree>
    <p:extLst>
      <p:ext uri="{BB962C8B-B14F-4D97-AF65-F5344CB8AC3E}">
        <p14:creationId xmlns:p14="http://schemas.microsoft.com/office/powerpoint/2010/main" val="2817803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64546-F50B-F27A-4CC6-B6C6DA86DB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21538F-6112-873E-C9EC-9739AB7EFF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899F8F-4B73-59BB-CC5D-2E9E4531B53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atin typeface="Bodoni MT" panose="02070603080606020203" pitchFamily="18" charset="77"/>
            </a:endParaRPr>
          </a:p>
          <a:p>
            <a:endParaRPr lang="en-US"/>
          </a:p>
        </p:txBody>
      </p:sp>
      <p:sp>
        <p:nvSpPr>
          <p:cNvPr id="4" name="Slide Number Placeholder 3">
            <a:extLst>
              <a:ext uri="{FF2B5EF4-FFF2-40B4-BE49-F238E27FC236}">
                <a16:creationId xmlns:a16="http://schemas.microsoft.com/office/drawing/2014/main" id="{2626CF75-BF5B-DE0E-A7A5-D6EB4D92D2CA}"/>
              </a:ext>
            </a:extLst>
          </p:cNvPr>
          <p:cNvSpPr>
            <a:spLocks noGrp="1"/>
          </p:cNvSpPr>
          <p:nvPr>
            <p:ph type="sldNum" sz="quarter" idx="5"/>
          </p:nvPr>
        </p:nvSpPr>
        <p:spPr/>
        <p:txBody>
          <a:bodyPr/>
          <a:lstStyle/>
          <a:p>
            <a:fld id="{A2D70997-B7B6-A147-B379-FE4C5E3CAC92}" type="slidenum">
              <a:rPr lang="en-US" smtClean="0"/>
              <a:t>9</a:t>
            </a:fld>
            <a:endParaRPr lang="en-US"/>
          </a:p>
        </p:txBody>
      </p:sp>
    </p:spTree>
    <p:extLst>
      <p:ext uri="{BB962C8B-B14F-4D97-AF65-F5344CB8AC3E}">
        <p14:creationId xmlns:p14="http://schemas.microsoft.com/office/powerpoint/2010/main" val="17009452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9659F-9EE5-B4F7-4841-7E857D900F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02C6A-5A65-0FCD-3FA2-6B4148FCC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7FF6B9-2039-7516-5B9A-001BFE21209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atin typeface="Bodoni MT" panose="02070603080606020203" pitchFamily="18" charset="77"/>
            </a:endParaRPr>
          </a:p>
          <a:p>
            <a:endParaRPr lang="en-US"/>
          </a:p>
        </p:txBody>
      </p:sp>
      <p:sp>
        <p:nvSpPr>
          <p:cNvPr id="4" name="Slide Number Placeholder 3">
            <a:extLst>
              <a:ext uri="{FF2B5EF4-FFF2-40B4-BE49-F238E27FC236}">
                <a16:creationId xmlns:a16="http://schemas.microsoft.com/office/drawing/2014/main" id="{D7E5741F-5119-5E78-8449-6A397BDD259F}"/>
              </a:ext>
            </a:extLst>
          </p:cNvPr>
          <p:cNvSpPr>
            <a:spLocks noGrp="1"/>
          </p:cNvSpPr>
          <p:nvPr>
            <p:ph type="sldNum" sz="quarter" idx="5"/>
          </p:nvPr>
        </p:nvSpPr>
        <p:spPr/>
        <p:txBody>
          <a:bodyPr/>
          <a:lstStyle/>
          <a:p>
            <a:fld id="{A2D70997-B7B6-A147-B379-FE4C5E3CAC92}" type="slidenum">
              <a:rPr lang="en-US" smtClean="0"/>
              <a:t>10</a:t>
            </a:fld>
            <a:endParaRPr lang="en-US"/>
          </a:p>
        </p:txBody>
      </p:sp>
    </p:spTree>
    <p:extLst>
      <p:ext uri="{BB962C8B-B14F-4D97-AF65-F5344CB8AC3E}">
        <p14:creationId xmlns:p14="http://schemas.microsoft.com/office/powerpoint/2010/main" val="1939245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B4DE4-68B6-E92C-5535-04497B3990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15C7B5E-EC66-6702-0714-E73840EE38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3FF2BCE-9AC0-77FB-0601-F7704AE49E77}"/>
              </a:ext>
            </a:extLst>
          </p:cNvPr>
          <p:cNvSpPr>
            <a:spLocks noGrp="1"/>
          </p:cNvSpPr>
          <p:nvPr>
            <p:ph type="dt" sz="half" idx="10"/>
          </p:nvPr>
        </p:nvSpPr>
        <p:spPr/>
        <p:txBody>
          <a:bodyPr/>
          <a:lstStyle/>
          <a:p>
            <a:fld id="{A7F5BDDE-115E-2041-A9CA-B4C6DC58D3B6}" type="datetime1">
              <a:rPr lang="en-US" smtClean="0"/>
              <a:t>3/20/26</a:t>
            </a:fld>
            <a:endParaRPr lang="en-US"/>
          </a:p>
        </p:txBody>
      </p:sp>
      <p:sp>
        <p:nvSpPr>
          <p:cNvPr id="5" name="Footer Placeholder 4">
            <a:extLst>
              <a:ext uri="{FF2B5EF4-FFF2-40B4-BE49-F238E27FC236}">
                <a16:creationId xmlns:a16="http://schemas.microsoft.com/office/drawing/2014/main" id="{4631FF60-A7F3-1617-0FE5-DE09C5AB52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E6CADC-7561-3F06-FF06-46F2C76E4666}"/>
              </a:ext>
            </a:extLst>
          </p:cNvPr>
          <p:cNvSpPr>
            <a:spLocks noGrp="1"/>
          </p:cNvSpPr>
          <p:nvPr>
            <p:ph type="sldNum" sz="quarter" idx="12"/>
          </p:nvPr>
        </p:nvSpPr>
        <p:spPr/>
        <p:txBody>
          <a:bodyPr/>
          <a:lstStyle/>
          <a:p>
            <a:fld id="{5780461E-0DE5-ED4D-97A3-62EC4F103ED2}" type="slidenum">
              <a:rPr lang="en-US" smtClean="0"/>
              <a:t>‹#›</a:t>
            </a:fld>
            <a:endParaRPr lang="en-US"/>
          </a:p>
        </p:txBody>
      </p:sp>
    </p:spTree>
    <p:extLst>
      <p:ext uri="{BB962C8B-B14F-4D97-AF65-F5344CB8AC3E}">
        <p14:creationId xmlns:p14="http://schemas.microsoft.com/office/powerpoint/2010/main" val="1753751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38DE2-9191-2DCC-6C67-CB75E8FBA8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C454EA-4EF4-9336-6402-B6FC5E330E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4B1ED8-0C6B-E488-8624-0E10EBC2E1F1}"/>
              </a:ext>
            </a:extLst>
          </p:cNvPr>
          <p:cNvSpPr>
            <a:spLocks noGrp="1"/>
          </p:cNvSpPr>
          <p:nvPr>
            <p:ph type="dt" sz="half" idx="10"/>
          </p:nvPr>
        </p:nvSpPr>
        <p:spPr/>
        <p:txBody>
          <a:bodyPr/>
          <a:lstStyle/>
          <a:p>
            <a:fld id="{CF93DB03-81AC-CF40-A148-6B6ED76ED9F0}" type="datetime1">
              <a:rPr lang="en-US" smtClean="0"/>
              <a:t>3/20/26</a:t>
            </a:fld>
            <a:endParaRPr lang="en-US"/>
          </a:p>
        </p:txBody>
      </p:sp>
      <p:sp>
        <p:nvSpPr>
          <p:cNvPr id="5" name="Footer Placeholder 4">
            <a:extLst>
              <a:ext uri="{FF2B5EF4-FFF2-40B4-BE49-F238E27FC236}">
                <a16:creationId xmlns:a16="http://schemas.microsoft.com/office/drawing/2014/main" id="{925EB61C-27AB-94BD-592C-99B4309AB5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40E7BF-BC38-5C83-8E5E-AD1678F244F7}"/>
              </a:ext>
            </a:extLst>
          </p:cNvPr>
          <p:cNvSpPr>
            <a:spLocks noGrp="1"/>
          </p:cNvSpPr>
          <p:nvPr>
            <p:ph type="sldNum" sz="quarter" idx="12"/>
          </p:nvPr>
        </p:nvSpPr>
        <p:spPr/>
        <p:txBody>
          <a:bodyPr/>
          <a:lstStyle/>
          <a:p>
            <a:fld id="{5780461E-0DE5-ED4D-97A3-62EC4F103ED2}" type="slidenum">
              <a:rPr lang="en-US" smtClean="0"/>
              <a:t>‹#›</a:t>
            </a:fld>
            <a:endParaRPr lang="en-US"/>
          </a:p>
        </p:txBody>
      </p:sp>
    </p:spTree>
    <p:extLst>
      <p:ext uri="{BB962C8B-B14F-4D97-AF65-F5344CB8AC3E}">
        <p14:creationId xmlns:p14="http://schemas.microsoft.com/office/powerpoint/2010/main" val="33382739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C8F0A-D7AD-3B62-E6C3-7652552599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6EB00B1-B349-EB79-E721-9E0874187C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F15D33-246F-B348-5B4C-F17578853F39}"/>
              </a:ext>
            </a:extLst>
          </p:cNvPr>
          <p:cNvSpPr>
            <a:spLocks noGrp="1"/>
          </p:cNvSpPr>
          <p:nvPr>
            <p:ph type="dt" sz="half" idx="10"/>
          </p:nvPr>
        </p:nvSpPr>
        <p:spPr/>
        <p:txBody>
          <a:bodyPr/>
          <a:lstStyle/>
          <a:p>
            <a:fld id="{EE43874C-E677-5A4C-A190-F9B38AE48F9C}" type="datetime1">
              <a:rPr lang="en-US" smtClean="0"/>
              <a:t>3/20/26</a:t>
            </a:fld>
            <a:endParaRPr lang="en-US"/>
          </a:p>
        </p:txBody>
      </p:sp>
      <p:sp>
        <p:nvSpPr>
          <p:cNvPr id="5" name="Footer Placeholder 4">
            <a:extLst>
              <a:ext uri="{FF2B5EF4-FFF2-40B4-BE49-F238E27FC236}">
                <a16:creationId xmlns:a16="http://schemas.microsoft.com/office/drawing/2014/main" id="{7322168E-7862-9D1B-1DDA-C9852D221C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086A26-43CC-7EA7-9AE3-6EC157EDDA10}"/>
              </a:ext>
            </a:extLst>
          </p:cNvPr>
          <p:cNvSpPr>
            <a:spLocks noGrp="1"/>
          </p:cNvSpPr>
          <p:nvPr>
            <p:ph type="sldNum" sz="quarter" idx="12"/>
          </p:nvPr>
        </p:nvSpPr>
        <p:spPr/>
        <p:txBody>
          <a:bodyPr/>
          <a:lstStyle/>
          <a:p>
            <a:fld id="{5780461E-0DE5-ED4D-97A3-62EC4F103ED2}" type="slidenum">
              <a:rPr lang="en-US" smtClean="0"/>
              <a:t>‹#›</a:t>
            </a:fld>
            <a:endParaRPr lang="en-US"/>
          </a:p>
        </p:txBody>
      </p:sp>
    </p:spTree>
    <p:extLst>
      <p:ext uri="{BB962C8B-B14F-4D97-AF65-F5344CB8AC3E}">
        <p14:creationId xmlns:p14="http://schemas.microsoft.com/office/powerpoint/2010/main" val="3454215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B4163-2998-5797-2137-64350B9ACB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288491-9E7F-3625-B049-2006958118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A5D850-FCC3-EC0C-5A9E-3990C5B290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32B6181-0DC9-FEC9-D7C0-82CE7A59299D}"/>
              </a:ext>
            </a:extLst>
          </p:cNvPr>
          <p:cNvSpPr>
            <a:spLocks noGrp="1"/>
          </p:cNvSpPr>
          <p:nvPr>
            <p:ph type="dt" sz="half" idx="10"/>
          </p:nvPr>
        </p:nvSpPr>
        <p:spPr/>
        <p:txBody>
          <a:bodyPr/>
          <a:lstStyle/>
          <a:p>
            <a:fld id="{883A4F4A-685D-BD49-AADF-7D2A19EB48BD}" type="datetime1">
              <a:rPr lang="en-US" smtClean="0"/>
              <a:t>3/20/26</a:t>
            </a:fld>
            <a:endParaRPr lang="en-US"/>
          </a:p>
        </p:txBody>
      </p:sp>
      <p:sp>
        <p:nvSpPr>
          <p:cNvPr id="6" name="Footer Placeholder 5">
            <a:extLst>
              <a:ext uri="{FF2B5EF4-FFF2-40B4-BE49-F238E27FC236}">
                <a16:creationId xmlns:a16="http://schemas.microsoft.com/office/drawing/2014/main" id="{DF4BF884-D5E7-F554-959E-32A2483F08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21A6AA-F673-1D18-2337-435142C5FBDF}"/>
              </a:ext>
            </a:extLst>
          </p:cNvPr>
          <p:cNvSpPr>
            <a:spLocks noGrp="1"/>
          </p:cNvSpPr>
          <p:nvPr>
            <p:ph type="sldNum" sz="quarter" idx="12"/>
          </p:nvPr>
        </p:nvSpPr>
        <p:spPr/>
        <p:txBody>
          <a:bodyPr/>
          <a:lstStyle/>
          <a:p>
            <a:fld id="{5780461E-0DE5-ED4D-97A3-62EC4F103ED2}" type="slidenum">
              <a:rPr lang="en-US" smtClean="0"/>
              <a:t>‹#›</a:t>
            </a:fld>
            <a:endParaRPr lang="en-US"/>
          </a:p>
        </p:txBody>
      </p:sp>
    </p:spTree>
    <p:extLst>
      <p:ext uri="{BB962C8B-B14F-4D97-AF65-F5344CB8AC3E}">
        <p14:creationId xmlns:p14="http://schemas.microsoft.com/office/powerpoint/2010/main" val="1836308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906C3-C1BE-5B33-F43C-9C514EA8DE4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95BD8EF-A49C-5FB9-98BD-52CBA65C9E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40BFF2-63F8-D16A-8B3B-70A0916675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E1EEA89-9F20-030E-74FB-07B2E41E4F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00133F-A8BD-B3AC-9205-DCCBDD397B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844FBE7-BFDE-D321-8C82-E34374F976ED}"/>
              </a:ext>
            </a:extLst>
          </p:cNvPr>
          <p:cNvSpPr>
            <a:spLocks noGrp="1"/>
          </p:cNvSpPr>
          <p:nvPr>
            <p:ph type="dt" sz="half" idx="10"/>
          </p:nvPr>
        </p:nvSpPr>
        <p:spPr/>
        <p:txBody>
          <a:bodyPr/>
          <a:lstStyle/>
          <a:p>
            <a:fld id="{E7FA36FF-A6FA-294E-A8D2-EEEDF9B7FE52}" type="datetime1">
              <a:rPr lang="en-US" smtClean="0"/>
              <a:t>3/20/26</a:t>
            </a:fld>
            <a:endParaRPr lang="en-US"/>
          </a:p>
        </p:txBody>
      </p:sp>
      <p:sp>
        <p:nvSpPr>
          <p:cNvPr id="8" name="Footer Placeholder 7">
            <a:extLst>
              <a:ext uri="{FF2B5EF4-FFF2-40B4-BE49-F238E27FC236}">
                <a16:creationId xmlns:a16="http://schemas.microsoft.com/office/drawing/2014/main" id="{FD5F19E2-E227-DC7D-5252-28F617A4141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3A2D2D8-78B1-9D45-8168-3A2EB3AA0EF0}"/>
              </a:ext>
            </a:extLst>
          </p:cNvPr>
          <p:cNvSpPr>
            <a:spLocks noGrp="1"/>
          </p:cNvSpPr>
          <p:nvPr>
            <p:ph type="sldNum" sz="quarter" idx="12"/>
          </p:nvPr>
        </p:nvSpPr>
        <p:spPr/>
        <p:txBody>
          <a:bodyPr/>
          <a:lstStyle/>
          <a:p>
            <a:fld id="{5780461E-0DE5-ED4D-97A3-62EC4F103ED2}" type="slidenum">
              <a:rPr lang="en-US" smtClean="0"/>
              <a:t>‹#›</a:t>
            </a:fld>
            <a:endParaRPr lang="en-US"/>
          </a:p>
        </p:txBody>
      </p:sp>
    </p:spTree>
    <p:extLst>
      <p:ext uri="{BB962C8B-B14F-4D97-AF65-F5344CB8AC3E}">
        <p14:creationId xmlns:p14="http://schemas.microsoft.com/office/powerpoint/2010/main" val="2105773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EA9D2-40F5-CDD2-0E45-F5D9CC3C0DA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602D1DD-DA71-30DC-BF3A-523412925A2F}"/>
              </a:ext>
            </a:extLst>
          </p:cNvPr>
          <p:cNvSpPr>
            <a:spLocks noGrp="1"/>
          </p:cNvSpPr>
          <p:nvPr>
            <p:ph type="dt" sz="half" idx="10"/>
          </p:nvPr>
        </p:nvSpPr>
        <p:spPr/>
        <p:txBody>
          <a:bodyPr/>
          <a:lstStyle/>
          <a:p>
            <a:fld id="{8F3703CB-F1E4-B64F-9CED-C6FB9C01A380}" type="datetime1">
              <a:rPr lang="en-US" smtClean="0"/>
              <a:t>3/20/26</a:t>
            </a:fld>
            <a:endParaRPr lang="en-US"/>
          </a:p>
        </p:txBody>
      </p:sp>
      <p:sp>
        <p:nvSpPr>
          <p:cNvPr id="4" name="Footer Placeholder 3">
            <a:extLst>
              <a:ext uri="{FF2B5EF4-FFF2-40B4-BE49-F238E27FC236}">
                <a16:creationId xmlns:a16="http://schemas.microsoft.com/office/drawing/2014/main" id="{D510FCB4-DE34-8B59-F89B-151C6BE0A5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C4CE8DB-3EDF-FACB-43BF-7517FB0138C6}"/>
              </a:ext>
            </a:extLst>
          </p:cNvPr>
          <p:cNvSpPr>
            <a:spLocks noGrp="1"/>
          </p:cNvSpPr>
          <p:nvPr>
            <p:ph type="sldNum" sz="quarter" idx="12"/>
          </p:nvPr>
        </p:nvSpPr>
        <p:spPr/>
        <p:txBody>
          <a:bodyPr/>
          <a:lstStyle/>
          <a:p>
            <a:fld id="{5780461E-0DE5-ED4D-97A3-62EC4F103ED2}" type="slidenum">
              <a:rPr lang="en-US" smtClean="0"/>
              <a:t>‹#›</a:t>
            </a:fld>
            <a:endParaRPr lang="en-US"/>
          </a:p>
        </p:txBody>
      </p:sp>
    </p:spTree>
    <p:extLst>
      <p:ext uri="{BB962C8B-B14F-4D97-AF65-F5344CB8AC3E}">
        <p14:creationId xmlns:p14="http://schemas.microsoft.com/office/powerpoint/2010/main" val="1770470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963326-C2D2-AFBB-5F93-97C64C78C50C}"/>
              </a:ext>
            </a:extLst>
          </p:cNvPr>
          <p:cNvSpPr>
            <a:spLocks noGrp="1"/>
          </p:cNvSpPr>
          <p:nvPr>
            <p:ph type="dt" sz="half" idx="10"/>
          </p:nvPr>
        </p:nvSpPr>
        <p:spPr/>
        <p:txBody>
          <a:bodyPr/>
          <a:lstStyle/>
          <a:p>
            <a:fld id="{DD19E896-36E9-8844-B04A-745F5FAAF25F}" type="datetime1">
              <a:rPr lang="en-US" smtClean="0"/>
              <a:t>3/20/26</a:t>
            </a:fld>
            <a:endParaRPr lang="en-US"/>
          </a:p>
        </p:txBody>
      </p:sp>
      <p:sp>
        <p:nvSpPr>
          <p:cNvPr id="3" name="Footer Placeholder 2">
            <a:extLst>
              <a:ext uri="{FF2B5EF4-FFF2-40B4-BE49-F238E27FC236}">
                <a16:creationId xmlns:a16="http://schemas.microsoft.com/office/drawing/2014/main" id="{FBFC3BF4-588A-AFCC-3DCE-736B8EC6BE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540280B-14D2-9720-FFE3-FEA7659BBDC3}"/>
              </a:ext>
            </a:extLst>
          </p:cNvPr>
          <p:cNvSpPr>
            <a:spLocks noGrp="1"/>
          </p:cNvSpPr>
          <p:nvPr>
            <p:ph type="sldNum" sz="quarter" idx="12"/>
          </p:nvPr>
        </p:nvSpPr>
        <p:spPr/>
        <p:txBody>
          <a:bodyPr/>
          <a:lstStyle/>
          <a:p>
            <a:fld id="{5780461E-0DE5-ED4D-97A3-62EC4F103ED2}" type="slidenum">
              <a:rPr lang="en-US" smtClean="0"/>
              <a:t>‹#›</a:t>
            </a:fld>
            <a:endParaRPr lang="en-US"/>
          </a:p>
        </p:txBody>
      </p:sp>
    </p:spTree>
    <p:extLst>
      <p:ext uri="{BB962C8B-B14F-4D97-AF65-F5344CB8AC3E}">
        <p14:creationId xmlns:p14="http://schemas.microsoft.com/office/powerpoint/2010/main" val="2673168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E7D6C-CD36-A364-1BA7-DCF0CB912E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7745AE-10C6-E79C-8E27-C9599F5EC9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7DF13A-E014-18ED-F544-7BCFAEE6C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B1D19A-B2C7-66E5-DEC0-55D74C565D02}"/>
              </a:ext>
            </a:extLst>
          </p:cNvPr>
          <p:cNvSpPr>
            <a:spLocks noGrp="1"/>
          </p:cNvSpPr>
          <p:nvPr>
            <p:ph type="dt" sz="half" idx="10"/>
          </p:nvPr>
        </p:nvSpPr>
        <p:spPr/>
        <p:txBody>
          <a:bodyPr/>
          <a:lstStyle/>
          <a:p>
            <a:fld id="{9B0D0C06-6644-F044-83D9-CB6EF6906039}" type="datetime1">
              <a:rPr lang="en-US" smtClean="0"/>
              <a:t>3/20/26</a:t>
            </a:fld>
            <a:endParaRPr lang="en-US"/>
          </a:p>
        </p:txBody>
      </p:sp>
      <p:sp>
        <p:nvSpPr>
          <p:cNvPr id="6" name="Footer Placeholder 5">
            <a:extLst>
              <a:ext uri="{FF2B5EF4-FFF2-40B4-BE49-F238E27FC236}">
                <a16:creationId xmlns:a16="http://schemas.microsoft.com/office/drawing/2014/main" id="{EC6CAC84-1991-40B7-DACC-E91B20E2EA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A3F60F-DFFE-142D-901B-C589AA48E109}"/>
              </a:ext>
            </a:extLst>
          </p:cNvPr>
          <p:cNvSpPr>
            <a:spLocks noGrp="1"/>
          </p:cNvSpPr>
          <p:nvPr>
            <p:ph type="sldNum" sz="quarter" idx="12"/>
          </p:nvPr>
        </p:nvSpPr>
        <p:spPr/>
        <p:txBody>
          <a:bodyPr/>
          <a:lstStyle/>
          <a:p>
            <a:fld id="{5780461E-0DE5-ED4D-97A3-62EC4F103ED2}" type="slidenum">
              <a:rPr lang="en-US" smtClean="0"/>
              <a:t>‹#›</a:t>
            </a:fld>
            <a:endParaRPr lang="en-US"/>
          </a:p>
        </p:txBody>
      </p:sp>
    </p:spTree>
    <p:extLst>
      <p:ext uri="{BB962C8B-B14F-4D97-AF65-F5344CB8AC3E}">
        <p14:creationId xmlns:p14="http://schemas.microsoft.com/office/powerpoint/2010/main" val="14588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A8397-0F30-C0C5-CC85-16C15EE062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C59997D-60F4-B82E-9D50-9A958E25E4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D8BCA70-E49C-3432-0637-6A917674DE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73DA63-75FC-E2C1-C8BA-B56FEE8F884F}"/>
              </a:ext>
            </a:extLst>
          </p:cNvPr>
          <p:cNvSpPr>
            <a:spLocks noGrp="1"/>
          </p:cNvSpPr>
          <p:nvPr>
            <p:ph type="dt" sz="half" idx="10"/>
          </p:nvPr>
        </p:nvSpPr>
        <p:spPr/>
        <p:txBody>
          <a:bodyPr/>
          <a:lstStyle/>
          <a:p>
            <a:fld id="{80C671FF-20C2-134B-B24D-C99882D93E96}" type="datetime1">
              <a:rPr lang="en-US" smtClean="0"/>
              <a:t>3/20/26</a:t>
            </a:fld>
            <a:endParaRPr lang="en-US"/>
          </a:p>
        </p:txBody>
      </p:sp>
      <p:sp>
        <p:nvSpPr>
          <p:cNvPr id="6" name="Footer Placeholder 5">
            <a:extLst>
              <a:ext uri="{FF2B5EF4-FFF2-40B4-BE49-F238E27FC236}">
                <a16:creationId xmlns:a16="http://schemas.microsoft.com/office/drawing/2014/main" id="{FE7C5AFE-EC3F-D4CE-6A97-9AB2A63028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FAF0F8-A956-5264-FC57-FC3EDD415092}"/>
              </a:ext>
            </a:extLst>
          </p:cNvPr>
          <p:cNvSpPr>
            <a:spLocks noGrp="1"/>
          </p:cNvSpPr>
          <p:nvPr>
            <p:ph type="sldNum" sz="quarter" idx="12"/>
          </p:nvPr>
        </p:nvSpPr>
        <p:spPr/>
        <p:txBody>
          <a:bodyPr/>
          <a:lstStyle/>
          <a:p>
            <a:fld id="{5780461E-0DE5-ED4D-97A3-62EC4F103ED2}" type="slidenum">
              <a:rPr lang="en-US" smtClean="0"/>
              <a:t>‹#›</a:t>
            </a:fld>
            <a:endParaRPr lang="en-US"/>
          </a:p>
        </p:txBody>
      </p:sp>
    </p:spTree>
    <p:extLst>
      <p:ext uri="{BB962C8B-B14F-4D97-AF65-F5344CB8AC3E}">
        <p14:creationId xmlns:p14="http://schemas.microsoft.com/office/powerpoint/2010/main" val="2962042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AAF0B-950C-B4E0-385A-7967B83BE3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977441A-3144-946B-0667-263B3CED14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B260B2-6CA5-790C-0820-3D09B208917F}"/>
              </a:ext>
            </a:extLst>
          </p:cNvPr>
          <p:cNvSpPr>
            <a:spLocks noGrp="1"/>
          </p:cNvSpPr>
          <p:nvPr>
            <p:ph type="dt" sz="half" idx="10"/>
          </p:nvPr>
        </p:nvSpPr>
        <p:spPr/>
        <p:txBody>
          <a:bodyPr/>
          <a:lstStyle/>
          <a:p>
            <a:fld id="{1067B92C-EDE8-3E40-958A-5E36DDCCD992}" type="datetime1">
              <a:rPr lang="en-US" smtClean="0"/>
              <a:t>3/20/26</a:t>
            </a:fld>
            <a:endParaRPr lang="en-US"/>
          </a:p>
        </p:txBody>
      </p:sp>
      <p:sp>
        <p:nvSpPr>
          <p:cNvPr id="5" name="Footer Placeholder 4">
            <a:extLst>
              <a:ext uri="{FF2B5EF4-FFF2-40B4-BE49-F238E27FC236}">
                <a16:creationId xmlns:a16="http://schemas.microsoft.com/office/drawing/2014/main" id="{30D525F3-B948-FECD-7FAB-07E89D8508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9100DB-4655-039F-309F-F573BD300A89}"/>
              </a:ext>
            </a:extLst>
          </p:cNvPr>
          <p:cNvSpPr>
            <a:spLocks noGrp="1"/>
          </p:cNvSpPr>
          <p:nvPr>
            <p:ph type="sldNum" sz="quarter" idx="12"/>
          </p:nvPr>
        </p:nvSpPr>
        <p:spPr/>
        <p:txBody>
          <a:bodyPr/>
          <a:lstStyle/>
          <a:p>
            <a:fld id="{5780461E-0DE5-ED4D-97A3-62EC4F103ED2}" type="slidenum">
              <a:rPr lang="en-US" smtClean="0"/>
              <a:t>‹#›</a:t>
            </a:fld>
            <a:endParaRPr lang="en-US"/>
          </a:p>
        </p:txBody>
      </p:sp>
    </p:spTree>
    <p:extLst>
      <p:ext uri="{BB962C8B-B14F-4D97-AF65-F5344CB8AC3E}">
        <p14:creationId xmlns:p14="http://schemas.microsoft.com/office/powerpoint/2010/main" val="3337607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5E0F6D-1853-6497-9AB7-B69D5761C03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18B1DE1-3720-2301-1221-1FCADC35A6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DE0B0F-8ED4-0846-8346-BE63A3CFDB62}"/>
              </a:ext>
            </a:extLst>
          </p:cNvPr>
          <p:cNvSpPr>
            <a:spLocks noGrp="1"/>
          </p:cNvSpPr>
          <p:nvPr>
            <p:ph type="dt" sz="half" idx="10"/>
          </p:nvPr>
        </p:nvSpPr>
        <p:spPr/>
        <p:txBody>
          <a:bodyPr/>
          <a:lstStyle/>
          <a:p>
            <a:fld id="{610524D6-6E00-D147-888E-8C6529EDA912}" type="datetime1">
              <a:rPr lang="en-US" smtClean="0"/>
              <a:t>3/20/26</a:t>
            </a:fld>
            <a:endParaRPr lang="en-US"/>
          </a:p>
        </p:txBody>
      </p:sp>
      <p:sp>
        <p:nvSpPr>
          <p:cNvPr id="5" name="Footer Placeholder 4">
            <a:extLst>
              <a:ext uri="{FF2B5EF4-FFF2-40B4-BE49-F238E27FC236}">
                <a16:creationId xmlns:a16="http://schemas.microsoft.com/office/drawing/2014/main" id="{B5FEF645-B52A-0114-F2B8-8514D66BE2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1E38EB-22E9-0058-75C2-6C0954D6D950}"/>
              </a:ext>
            </a:extLst>
          </p:cNvPr>
          <p:cNvSpPr>
            <a:spLocks noGrp="1"/>
          </p:cNvSpPr>
          <p:nvPr>
            <p:ph type="sldNum" sz="quarter" idx="12"/>
          </p:nvPr>
        </p:nvSpPr>
        <p:spPr/>
        <p:txBody>
          <a:bodyPr/>
          <a:lstStyle/>
          <a:p>
            <a:fld id="{5780461E-0DE5-ED4D-97A3-62EC4F103ED2}" type="slidenum">
              <a:rPr lang="en-US" smtClean="0"/>
              <a:t>‹#›</a:t>
            </a:fld>
            <a:endParaRPr lang="en-US"/>
          </a:p>
        </p:txBody>
      </p:sp>
    </p:spTree>
    <p:extLst>
      <p:ext uri="{BB962C8B-B14F-4D97-AF65-F5344CB8AC3E}">
        <p14:creationId xmlns:p14="http://schemas.microsoft.com/office/powerpoint/2010/main" val="2809027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51B711-A4DC-6F5B-46E3-8BB8B0DD63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CCCDEC6-F6D2-2554-0E64-91263107AF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E39E6D-789D-F688-1B0A-99D9ED2DB5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7DB0EF-EBF3-764B-B6C1-26C790AFCC1A}" type="datetime1">
              <a:rPr lang="en-US" smtClean="0"/>
              <a:t>3/20/26</a:t>
            </a:fld>
            <a:endParaRPr lang="en-US"/>
          </a:p>
        </p:txBody>
      </p:sp>
      <p:sp>
        <p:nvSpPr>
          <p:cNvPr id="5" name="Footer Placeholder 4">
            <a:extLst>
              <a:ext uri="{FF2B5EF4-FFF2-40B4-BE49-F238E27FC236}">
                <a16:creationId xmlns:a16="http://schemas.microsoft.com/office/drawing/2014/main" id="{A47070E4-E01F-D6F5-ECAA-EAA3077104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C75472D-30E6-71BB-1818-5E7F3027B8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80461E-0DE5-ED4D-97A3-62EC4F103ED2}" type="slidenum">
              <a:rPr lang="en-US" smtClean="0"/>
              <a:t>‹#›</a:t>
            </a:fld>
            <a:endParaRPr lang="en-US"/>
          </a:p>
        </p:txBody>
      </p:sp>
    </p:spTree>
    <p:extLst>
      <p:ext uri="{BB962C8B-B14F-4D97-AF65-F5344CB8AC3E}">
        <p14:creationId xmlns:p14="http://schemas.microsoft.com/office/powerpoint/2010/main" val="10249134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6.svg"/><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11000">
              <a:srgbClr val="BD1111">
                <a:lumMod val="100000"/>
              </a:srgbClr>
            </a:gs>
            <a:gs pos="100000">
              <a:schemeClr val="tx1"/>
            </a:gs>
            <a:gs pos="67000">
              <a:schemeClr val="tx1"/>
            </a:gs>
          </a:gsLst>
          <a:path path="rect">
            <a:fillToRect l="100000" b="100000"/>
          </a:path>
          <a:tileRect t="-100000" r="-100000"/>
        </a:gradFill>
        <a:effectLst/>
      </p:bgPr>
    </p:bg>
    <p:spTree>
      <p:nvGrpSpPr>
        <p:cNvPr id="1" name="">
          <a:extLst>
            <a:ext uri="{FF2B5EF4-FFF2-40B4-BE49-F238E27FC236}">
              <a16:creationId xmlns:a16="http://schemas.microsoft.com/office/drawing/2014/main" id="{4AF04E4B-FC55-437E-B9F2-52CBCB46317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51270D4-EBAC-FB2C-3361-8B04862A996E}"/>
              </a:ext>
            </a:extLst>
          </p:cNvPr>
          <p:cNvSpPr/>
          <p:nvPr/>
        </p:nvSpPr>
        <p:spPr>
          <a:xfrm>
            <a:off x="1098868" y="1097280"/>
            <a:ext cx="45720" cy="4572000"/>
          </a:xfrm>
          <a:prstGeom prst="rect">
            <a:avLst/>
          </a:prstGeom>
          <a:solidFill>
            <a:srgbClr val="D4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4" name="TextBox 3">
            <a:extLst>
              <a:ext uri="{FF2B5EF4-FFF2-40B4-BE49-F238E27FC236}">
                <a16:creationId xmlns:a16="http://schemas.microsoft.com/office/drawing/2014/main" id="{8B3DD31B-BFFD-8664-057A-13C76A657A36}"/>
              </a:ext>
            </a:extLst>
          </p:cNvPr>
          <p:cNvSpPr txBox="1"/>
          <p:nvPr/>
        </p:nvSpPr>
        <p:spPr>
          <a:xfrm>
            <a:off x="1373188" y="2103121"/>
            <a:ext cx="9376285" cy="1692771"/>
          </a:xfrm>
          <a:prstGeom prst="rect">
            <a:avLst/>
          </a:prstGeom>
          <a:noFill/>
          <a:ln>
            <a:noFill/>
          </a:ln>
        </p:spPr>
        <p:txBody>
          <a:bodyPr wrap="none">
            <a:spAutoFit/>
          </a:bodyPr>
          <a:lstStyle/>
          <a:p>
            <a:pPr defTabSz="457200"/>
            <a:r>
              <a:rPr lang="en-US" sz="4600" b="1">
                <a:solidFill>
                  <a:srgbClr val="F0F0F0"/>
                </a:solidFill>
                <a:latin typeface="Montserrat" pitchFamily="2" charset="77"/>
              </a:rPr>
              <a:t>FERRARI (‘RACE’) VALUATION</a:t>
            </a:r>
          </a:p>
          <a:p>
            <a:pPr lvl="1" defTabSz="457200">
              <a:defRPr sz="2000">
                <a:solidFill>
                  <a:srgbClr val="B9B9B9"/>
                </a:solidFill>
                <a:latin typeface="Arial"/>
              </a:defRPr>
            </a:pPr>
            <a:r>
              <a:rPr lang="en-US" sz="2000">
                <a:solidFill>
                  <a:srgbClr val="B9B9B9"/>
                </a:solidFill>
                <a:latin typeface="Montserrat" pitchFamily="2" charset="77"/>
              </a:rPr>
              <a:t>Can the Ferrari brand successfully absorb an industry-wide</a:t>
            </a:r>
            <a:br>
              <a:rPr lang="en-US" sz="2000">
                <a:solidFill>
                  <a:srgbClr val="B9B9B9"/>
                </a:solidFill>
                <a:latin typeface="Montserrat" pitchFamily="2" charset="77"/>
              </a:rPr>
            </a:br>
            <a:r>
              <a:rPr lang="en-US" sz="2000">
                <a:solidFill>
                  <a:srgbClr val="B9B9B9"/>
                </a:solidFill>
                <a:latin typeface="Montserrat" pitchFamily="2" charset="77"/>
              </a:rPr>
              <a:t>structural transition toward zero-emission?</a:t>
            </a:r>
          </a:p>
          <a:p>
            <a:pPr lvl="1" defTabSz="457200">
              <a:defRPr sz="1800">
                <a:solidFill>
                  <a:srgbClr val="D4AF37"/>
                </a:solidFill>
                <a:latin typeface="Arial"/>
              </a:defRPr>
            </a:pPr>
            <a:r>
              <a:rPr lang="en-US">
                <a:solidFill>
                  <a:srgbClr val="D4AF37"/>
                </a:solidFill>
                <a:latin typeface="Montserrat" pitchFamily="2" charset="77"/>
              </a:rPr>
              <a:t>March 2026</a:t>
            </a:r>
          </a:p>
        </p:txBody>
      </p:sp>
      <p:sp>
        <p:nvSpPr>
          <p:cNvPr id="5" name="Rectangle 4">
            <a:extLst>
              <a:ext uri="{FF2B5EF4-FFF2-40B4-BE49-F238E27FC236}">
                <a16:creationId xmlns:a16="http://schemas.microsoft.com/office/drawing/2014/main" id="{A63674A6-E46A-B0A1-1A0F-9F1CC9347E71}"/>
              </a:ext>
            </a:extLst>
          </p:cNvPr>
          <p:cNvSpPr/>
          <p:nvPr/>
        </p:nvSpPr>
        <p:spPr>
          <a:xfrm>
            <a:off x="1373188" y="4389120"/>
            <a:ext cx="3200400"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pic>
        <p:nvPicPr>
          <p:cNvPr id="6" name="Picture 5" descr="A white horse on a black background&#10;&#10;AI-generated content may be incorrect.">
            <a:extLst>
              <a:ext uri="{FF2B5EF4-FFF2-40B4-BE49-F238E27FC236}">
                <a16:creationId xmlns:a16="http://schemas.microsoft.com/office/drawing/2014/main" id="{15146760-B20F-2BDD-B0D7-7A7AF25A660D}"/>
              </a:ext>
            </a:extLst>
          </p:cNvPr>
          <p:cNvPicPr>
            <a:picLocks noChangeAspect="1"/>
          </p:cNvPicPr>
          <p:nvPr/>
        </p:nvPicPr>
        <p:blipFill>
          <a:blip r:embed="rId2">
            <a:clrChange>
              <a:clrFrom>
                <a:srgbClr val="000000"/>
              </a:clrFrom>
              <a:clrTo>
                <a:srgbClr val="000000">
                  <a:alpha val="0"/>
                </a:srgbClr>
              </a:clrTo>
            </a:clrChange>
          </a:blip>
          <a:stretch>
            <a:fillRect/>
          </a:stretch>
        </p:blipFill>
        <p:spPr>
          <a:xfrm>
            <a:off x="10019982" y="-489857"/>
            <a:ext cx="2146300" cy="2743200"/>
          </a:xfrm>
          <a:prstGeom prst="rect">
            <a:avLst/>
          </a:prstGeom>
        </p:spPr>
      </p:pic>
      <p:sp>
        <p:nvSpPr>
          <p:cNvPr id="7" name="Rectangle 6">
            <a:extLst>
              <a:ext uri="{FF2B5EF4-FFF2-40B4-BE49-F238E27FC236}">
                <a16:creationId xmlns:a16="http://schemas.microsoft.com/office/drawing/2014/main" id="{D8F732AB-E871-5A13-09C9-0BFA4CD245AD}"/>
              </a:ext>
            </a:extLst>
          </p:cNvPr>
          <p:cNvSpPr/>
          <p:nvPr/>
        </p:nvSpPr>
        <p:spPr>
          <a:xfrm rot="16200000">
            <a:off x="-816429" y="816427"/>
            <a:ext cx="1789611" cy="156755"/>
          </a:xfrm>
          <a:prstGeom prst="rect">
            <a:avLst/>
          </a:prstGeom>
          <a:solidFill>
            <a:srgbClr val="009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4AD9B65B-D7B9-85C8-6CEE-4DE044FC4948}"/>
              </a:ext>
            </a:extLst>
          </p:cNvPr>
          <p:cNvSpPr/>
          <p:nvPr/>
        </p:nvSpPr>
        <p:spPr>
          <a:xfrm rot="16200000">
            <a:off x="-1515293" y="3304903"/>
            <a:ext cx="3187341" cy="156753"/>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E23806D5-4221-E9C9-AB35-4785C931C6C1}"/>
              </a:ext>
            </a:extLst>
          </p:cNvPr>
          <p:cNvSpPr/>
          <p:nvPr/>
        </p:nvSpPr>
        <p:spPr>
          <a:xfrm rot="16200000">
            <a:off x="-862147" y="5839098"/>
            <a:ext cx="1881052" cy="156754"/>
          </a:xfrm>
          <a:prstGeom prst="rect">
            <a:avLst/>
          </a:prstGeom>
          <a:solidFill>
            <a:srgbClr val="CE11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468152F6-9E11-50E8-6C56-8317B9D6E3F8}"/>
              </a:ext>
            </a:extLst>
          </p:cNvPr>
          <p:cNvSpPr txBox="1"/>
          <p:nvPr/>
        </p:nvSpPr>
        <p:spPr>
          <a:xfrm>
            <a:off x="1373188" y="5126891"/>
            <a:ext cx="7207141" cy="400110"/>
          </a:xfrm>
          <a:prstGeom prst="rect">
            <a:avLst/>
          </a:prstGeom>
          <a:noFill/>
        </p:spPr>
        <p:txBody>
          <a:bodyPr wrap="square">
            <a:spAutoFit/>
          </a:bodyPr>
          <a:lstStyle/>
          <a:p>
            <a:r>
              <a:rPr lang="en-US" sz="2000" dirty="0">
                <a:solidFill>
                  <a:schemeClr val="bg1"/>
                </a:solidFill>
                <a:latin typeface="Montserrat" pitchFamily="2" charset="77"/>
              </a:rPr>
              <a:t>A. Ananyan</a:t>
            </a:r>
          </a:p>
        </p:txBody>
      </p:sp>
    </p:spTree>
    <p:extLst>
      <p:ext uri="{BB962C8B-B14F-4D97-AF65-F5344CB8AC3E}">
        <p14:creationId xmlns:p14="http://schemas.microsoft.com/office/powerpoint/2010/main" val="1468942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F1C5EAC-4F18-9CA6-2180-8672F30AEAB0}"/>
            </a:ext>
          </a:extLst>
        </p:cNvPr>
        <p:cNvGrpSpPr/>
        <p:nvPr/>
      </p:nvGrpSpPr>
      <p:grpSpPr>
        <a:xfrm>
          <a:off x="0" y="0"/>
          <a:ext cx="0" cy="0"/>
          <a:chOff x="0" y="0"/>
          <a:chExt cx="0" cy="0"/>
        </a:xfrm>
      </p:grpSpPr>
      <p:sp>
        <p:nvSpPr>
          <p:cNvPr id="15" name="Block Arc 14">
            <a:extLst>
              <a:ext uri="{FF2B5EF4-FFF2-40B4-BE49-F238E27FC236}">
                <a16:creationId xmlns:a16="http://schemas.microsoft.com/office/drawing/2014/main" id="{3C36998F-780F-616D-4D13-E41B452D0148}"/>
              </a:ext>
            </a:extLst>
          </p:cNvPr>
          <p:cNvSpPr/>
          <p:nvPr/>
        </p:nvSpPr>
        <p:spPr>
          <a:xfrm>
            <a:off x="-2563492" y="1688832"/>
            <a:ext cx="5309299" cy="5219540"/>
          </a:xfrm>
          <a:prstGeom prst="blockArc">
            <a:avLst>
              <a:gd name="adj1" fmla="val 16576805"/>
              <a:gd name="adj2" fmla="val 4449966"/>
              <a:gd name="adj3" fmla="val 0"/>
            </a:avLst>
          </a:prstGeom>
          <a:solidFill>
            <a:srgbClr val="BD1111"/>
          </a:solidFill>
          <a:ln>
            <a:solidFill>
              <a:srgbClr val="C00000"/>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33" name="Freeform 32">
            <a:extLst>
              <a:ext uri="{FF2B5EF4-FFF2-40B4-BE49-F238E27FC236}">
                <a16:creationId xmlns:a16="http://schemas.microsoft.com/office/drawing/2014/main" id="{10E252AC-B30D-FF88-6DD2-75266B58BA14}"/>
              </a:ext>
            </a:extLst>
          </p:cNvPr>
          <p:cNvSpPr/>
          <p:nvPr/>
        </p:nvSpPr>
        <p:spPr>
          <a:xfrm>
            <a:off x="0" y="1378811"/>
            <a:ext cx="2084480" cy="5479189"/>
          </a:xfrm>
          <a:custGeom>
            <a:avLst/>
            <a:gdLst>
              <a:gd name="csX0" fmla="*/ 0 w 8785809"/>
              <a:gd name="csY0" fmla="*/ 0 h 492949"/>
              <a:gd name="csX1" fmla="*/ 8785809 w 8785809"/>
              <a:gd name="csY1" fmla="*/ 0 h 492949"/>
              <a:gd name="csX2" fmla="*/ 8785809 w 8785809"/>
              <a:gd name="csY2" fmla="*/ 492949 h 492949"/>
              <a:gd name="csX3" fmla="*/ 0 w 8785809"/>
              <a:gd name="csY3" fmla="*/ 492949 h 492949"/>
              <a:gd name="csX4" fmla="*/ 0 w 8785809"/>
              <a:gd name="csY4" fmla="*/ 0 h 492949"/>
            </a:gdLst>
            <a:ahLst/>
            <a:cxnLst>
              <a:cxn ang="0">
                <a:pos x="csX0" y="csY0"/>
              </a:cxn>
              <a:cxn ang="0">
                <a:pos x="csX1" y="csY1"/>
              </a:cxn>
              <a:cxn ang="0">
                <a:pos x="csX2" y="csY2"/>
              </a:cxn>
              <a:cxn ang="0">
                <a:pos x="csX3" y="csY3"/>
              </a:cxn>
              <a:cxn ang="0">
                <a:pos x="csX4" y="csY4"/>
              </a:cxn>
            </a:cxnLst>
            <a:rect l="l" t="t" r="r" b="b"/>
            <a:pathLst>
              <a:path w="8785809" h="492949">
                <a:moveTo>
                  <a:pt x="0" y="0"/>
                </a:moveTo>
                <a:lnTo>
                  <a:pt x="8785809" y="0"/>
                </a:lnTo>
                <a:lnTo>
                  <a:pt x="8785809" y="492949"/>
                </a:lnTo>
                <a:lnTo>
                  <a:pt x="0" y="492949"/>
                </a:lnTo>
                <a:lnTo>
                  <a:pt x="0" y="0"/>
                </a:lnTo>
                <a:close/>
              </a:path>
            </a:pathLst>
          </a:custGeom>
          <a:gradFill flip="none" rotWithShape="1">
            <a:gsLst>
              <a:gs pos="75000">
                <a:srgbClr val="000000"/>
              </a:gs>
              <a:gs pos="99000">
                <a:schemeClr val="tx1">
                  <a:alpha val="0"/>
                </a:schemeClr>
              </a:gs>
              <a:gs pos="0">
                <a:schemeClr val="tx1"/>
              </a:gs>
            </a:gsLst>
            <a:lin ang="0" scaled="1"/>
            <a:tileRect/>
          </a:gra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91279" tIns="63500" rIns="63500" bIns="63500" numCol="1" spcCol="1270" anchor="ctr" anchorCtr="0">
            <a:noAutofit/>
          </a:bodyPr>
          <a:lstStyle/>
          <a:p>
            <a:pPr marL="0" lvl="0" indent="0" algn="l" defTabSz="1111250">
              <a:lnSpc>
                <a:spcPct val="90000"/>
              </a:lnSpc>
              <a:spcBef>
                <a:spcPct val="0"/>
              </a:spcBef>
              <a:spcAft>
                <a:spcPct val="35000"/>
              </a:spcAft>
              <a:buNone/>
            </a:pPr>
            <a:endParaRPr lang="en-US" sz="1600" kern="1200" dirty="0">
              <a:latin typeface="Montserrat" pitchFamily="2" charset="77"/>
            </a:endParaRPr>
          </a:p>
        </p:txBody>
      </p:sp>
      <p:sp>
        <p:nvSpPr>
          <p:cNvPr id="2" name="TextBox 1">
            <a:extLst>
              <a:ext uri="{FF2B5EF4-FFF2-40B4-BE49-F238E27FC236}">
                <a16:creationId xmlns:a16="http://schemas.microsoft.com/office/drawing/2014/main" id="{CFDCCF06-44D0-B8E9-4C2D-5B51FB9A1CED}"/>
              </a:ext>
            </a:extLst>
          </p:cNvPr>
          <p:cNvSpPr txBox="1"/>
          <p:nvPr/>
        </p:nvSpPr>
        <p:spPr>
          <a:xfrm>
            <a:off x="609600" y="682109"/>
            <a:ext cx="10972800" cy="646331"/>
          </a:xfrm>
          <a:prstGeom prst="rect">
            <a:avLst/>
          </a:prstGeom>
          <a:noFill/>
        </p:spPr>
        <p:txBody>
          <a:bodyPr wrap="square" lIns="0" tIns="45720" rIns="0" bIns="45720" rtlCol="0" anchor="t">
            <a:spAutoFit/>
          </a:bodyPr>
          <a:lstStyle/>
          <a:p>
            <a:r>
              <a:rPr lang="en-US" sz="3600" b="1" dirty="0">
                <a:solidFill>
                  <a:schemeClr val="bg1"/>
                </a:solidFill>
                <a:latin typeface="Montserrat" pitchFamily="2" charset="77"/>
              </a:rPr>
              <a:t>Exceptional Company, Overvalued Stock</a:t>
            </a:r>
          </a:p>
        </p:txBody>
      </p:sp>
      <p:sp>
        <p:nvSpPr>
          <p:cNvPr id="5" name="AutoShape 2" descr="Generated image">
            <a:extLst>
              <a:ext uri="{FF2B5EF4-FFF2-40B4-BE49-F238E27FC236}">
                <a16:creationId xmlns:a16="http://schemas.microsoft.com/office/drawing/2014/main" id="{D11B13B1-5FE2-B771-6925-18D2EED6DC06}"/>
              </a:ext>
            </a:extLst>
          </p:cNvPr>
          <p:cNvSpPr>
            <a:spLocks noChangeAspect="1" noChangeArrowheads="1"/>
          </p:cNvSpPr>
          <p:nvPr/>
        </p:nvSpPr>
        <p:spPr bwMode="auto">
          <a:xfrm>
            <a:off x="5943600" y="3479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3BF56A8D-BD0A-45D4-3477-0B6E29DC2E26}"/>
              </a:ext>
            </a:extLst>
          </p:cNvPr>
          <p:cNvSpPr txBox="1"/>
          <p:nvPr/>
        </p:nvSpPr>
        <p:spPr>
          <a:xfrm>
            <a:off x="609598" y="1524100"/>
            <a:ext cx="10744202" cy="400110"/>
          </a:xfrm>
          <a:prstGeom prst="rect">
            <a:avLst/>
          </a:prstGeom>
          <a:noFill/>
        </p:spPr>
        <p:txBody>
          <a:bodyPr wrap="square" lIns="0" tIns="45720" rIns="0" bIns="45720" rtlCol="0" anchor="t">
            <a:spAutoFit/>
          </a:bodyPr>
          <a:lstStyle/>
          <a:p>
            <a:r>
              <a:rPr lang="en-US" sz="2000" dirty="0">
                <a:solidFill>
                  <a:schemeClr val="bg1"/>
                </a:solidFill>
                <a:latin typeface="Montserrat" pitchFamily="2" charset="77"/>
              </a:rPr>
              <a:t>Structural EV transition threatens long-term pricing power</a:t>
            </a:r>
          </a:p>
        </p:txBody>
      </p:sp>
      <p:sp>
        <p:nvSpPr>
          <p:cNvPr id="16" name="Freeform 15">
            <a:extLst>
              <a:ext uri="{FF2B5EF4-FFF2-40B4-BE49-F238E27FC236}">
                <a16:creationId xmlns:a16="http://schemas.microsoft.com/office/drawing/2014/main" id="{D0252346-2643-D0A8-6025-7AC61ECBE6D0}"/>
              </a:ext>
            </a:extLst>
          </p:cNvPr>
          <p:cNvSpPr/>
          <p:nvPr/>
        </p:nvSpPr>
        <p:spPr>
          <a:xfrm>
            <a:off x="2266490" y="2618629"/>
            <a:ext cx="8785809" cy="492949"/>
          </a:xfrm>
          <a:custGeom>
            <a:avLst/>
            <a:gdLst>
              <a:gd name="csX0" fmla="*/ 0 w 8785809"/>
              <a:gd name="csY0" fmla="*/ 0 h 492949"/>
              <a:gd name="csX1" fmla="*/ 8785809 w 8785809"/>
              <a:gd name="csY1" fmla="*/ 0 h 492949"/>
              <a:gd name="csX2" fmla="*/ 8785809 w 8785809"/>
              <a:gd name="csY2" fmla="*/ 492949 h 492949"/>
              <a:gd name="csX3" fmla="*/ 0 w 8785809"/>
              <a:gd name="csY3" fmla="*/ 492949 h 492949"/>
              <a:gd name="csX4" fmla="*/ 0 w 8785809"/>
              <a:gd name="csY4" fmla="*/ 0 h 492949"/>
            </a:gdLst>
            <a:ahLst/>
            <a:cxnLst>
              <a:cxn ang="0">
                <a:pos x="csX0" y="csY0"/>
              </a:cxn>
              <a:cxn ang="0">
                <a:pos x="csX1" y="csY1"/>
              </a:cxn>
              <a:cxn ang="0">
                <a:pos x="csX2" y="csY2"/>
              </a:cxn>
              <a:cxn ang="0">
                <a:pos x="csX3" y="csY3"/>
              </a:cxn>
              <a:cxn ang="0">
                <a:pos x="csX4" y="csY4"/>
              </a:cxn>
            </a:cxnLst>
            <a:rect l="l" t="t" r="r" b="b"/>
            <a:pathLst>
              <a:path w="8785809" h="492949">
                <a:moveTo>
                  <a:pt x="0" y="0"/>
                </a:moveTo>
                <a:lnTo>
                  <a:pt x="8785809" y="0"/>
                </a:lnTo>
                <a:lnTo>
                  <a:pt x="8785809" y="492949"/>
                </a:lnTo>
                <a:lnTo>
                  <a:pt x="0" y="492949"/>
                </a:lnTo>
                <a:lnTo>
                  <a:pt x="0" y="0"/>
                </a:lnTo>
                <a:close/>
              </a:path>
            </a:pathLst>
          </a:custGeom>
          <a:gradFill flip="none" rotWithShape="1">
            <a:gsLst>
              <a:gs pos="27000">
                <a:srgbClr val="C00000"/>
              </a:gs>
              <a:gs pos="100000">
                <a:schemeClr val="tx1"/>
              </a:gs>
            </a:gsLst>
            <a:lin ang="0" scaled="1"/>
            <a:tileRect/>
          </a:gra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91279" tIns="63500" rIns="63500" bIns="63500" numCol="1" spcCol="1270" anchor="ctr" anchorCtr="0">
            <a:noAutofit/>
          </a:bodyPr>
          <a:lstStyle/>
          <a:p>
            <a:pPr marL="0" lvl="0" indent="0" algn="l" defTabSz="1111250">
              <a:lnSpc>
                <a:spcPct val="90000"/>
              </a:lnSpc>
              <a:spcBef>
                <a:spcPct val="0"/>
              </a:spcBef>
              <a:spcAft>
                <a:spcPct val="35000"/>
              </a:spcAft>
              <a:buNone/>
            </a:pPr>
            <a:r>
              <a:rPr lang="en-US" sz="1600" kern="1200" dirty="0">
                <a:latin typeface="Montserrat" pitchFamily="2" charset="77"/>
              </a:rPr>
              <a:t>Core tension: Luxury scarcity vs EV standardization</a:t>
            </a:r>
          </a:p>
        </p:txBody>
      </p:sp>
      <p:sp>
        <p:nvSpPr>
          <p:cNvPr id="17" name="Oval 16">
            <a:extLst>
              <a:ext uri="{FF2B5EF4-FFF2-40B4-BE49-F238E27FC236}">
                <a16:creationId xmlns:a16="http://schemas.microsoft.com/office/drawing/2014/main" id="{9F2E8022-A9E6-C941-DB71-1A9B83EA5CF7}"/>
              </a:ext>
            </a:extLst>
          </p:cNvPr>
          <p:cNvSpPr/>
          <p:nvPr/>
        </p:nvSpPr>
        <p:spPr>
          <a:xfrm>
            <a:off x="1958397" y="2544310"/>
            <a:ext cx="616187" cy="616187"/>
          </a:xfrm>
          <a:prstGeom prst="ellipse">
            <a:avLst/>
          </a:prstGeom>
          <a:solidFill>
            <a:schemeClr val="tx1"/>
          </a:solidFill>
          <a:ln w="38100">
            <a:solidFill>
              <a:srgbClr val="C00000"/>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nchor="ctr"/>
          <a:lstStyle/>
          <a:p>
            <a:pPr algn="ctr"/>
            <a:r>
              <a:rPr lang="en-US" sz="1600" b="1" dirty="0">
                <a:solidFill>
                  <a:schemeClr val="bg1"/>
                </a:solidFill>
                <a:latin typeface="Montserrat" pitchFamily="2" charset="77"/>
              </a:rPr>
              <a:t>1</a:t>
            </a:r>
          </a:p>
        </p:txBody>
      </p:sp>
      <p:sp>
        <p:nvSpPr>
          <p:cNvPr id="18" name="Freeform 17">
            <a:extLst>
              <a:ext uri="{FF2B5EF4-FFF2-40B4-BE49-F238E27FC236}">
                <a16:creationId xmlns:a16="http://schemas.microsoft.com/office/drawing/2014/main" id="{52C767EA-F5DE-FD4A-E006-2EC2188FE42B}"/>
              </a:ext>
            </a:extLst>
          </p:cNvPr>
          <p:cNvSpPr/>
          <p:nvPr/>
        </p:nvSpPr>
        <p:spPr>
          <a:xfrm>
            <a:off x="2619724" y="3357817"/>
            <a:ext cx="8432575" cy="492949"/>
          </a:xfrm>
          <a:custGeom>
            <a:avLst/>
            <a:gdLst>
              <a:gd name="csX0" fmla="*/ 0 w 8432575"/>
              <a:gd name="csY0" fmla="*/ 0 h 492949"/>
              <a:gd name="csX1" fmla="*/ 8432575 w 8432575"/>
              <a:gd name="csY1" fmla="*/ 0 h 492949"/>
              <a:gd name="csX2" fmla="*/ 8432575 w 8432575"/>
              <a:gd name="csY2" fmla="*/ 492949 h 492949"/>
              <a:gd name="csX3" fmla="*/ 0 w 8432575"/>
              <a:gd name="csY3" fmla="*/ 492949 h 492949"/>
              <a:gd name="csX4" fmla="*/ 0 w 8432575"/>
              <a:gd name="csY4" fmla="*/ 0 h 492949"/>
            </a:gdLst>
            <a:ahLst/>
            <a:cxnLst>
              <a:cxn ang="0">
                <a:pos x="csX0" y="csY0"/>
              </a:cxn>
              <a:cxn ang="0">
                <a:pos x="csX1" y="csY1"/>
              </a:cxn>
              <a:cxn ang="0">
                <a:pos x="csX2" y="csY2"/>
              </a:cxn>
              <a:cxn ang="0">
                <a:pos x="csX3" y="csY3"/>
              </a:cxn>
              <a:cxn ang="0">
                <a:pos x="csX4" y="csY4"/>
              </a:cxn>
            </a:cxnLst>
            <a:rect l="l" t="t" r="r" b="b"/>
            <a:pathLst>
              <a:path w="8432575" h="492949">
                <a:moveTo>
                  <a:pt x="0" y="0"/>
                </a:moveTo>
                <a:lnTo>
                  <a:pt x="8432575" y="0"/>
                </a:lnTo>
                <a:lnTo>
                  <a:pt x="8432575" y="492949"/>
                </a:lnTo>
                <a:lnTo>
                  <a:pt x="0" y="492949"/>
                </a:lnTo>
                <a:lnTo>
                  <a:pt x="0" y="0"/>
                </a:lnTo>
                <a:close/>
              </a:path>
            </a:pathLst>
          </a:custGeom>
          <a:gradFill flip="none" rotWithShape="1">
            <a:gsLst>
              <a:gs pos="27000">
                <a:srgbClr val="C00000"/>
              </a:gs>
              <a:gs pos="100000">
                <a:schemeClr val="tx1"/>
              </a:gs>
            </a:gsLst>
            <a:lin ang="0" scaled="1"/>
            <a:tileRect/>
          </a:gra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91279" tIns="63500" rIns="63500" bIns="63500" numCol="1" spcCol="1270" anchor="ctr" anchorCtr="0">
            <a:noAutofit/>
          </a:bodyPr>
          <a:lstStyle/>
          <a:p>
            <a:pPr marL="0" lvl="0" indent="0" algn="l" defTabSz="1111250">
              <a:lnSpc>
                <a:spcPct val="90000"/>
              </a:lnSpc>
              <a:spcBef>
                <a:spcPct val="0"/>
              </a:spcBef>
              <a:spcAft>
                <a:spcPct val="35000"/>
              </a:spcAft>
              <a:buNone/>
            </a:pPr>
            <a:r>
              <a:rPr lang="en-US" sz="1600" kern="1200" dirty="0">
                <a:latin typeface="Montserrat" pitchFamily="2" charset="77"/>
              </a:rPr>
              <a:t>Base case intrinsic value: </a:t>
            </a:r>
            <a:r>
              <a:rPr lang="en-US" sz="1600" b="1" i="0" u="none" kern="1200" dirty="0">
                <a:latin typeface="Montserrat" pitchFamily="2" charset="77"/>
              </a:rPr>
              <a:t>€226.84/share</a:t>
            </a:r>
            <a:r>
              <a:rPr lang="en-US" sz="1600" kern="1200" dirty="0">
                <a:latin typeface="Montserrat" pitchFamily="2" charset="77"/>
              </a:rPr>
              <a:t> </a:t>
            </a:r>
          </a:p>
        </p:txBody>
      </p:sp>
      <p:sp>
        <p:nvSpPr>
          <p:cNvPr id="19" name="Oval 18">
            <a:extLst>
              <a:ext uri="{FF2B5EF4-FFF2-40B4-BE49-F238E27FC236}">
                <a16:creationId xmlns:a16="http://schemas.microsoft.com/office/drawing/2014/main" id="{306C00DB-33E0-3251-AA3B-E8A21D79A245}"/>
              </a:ext>
            </a:extLst>
          </p:cNvPr>
          <p:cNvSpPr/>
          <p:nvPr/>
        </p:nvSpPr>
        <p:spPr>
          <a:xfrm>
            <a:off x="2311630" y="3296198"/>
            <a:ext cx="616187" cy="616187"/>
          </a:xfrm>
          <a:prstGeom prst="ellipse">
            <a:avLst/>
          </a:prstGeom>
          <a:solidFill>
            <a:schemeClr val="tx1"/>
          </a:solidFill>
          <a:ln w="38100">
            <a:solidFill>
              <a:srgbClr val="C00000"/>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nchor="ctr"/>
          <a:lstStyle/>
          <a:p>
            <a:pPr algn="ctr"/>
            <a:r>
              <a:rPr lang="en-US" sz="1600" b="1" dirty="0">
                <a:solidFill>
                  <a:schemeClr val="bg1"/>
                </a:solidFill>
                <a:latin typeface="Montserrat" pitchFamily="2" charset="77"/>
              </a:rPr>
              <a:t>2</a:t>
            </a:r>
          </a:p>
        </p:txBody>
      </p:sp>
      <p:sp>
        <p:nvSpPr>
          <p:cNvPr id="21" name="Freeform 20">
            <a:extLst>
              <a:ext uri="{FF2B5EF4-FFF2-40B4-BE49-F238E27FC236}">
                <a16:creationId xmlns:a16="http://schemas.microsoft.com/office/drawing/2014/main" id="{F09973A6-C031-7F81-B782-8904DC0D369C}"/>
              </a:ext>
            </a:extLst>
          </p:cNvPr>
          <p:cNvSpPr/>
          <p:nvPr/>
        </p:nvSpPr>
        <p:spPr>
          <a:xfrm>
            <a:off x="2728138" y="4097005"/>
            <a:ext cx="8324161" cy="492949"/>
          </a:xfrm>
          <a:custGeom>
            <a:avLst/>
            <a:gdLst>
              <a:gd name="csX0" fmla="*/ 0 w 8324161"/>
              <a:gd name="csY0" fmla="*/ 0 h 492949"/>
              <a:gd name="csX1" fmla="*/ 8324161 w 8324161"/>
              <a:gd name="csY1" fmla="*/ 0 h 492949"/>
              <a:gd name="csX2" fmla="*/ 8324161 w 8324161"/>
              <a:gd name="csY2" fmla="*/ 492949 h 492949"/>
              <a:gd name="csX3" fmla="*/ 0 w 8324161"/>
              <a:gd name="csY3" fmla="*/ 492949 h 492949"/>
              <a:gd name="csX4" fmla="*/ 0 w 8324161"/>
              <a:gd name="csY4" fmla="*/ 0 h 492949"/>
            </a:gdLst>
            <a:ahLst/>
            <a:cxnLst>
              <a:cxn ang="0">
                <a:pos x="csX0" y="csY0"/>
              </a:cxn>
              <a:cxn ang="0">
                <a:pos x="csX1" y="csY1"/>
              </a:cxn>
              <a:cxn ang="0">
                <a:pos x="csX2" y="csY2"/>
              </a:cxn>
              <a:cxn ang="0">
                <a:pos x="csX3" y="csY3"/>
              </a:cxn>
              <a:cxn ang="0">
                <a:pos x="csX4" y="csY4"/>
              </a:cxn>
            </a:cxnLst>
            <a:rect l="l" t="t" r="r" b="b"/>
            <a:pathLst>
              <a:path w="8324161" h="492949">
                <a:moveTo>
                  <a:pt x="0" y="0"/>
                </a:moveTo>
                <a:lnTo>
                  <a:pt x="8324161" y="0"/>
                </a:lnTo>
                <a:lnTo>
                  <a:pt x="8324161" y="492949"/>
                </a:lnTo>
                <a:lnTo>
                  <a:pt x="0" y="492949"/>
                </a:lnTo>
                <a:lnTo>
                  <a:pt x="0" y="0"/>
                </a:lnTo>
                <a:close/>
              </a:path>
            </a:pathLst>
          </a:custGeom>
          <a:gradFill flip="none" rotWithShape="1">
            <a:gsLst>
              <a:gs pos="27000">
                <a:srgbClr val="C00000"/>
              </a:gs>
              <a:gs pos="100000">
                <a:schemeClr val="tx1"/>
              </a:gs>
            </a:gsLst>
            <a:lin ang="0" scaled="1"/>
            <a:tileRect/>
          </a:gra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91279" tIns="63500" rIns="63500" bIns="63500" numCol="1" spcCol="1270" anchor="ctr" anchorCtr="0">
            <a:noAutofit/>
          </a:bodyPr>
          <a:lstStyle/>
          <a:p>
            <a:pPr marL="0" lvl="0" indent="0" algn="l" defTabSz="1111250">
              <a:lnSpc>
                <a:spcPct val="90000"/>
              </a:lnSpc>
              <a:spcBef>
                <a:spcPct val="0"/>
              </a:spcBef>
              <a:spcAft>
                <a:spcPct val="35000"/>
              </a:spcAft>
              <a:buNone/>
            </a:pPr>
            <a:r>
              <a:rPr lang="en-US" sz="1600" kern="1200" dirty="0">
                <a:latin typeface="Montserrat" pitchFamily="2" charset="77"/>
              </a:rPr>
              <a:t>Market price: ~</a:t>
            </a:r>
            <a:r>
              <a:rPr lang="en-US" sz="1600" b="1" i="0" u="none" kern="1200" dirty="0">
                <a:latin typeface="Montserrat" pitchFamily="2" charset="77"/>
              </a:rPr>
              <a:t>€304/share</a:t>
            </a:r>
            <a:r>
              <a:rPr lang="en-US" sz="1600" b="1" i="0" u="none" kern="1200" baseline="30000" dirty="0">
                <a:latin typeface="Montserrat" pitchFamily="2" charset="77"/>
              </a:rPr>
              <a:t>1</a:t>
            </a:r>
            <a:endParaRPr lang="en-US" sz="1600" kern="1200" baseline="30000" dirty="0">
              <a:latin typeface="Montserrat" pitchFamily="2" charset="77"/>
            </a:endParaRPr>
          </a:p>
        </p:txBody>
      </p:sp>
      <p:sp>
        <p:nvSpPr>
          <p:cNvPr id="23" name="Oval 22">
            <a:extLst>
              <a:ext uri="{FF2B5EF4-FFF2-40B4-BE49-F238E27FC236}">
                <a16:creationId xmlns:a16="http://schemas.microsoft.com/office/drawing/2014/main" id="{7B3AC793-4B2F-266B-BCF6-12B312C4C0A3}"/>
              </a:ext>
            </a:extLst>
          </p:cNvPr>
          <p:cNvSpPr/>
          <p:nvPr/>
        </p:nvSpPr>
        <p:spPr>
          <a:xfrm>
            <a:off x="2420044" y="4035386"/>
            <a:ext cx="616187" cy="616187"/>
          </a:xfrm>
          <a:prstGeom prst="ellipse">
            <a:avLst/>
          </a:prstGeom>
          <a:solidFill>
            <a:schemeClr val="tx1"/>
          </a:solidFill>
          <a:ln w="38100">
            <a:solidFill>
              <a:srgbClr val="C00000"/>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nchor="ctr"/>
          <a:lstStyle/>
          <a:p>
            <a:pPr algn="ctr"/>
            <a:r>
              <a:rPr lang="en-US" sz="1600" b="1" dirty="0">
                <a:solidFill>
                  <a:schemeClr val="bg1"/>
                </a:solidFill>
                <a:latin typeface="Montserrat" pitchFamily="2" charset="77"/>
              </a:rPr>
              <a:t>3</a:t>
            </a:r>
          </a:p>
        </p:txBody>
      </p:sp>
      <p:sp>
        <p:nvSpPr>
          <p:cNvPr id="24" name="Freeform 23">
            <a:extLst>
              <a:ext uri="{FF2B5EF4-FFF2-40B4-BE49-F238E27FC236}">
                <a16:creationId xmlns:a16="http://schemas.microsoft.com/office/drawing/2014/main" id="{BA667500-8614-DF16-0B2B-4437C24A9A7C}"/>
              </a:ext>
            </a:extLst>
          </p:cNvPr>
          <p:cNvSpPr/>
          <p:nvPr/>
        </p:nvSpPr>
        <p:spPr>
          <a:xfrm>
            <a:off x="2619724" y="4836193"/>
            <a:ext cx="8432575" cy="492949"/>
          </a:xfrm>
          <a:custGeom>
            <a:avLst/>
            <a:gdLst>
              <a:gd name="csX0" fmla="*/ 0 w 8432575"/>
              <a:gd name="csY0" fmla="*/ 0 h 492949"/>
              <a:gd name="csX1" fmla="*/ 8432575 w 8432575"/>
              <a:gd name="csY1" fmla="*/ 0 h 492949"/>
              <a:gd name="csX2" fmla="*/ 8432575 w 8432575"/>
              <a:gd name="csY2" fmla="*/ 492949 h 492949"/>
              <a:gd name="csX3" fmla="*/ 0 w 8432575"/>
              <a:gd name="csY3" fmla="*/ 492949 h 492949"/>
              <a:gd name="csX4" fmla="*/ 0 w 8432575"/>
              <a:gd name="csY4" fmla="*/ 0 h 492949"/>
            </a:gdLst>
            <a:ahLst/>
            <a:cxnLst>
              <a:cxn ang="0">
                <a:pos x="csX0" y="csY0"/>
              </a:cxn>
              <a:cxn ang="0">
                <a:pos x="csX1" y="csY1"/>
              </a:cxn>
              <a:cxn ang="0">
                <a:pos x="csX2" y="csY2"/>
              </a:cxn>
              <a:cxn ang="0">
                <a:pos x="csX3" y="csY3"/>
              </a:cxn>
              <a:cxn ang="0">
                <a:pos x="csX4" y="csY4"/>
              </a:cxn>
            </a:cxnLst>
            <a:rect l="l" t="t" r="r" b="b"/>
            <a:pathLst>
              <a:path w="8432575" h="492949">
                <a:moveTo>
                  <a:pt x="0" y="0"/>
                </a:moveTo>
                <a:lnTo>
                  <a:pt x="8432575" y="0"/>
                </a:lnTo>
                <a:lnTo>
                  <a:pt x="8432575" y="492949"/>
                </a:lnTo>
                <a:lnTo>
                  <a:pt x="0" y="492949"/>
                </a:lnTo>
                <a:lnTo>
                  <a:pt x="0" y="0"/>
                </a:lnTo>
                <a:close/>
              </a:path>
            </a:pathLst>
          </a:custGeom>
          <a:gradFill flip="none" rotWithShape="1">
            <a:gsLst>
              <a:gs pos="27000">
                <a:srgbClr val="C00000"/>
              </a:gs>
              <a:gs pos="100000">
                <a:schemeClr val="tx1"/>
              </a:gs>
            </a:gsLst>
            <a:lin ang="0" scaled="1"/>
            <a:tileRect/>
          </a:gra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91279" tIns="63500" rIns="63500" bIns="63500" numCol="1" spcCol="1270" anchor="ctr" anchorCtr="0">
            <a:noAutofit/>
          </a:bodyPr>
          <a:lstStyle/>
          <a:p>
            <a:pPr marL="0" lvl="0" indent="0" algn="l" defTabSz="1111250">
              <a:lnSpc>
                <a:spcPct val="90000"/>
              </a:lnSpc>
              <a:spcBef>
                <a:spcPct val="0"/>
              </a:spcBef>
              <a:spcAft>
                <a:spcPct val="35000"/>
              </a:spcAft>
              <a:buNone/>
            </a:pPr>
            <a:r>
              <a:rPr lang="en-US" sz="1600" kern="1200" dirty="0">
                <a:latin typeface="Montserrat" pitchFamily="2" charset="77"/>
              </a:rPr>
              <a:t>Recommendation: Short</a:t>
            </a:r>
          </a:p>
        </p:txBody>
      </p:sp>
      <p:sp>
        <p:nvSpPr>
          <p:cNvPr id="25" name="Oval 24">
            <a:extLst>
              <a:ext uri="{FF2B5EF4-FFF2-40B4-BE49-F238E27FC236}">
                <a16:creationId xmlns:a16="http://schemas.microsoft.com/office/drawing/2014/main" id="{0E1A1AFF-2376-EB41-8873-0A734FFC6A29}"/>
              </a:ext>
            </a:extLst>
          </p:cNvPr>
          <p:cNvSpPr/>
          <p:nvPr/>
        </p:nvSpPr>
        <p:spPr>
          <a:xfrm>
            <a:off x="2311630" y="4774574"/>
            <a:ext cx="616187" cy="616187"/>
          </a:xfrm>
          <a:prstGeom prst="ellipse">
            <a:avLst/>
          </a:prstGeom>
          <a:solidFill>
            <a:schemeClr val="tx1"/>
          </a:solidFill>
          <a:ln w="38100">
            <a:solidFill>
              <a:srgbClr val="C00000"/>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nchor="ctr"/>
          <a:lstStyle/>
          <a:p>
            <a:pPr algn="ctr"/>
            <a:r>
              <a:rPr lang="en-US" sz="1600" b="1" dirty="0">
                <a:solidFill>
                  <a:schemeClr val="bg1"/>
                </a:solidFill>
                <a:latin typeface="Montserrat" pitchFamily="2" charset="77"/>
              </a:rPr>
              <a:t>4</a:t>
            </a:r>
          </a:p>
        </p:txBody>
      </p:sp>
      <p:sp>
        <p:nvSpPr>
          <p:cNvPr id="27" name="Freeform 26">
            <a:extLst>
              <a:ext uri="{FF2B5EF4-FFF2-40B4-BE49-F238E27FC236}">
                <a16:creationId xmlns:a16="http://schemas.microsoft.com/office/drawing/2014/main" id="{100DFB00-7E21-5B27-081B-4ACDF7E34E15}"/>
              </a:ext>
            </a:extLst>
          </p:cNvPr>
          <p:cNvSpPr/>
          <p:nvPr/>
        </p:nvSpPr>
        <p:spPr>
          <a:xfrm>
            <a:off x="2266490" y="5590212"/>
            <a:ext cx="8785809" cy="492949"/>
          </a:xfrm>
          <a:custGeom>
            <a:avLst/>
            <a:gdLst>
              <a:gd name="csX0" fmla="*/ 0 w 8785809"/>
              <a:gd name="csY0" fmla="*/ 0 h 492949"/>
              <a:gd name="csX1" fmla="*/ 8785809 w 8785809"/>
              <a:gd name="csY1" fmla="*/ 0 h 492949"/>
              <a:gd name="csX2" fmla="*/ 8785809 w 8785809"/>
              <a:gd name="csY2" fmla="*/ 492949 h 492949"/>
              <a:gd name="csX3" fmla="*/ 0 w 8785809"/>
              <a:gd name="csY3" fmla="*/ 492949 h 492949"/>
              <a:gd name="csX4" fmla="*/ 0 w 8785809"/>
              <a:gd name="csY4" fmla="*/ 0 h 492949"/>
            </a:gdLst>
            <a:ahLst/>
            <a:cxnLst>
              <a:cxn ang="0">
                <a:pos x="csX0" y="csY0"/>
              </a:cxn>
              <a:cxn ang="0">
                <a:pos x="csX1" y="csY1"/>
              </a:cxn>
              <a:cxn ang="0">
                <a:pos x="csX2" y="csY2"/>
              </a:cxn>
              <a:cxn ang="0">
                <a:pos x="csX3" y="csY3"/>
              </a:cxn>
              <a:cxn ang="0">
                <a:pos x="csX4" y="csY4"/>
              </a:cxn>
            </a:cxnLst>
            <a:rect l="l" t="t" r="r" b="b"/>
            <a:pathLst>
              <a:path w="8785809" h="492949">
                <a:moveTo>
                  <a:pt x="0" y="0"/>
                </a:moveTo>
                <a:lnTo>
                  <a:pt x="8785809" y="0"/>
                </a:lnTo>
                <a:lnTo>
                  <a:pt x="8785809" y="492949"/>
                </a:lnTo>
                <a:lnTo>
                  <a:pt x="0" y="492949"/>
                </a:lnTo>
                <a:lnTo>
                  <a:pt x="0" y="0"/>
                </a:lnTo>
                <a:close/>
              </a:path>
            </a:pathLst>
          </a:custGeom>
          <a:gradFill flip="none" rotWithShape="1">
            <a:gsLst>
              <a:gs pos="27000">
                <a:srgbClr val="C00000"/>
              </a:gs>
              <a:gs pos="100000">
                <a:schemeClr val="tx1"/>
              </a:gs>
            </a:gsLst>
            <a:lin ang="0" scaled="1"/>
            <a:tileRect/>
          </a:gra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91279" tIns="63500" rIns="63500" bIns="63500" numCol="1" spcCol="1270" anchor="ctr" anchorCtr="0">
            <a:noAutofit/>
          </a:bodyPr>
          <a:lstStyle/>
          <a:p>
            <a:pPr marL="0" lvl="0" indent="0" algn="l" defTabSz="1111250">
              <a:lnSpc>
                <a:spcPct val="90000"/>
              </a:lnSpc>
              <a:spcBef>
                <a:spcPct val="0"/>
              </a:spcBef>
              <a:spcAft>
                <a:spcPct val="35000"/>
              </a:spcAft>
              <a:buNone/>
            </a:pPr>
            <a:r>
              <a:rPr lang="en-US" sz="1600" kern="1200" dirty="0">
                <a:latin typeface="Montserrat" pitchFamily="2" charset="77"/>
              </a:rPr>
              <a:t>Reasoning: Structural risk to pricing power</a:t>
            </a:r>
          </a:p>
        </p:txBody>
      </p:sp>
      <p:sp>
        <p:nvSpPr>
          <p:cNvPr id="29" name="Oval 28">
            <a:extLst>
              <a:ext uri="{FF2B5EF4-FFF2-40B4-BE49-F238E27FC236}">
                <a16:creationId xmlns:a16="http://schemas.microsoft.com/office/drawing/2014/main" id="{31FBB48E-9A9E-77EB-5F61-11FCE48C8064}"/>
              </a:ext>
            </a:extLst>
          </p:cNvPr>
          <p:cNvSpPr/>
          <p:nvPr/>
        </p:nvSpPr>
        <p:spPr>
          <a:xfrm>
            <a:off x="1958397" y="5532050"/>
            <a:ext cx="616187" cy="616187"/>
          </a:xfrm>
          <a:prstGeom prst="ellipse">
            <a:avLst/>
          </a:prstGeom>
          <a:solidFill>
            <a:schemeClr val="tx1"/>
          </a:solidFill>
          <a:ln w="38100">
            <a:solidFill>
              <a:srgbClr val="C00000"/>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nchor="ctr"/>
          <a:lstStyle/>
          <a:p>
            <a:pPr algn="ctr"/>
            <a:r>
              <a:rPr lang="en-US" sz="1600" b="1" dirty="0">
                <a:solidFill>
                  <a:schemeClr val="bg1"/>
                </a:solidFill>
                <a:latin typeface="Montserrat" pitchFamily="2" charset="77"/>
              </a:rPr>
              <a:t>5</a:t>
            </a:r>
          </a:p>
        </p:txBody>
      </p:sp>
      <p:sp>
        <p:nvSpPr>
          <p:cNvPr id="31" name="Oval 30">
            <a:extLst>
              <a:ext uri="{FF2B5EF4-FFF2-40B4-BE49-F238E27FC236}">
                <a16:creationId xmlns:a16="http://schemas.microsoft.com/office/drawing/2014/main" id="{8F3CCC55-4CEF-401E-B331-71743DD98421}"/>
              </a:ext>
            </a:extLst>
          </p:cNvPr>
          <p:cNvSpPr/>
          <p:nvPr/>
        </p:nvSpPr>
        <p:spPr>
          <a:xfrm>
            <a:off x="-501276" y="2143136"/>
            <a:ext cx="4114800" cy="41148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descr="A white horse on a black background&#10;&#10;AI-generated content may be incorrect.">
            <a:extLst>
              <a:ext uri="{FF2B5EF4-FFF2-40B4-BE49-F238E27FC236}">
                <a16:creationId xmlns:a16="http://schemas.microsoft.com/office/drawing/2014/main" id="{92D9CB4F-18F9-AD75-2738-70AB81021C83}"/>
              </a:ext>
            </a:extLst>
          </p:cNvPr>
          <p:cNvPicPr>
            <a:picLocks noChangeAspect="1"/>
          </p:cNvPicPr>
          <p:nvPr/>
        </p:nvPicPr>
        <p:blipFill>
          <a:blip r:embed="rId3">
            <a:clrChange>
              <a:clrFrom>
                <a:srgbClr val="000000"/>
              </a:clrFrom>
              <a:clrTo>
                <a:srgbClr val="000000">
                  <a:alpha val="0"/>
                </a:srgbClr>
              </a:clrTo>
            </a:clrChange>
            <a:alphaModFix amt="20000"/>
          </a:blip>
          <a:stretch>
            <a:fillRect/>
          </a:stretch>
        </p:blipFill>
        <p:spPr>
          <a:xfrm>
            <a:off x="23763" y="2852512"/>
            <a:ext cx="2146300" cy="2743200"/>
          </a:xfrm>
          <a:prstGeom prst="rect">
            <a:avLst/>
          </a:prstGeom>
        </p:spPr>
      </p:pic>
      <p:sp>
        <p:nvSpPr>
          <p:cNvPr id="35" name="TextBox 34">
            <a:extLst>
              <a:ext uri="{FF2B5EF4-FFF2-40B4-BE49-F238E27FC236}">
                <a16:creationId xmlns:a16="http://schemas.microsoft.com/office/drawing/2014/main" id="{C0CBE836-11C9-C27A-B76E-1316F7542F9C}"/>
              </a:ext>
            </a:extLst>
          </p:cNvPr>
          <p:cNvSpPr txBox="1"/>
          <p:nvPr/>
        </p:nvSpPr>
        <p:spPr>
          <a:xfrm>
            <a:off x="609598" y="6440070"/>
            <a:ext cx="10495967" cy="197618"/>
          </a:xfrm>
          <a:prstGeom prst="rect">
            <a:avLst/>
          </a:prstGeom>
          <a:noFill/>
        </p:spPr>
        <p:txBody>
          <a:bodyPr wrap="square" lIns="0" rtlCol="0">
            <a:spAutoFit/>
          </a:bodyPr>
          <a:lstStyle/>
          <a:p>
            <a:pPr marL="228600" indent="-228600">
              <a:lnSpc>
                <a:spcPts val="800"/>
              </a:lnSpc>
              <a:buAutoNum type="arabicPeriod"/>
            </a:pPr>
            <a:r>
              <a:rPr lang="en-US" sz="800" dirty="0">
                <a:solidFill>
                  <a:schemeClr val="bg1"/>
                </a:solidFill>
                <a:latin typeface="Montserrat" pitchFamily="2" charset="77"/>
              </a:rPr>
              <a:t>As of February 23, 2026.</a:t>
            </a:r>
          </a:p>
        </p:txBody>
      </p:sp>
      <p:sp>
        <p:nvSpPr>
          <p:cNvPr id="36" name="Slide Number Placeholder 35">
            <a:extLst>
              <a:ext uri="{FF2B5EF4-FFF2-40B4-BE49-F238E27FC236}">
                <a16:creationId xmlns:a16="http://schemas.microsoft.com/office/drawing/2014/main" id="{E135238B-DF78-B4B3-C99B-F33557D926D2}"/>
              </a:ext>
            </a:extLst>
          </p:cNvPr>
          <p:cNvSpPr>
            <a:spLocks noGrp="1"/>
          </p:cNvSpPr>
          <p:nvPr>
            <p:ph type="sldNum" sz="quarter" idx="12"/>
          </p:nvPr>
        </p:nvSpPr>
        <p:spPr/>
        <p:txBody>
          <a:bodyPr/>
          <a:lstStyle/>
          <a:p>
            <a:fld id="{5780461E-0DE5-ED4D-97A3-62EC4F103ED2}" type="slidenum">
              <a:rPr lang="en-US" smtClean="0"/>
              <a:t>2</a:t>
            </a:fld>
            <a:endParaRPr lang="en-US"/>
          </a:p>
        </p:txBody>
      </p:sp>
    </p:spTree>
    <p:extLst>
      <p:ext uri="{BB962C8B-B14F-4D97-AF65-F5344CB8AC3E}">
        <p14:creationId xmlns:p14="http://schemas.microsoft.com/office/powerpoint/2010/main" val="3113875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0-#ppt_w/2"/>
                                          </p:val>
                                        </p:tav>
                                        <p:tav tm="100000">
                                          <p:val>
                                            <p:strVal val="#ppt_x"/>
                                          </p:val>
                                        </p:tav>
                                      </p:tavLst>
                                    </p:anim>
                                    <p:anim calcmode="lin" valueType="num">
                                      <p:cBhvr additive="base">
                                        <p:cTn id="12"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500" fill="hold"/>
                                        <p:tgtEl>
                                          <p:spTgt spid="18"/>
                                        </p:tgtEl>
                                        <p:attrNameLst>
                                          <p:attrName>ppt_x</p:attrName>
                                        </p:attrNameLst>
                                      </p:cBhvr>
                                      <p:tavLst>
                                        <p:tav tm="0">
                                          <p:val>
                                            <p:strVal val="0-#ppt_w/2"/>
                                          </p:val>
                                        </p:tav>
                                        <p:tav tm="100000">
                                          <p:val>
                                            <p:strVal val="#ppt_x"/>
                                          </p:val>
                                        </p:tav>
                                      </p:tavLst>
                                    </p:anim>
                                    <p:anim calcmode="lin" valueType="num">
                                      <p:cBhvr additive="base">
                                        <p:cTn id="2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00" fill="hold"/>
                                        <p:tgtEl>
                                          <p:spTgt spid="21"/>
                                        </p:tgtEl>
                                        <p:attrNameLst>
                                          <p:attrName>ppt_x</p:attrName>
                                        </p:attrNameLst>
                                      </p:cBhvr>
                                      <p:tavLst>
                                        <p:tav tm="0">
                                          <p:val>
                                            <p:strVal val="0-#ppt_w/2"/>
                                          </p:val>
                                        </p:tav>
                                        <p:tav tm="100000">
                                          <p:val>
                                            <p:strVal val="#ppt_x"/>
                                          </p:val>
                                        </p:tav>
                                      </p:tavLst>
                                    </p:anim>
                                    <p:anim calcmode="lin" valueType="num">
                                      <p:cBhvr additive="base">
                                        <p:cTn id="32"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anim calcmode="lin" valueType="num">
                                      <p:cBhvr additive="base">
                                        <p:cTn id="41" dur="500" fill="hold"/>
                                        <p:tgtEl>
                                          <p:spTgt spid="24"/>
                                        </p:tgtEl>
                                        <p:attrNameLst>
                                          <p:attrName>ppt_x</p:attrName>
                                        </p:attrNameLst>
                                      </p:cBhvr>
                                      <p:tavLst>
                                        <p:tav tm="0">
                                          <p:val>
                                            <p:strVal val="0-#ppt_w/2"/>
                                          </p:val>
                                        </p:tav>
                                        <p:tav tm="100000">
                                          <p:val>
                                            <p:strVal val="#ppt_x"/>
                                          </p:val>
                                        </p:tav>
                                      </p:tavLst>
                                    </p:anim>
                                    <p:anim calcmode="lin" valueType="num">
                                      <p:cBhvr additive="base">
                                        <p:cTn id="42"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anim calcmode="lin" valueType="num">
                                      <p:cBhvr additive="base">
                                        <p:cTn id="51" dur="500" fill="hold"/>
                                        <p:tgtEl>
                                          <p:spTgt spid="27"/>
                                        </p:tgtEl>
                                        <p:attrNameLst>
                                          <p:attrName>ppt_x</p:attrName>
                                        </p:attrNameLst>
                                      </p:cBhvr>
                                      <p:tavLst>
                                        <p:tav tm="0">
                                          <p:val>
                                            <p:strVal val="0-#ppt_w/2"/>
                                          </p:val>
                                        </p:tav>
                                        <p:tav tm="100000">
                                          <p:val>
                                            <p:strVal val="#ppt_x"/>
                                          </p:val>
                                        </p:tav>
                                      </p:tavLst>
                                    </p:anim>
                                    <p:anim calcmode="lin" valueType="num">
                                      <p:cBhvr additive="base">
                                        <p:cTn id="52" dur="5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1" grpId="0" animBg="1"/>
      <p:bldP spid="23" grpId="0" animBg="1"/>
      <p:bldP spid="24" grpId="0" animBg="1"/>
      <p:bldP spid="25" grpId="0" animBg="1"/>
      <p:bldP spid="27" grpId="0" animBg="1"/>
      <p:bldP spid="2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56D4AB6-74BC-C7B7-A910-F30B87F2574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BB7D2C8-FBB8-2CEB-D904-97CA0A15C6F2}"/>
              </a:ext>
            </a:extLst>
          </p:cNvPr>
          <p:cNvSpPr txBox="1"/>
          <p:nvPr/>
        </p:nvSpPr>
        <p:spPr>
          <a:xfrm>
            <a:off x="609600" y="682109"/>
            <a:ext cx="10972800" cy="646331"/>
          </a:xfrm>
          <a:prstGeom prst="rect">
            <a:avLst/>
          </a:prstGeom>
          <a:noFill/>
        </p:spPr>
        <p:txBody>
          <a:bodyPr wrap="square" lIns="0" tIns="45720" rIns="0" bIns="45720" rtlCol="0" anchor="t">
            <a:spAutoFit/>
          </a:bodyPr>
          <a:lstStyle/>
          <a:p>
            <a:r>
              <a:rPr lang="en-US" sz="3600" b="1" dirty="0">
                <a:solidFill>
                  <a:schemeClr val="bg1"/>
                </a:solidFill>
                <a:latin typeface="Montserrat" pitchFamily="2" charset="77"/>
              </a:rPr>
              <a:t>A Luxury House Disguised as an OEM</a:t>
            </a:r>
          </a:p>
        </p:txBody>
      </p:sp>
      <p:sp>
        <p:nvSpPr>
          <p:cNvPr id="5" name="AutoShape 2" descr="Generated image">
            <a:extLst>
              <a:ext uri="{FF2B5EF4-FFF2-40B4-BE49-F238E27FC236}">
                <a16:creationId xmlns:a16="http://schemas.microsoft.com/office/drawing/2014/main" id="{070D23DC-9B71-E63B-26D2-A0C70CAE802E}"/>
              </a:ext>
            </a:extLst>
          </p:cNvPr>
          <p:cNvSpPr>
            <a:spLocks noChangeAspect="1" noChangeArrowheads="1"/>
          </p:cNvSpPr>
          <p:nvPr/>
        </p:nvSpPr>
        <p:spPr bwMode="auto">
          <a:xfrm>
            <a:off x="5508890" y="3479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8A5E8665-5B91-4060-D7C1-960CE78DBC11}"/>
              </a:ext>
            </a:extLst>
          </p:cNvPr>
          <p:cNvSpPr txBox="1"/>
          <p:nvPr/>
        </p:nvSpPr>
        <p:spPr>
          <a:xfrm>
            <a:off x="609598" y="1524100"/>
            <a:ext cx="10744202" cy="400110"/>
          </a:xfrm>
          <a:prstGeom prst="rect">
            <a:avLst/>
          </a:prstGeom>
          <a:noFill/>
        </p:spPr>
        <p:txBody>
          <a:bodyPr wrap="square" lIns="0" tIns="45720" rIns="0" bIns="45720" rtlCol="0" anchor="t">
            <a:spAutoFit/>
          </a:bodyPr>
          <a:lstStyle/>
          <a:p>
            <a:r>
              <a:rPr lang="en-US" sz="2000" dirty="0">
                <a:solidFill>
                  <a:schemeClr val="bg1"/>
                </a:solidFill>
                <a:latin typeface="Montserrat" pitchFamily="2" charset="77"/>
              </a:rPr>
              <a:t>Ferrari operates as a scarcity-driven luxury brand with superior economics</a:t>
            </a:r>
          </a:p>
        </p:txBody>
      </p:sp>
      <p:sp>
        <p:nvSpPr>
          <p:cNvPr id="7" name="Freeform 6">
            <a:extLst>
              <a:ext uri="{FF2B5EF4-FFF2-40B4-BE49-F238E27FC236}">
                <a16:creationId xmlns:a16="http://schemas.microsoft.com/office/drawing/2014/main" id="{33419B6A-44B8-153E-1BAE-7284F4C1FC8D}"/>
              </a:ext>
            </a:extLst>
          </p:cNvPr>
          <p:cNvSpPr/>
          <p:nvPr/>
        </p:nvSpPr>
        <p:spPr>
          <a:xfrm>
            <a:off x="5459648" y="3957874"/>
            <a:ext cx="2218015" cy="2218015"/>
          </a:xfrm>
          <a:custGeom>
            <a:avLst/>
            <a:gdLst>
              <a:gd name="csX0" fmla="*/ 1574357 w 2218015"/>
              <a:gd name="csY0" fmla="*/ 353637 h 2218015"/>
              <a:gd name="csX1" fmla="*/ 1746883 w 2218015"/>
              <a:gd name="csY1" fmla="*/ 208862 h 2218015"/>
              <a:gd name="csX2" fmla="*/ 1884711 w 2218015"/>
              <a:gd name="csY2" fmla="*/ 324514 h 2218015"/>
              <a:gd name="csX3" fmla="*/ 1772095 w 2218015"/>
              <a:gd name="csY3" fmla="*/ 519559 h 2218015"/>
              <a:gd name="csX4" fmla="*/ 1951028 w 2218015"/>
              <a:gd name="csY4" fmla="*/ 829480 h 2218015"/>
              <a:gd name="csX5" fmla="*/ 2176251 w 2218015"/>
              <a:gd name="csY5" fmla="*/ 829475 h 2218015"/>
              <a:gd name="csX6" fmla="*/ 2207494 w 2218015"/>
              <a:gd name="csY6" fmla="*/ 1006664 h 2218015"/>
              <a:gd name="csX7" fmla="*/ 1995852 w 2218015"/>
              <a:gd name="csY7" fmla="*/ 1083689 h 2218015"/>
              <a:gd name="csX8" fmla="*/ 1933709 w 2218015"/>
              <a:gd name="csY8" fmla="*/ 1436118 h 2218015"/>
              <a:gd name="csX9" fmla="*/ 2106243 w 2218015"/>
              <a:gd name="csY9" fmla="*/ 1580884 h 2218015"/>
              <a:gd name="csX10" fmla="*/ 2016282 w 2218015"/>
              <a:gd name="csY10" fmla="*/ 1736701 h 2218015"/>
              <a:gd name="csX11" fmla="*/ 1804645 w 2218015"/>
              <a:gd name="csY11" fmla="*/ 1659665 h 2218015"/>
              <a:gd name="csX12" fmla="*/ 1530504 w 2218015"/>
              <a:gd name="csY12" fmla="*/ 1889697 h 2218015"/>
              <a:gd name="csX13" fmla="*/ 1569618 w 2218015"/>
              <a:gd name="csY13" fmla="*/ 2111496 h 2218015"/>
              <a:gd name="csX14" fmla="*/ 1400547 w 2218015"/>
              <a:gd name="csY14" fmla="*/ 2173033 h 2218015"/>
              <a:gd name="csX15" fmla="*/ 1287941 w 2218015"/>
              <a:gd name="csY15" fmla="*/ 1977982 h 2218015"/>
              <a:gd name="csX16" fmla="*/ 930075 w 2218015"/>
              <a:gd name="csY16" fmla="*/ 1977982 h 2218015"/>
              <a:gd name="csX17" fmla="*/ 817468 w 2218015"/>
              <a:gd name="csY17" fmla="*/ 2173033 h 2218015"/>
              <a:gd name="csX18" fmla="*/ 648397 w 2218015"/>
              <a:gd name="csY18" fmla="*/ 2111496 h 2218015"/>
              <a:gd name="csX19" fmla="*/ 687512 w 2218015"/>
              <a:gd name="csY19" fmla="*/ 1889697 h 2218015"/>
              <a:gd name="csX20" fmla="*/ 413371 w 2218015"/>
              <a:gd name="csY20" fmla="*/ 1659665 h 2218015"/>
              <a:gd name="csX21" fmla="*/ 201733 w 2218015"/>
              <a:gd name="csY21" fmla="*/ 1736701 h 2218015"/>
              <a:gd name="csX22" fmla="*/ 111772 w 2218015"/>
              <a:gd name="csY22" fmla="*/ 1580884 h 2218015"/>
              <a:gd name="csX23" fmla="*/ 284306 w 2218015"/>
              <a:gd name="csY23" fmla="*/ 1436118 h 2218015"/>
              <a:gd name="csX24" fmla="*/ 222163 w 2218015"/>
              <a:gd name="csY24" fmla="*/ 1083689 h 2218015"/>
              <a:gd name="csX25" fmla="*/ 10521 w 2218015"/>
              <a:gd name="csY25" fmla="*/ 1006664 h 2218015"/>
              <a:gd name="csX26" fmla="*/ 41764 w 2218015"/>
              <a:gd name="csY26" fmla="*/ 829475 h 2218015"/>
              <a:gd name="csX27" fmla="*/ 266987 w 2218015"/>
              <a:gd name="csY27" fmla="*/ 829481 h 2218015"/>
              <a:gd name="csX28" fmla="*/ 445920 w 2218015"/>
              <a:gd name="csY28" fmla="*/ 519560 h 2218015"/>
              <a:gd name="csX29" fmla="*/ 333304 w 2218015"/>
              <a:gd name="csY29" fmla="*/ 324514 h 2218015"/>
              <a:gd name="csX30" fmla="*/ 471132 w 2218015"/>
              <a:gd name="csY30" fmla="*/ 208862 h 2218015"/>
              <a:gd name="csX31" fmla="*/ 643658 w 2218015"/>
              <a:gd name="csY31" fmla="*/ 353637 h 2218015"/>
              <a:gd name="csX32" fmla="*/ 979942 w 2218015"/>
              <a:gd name="csY32" fmla="*/ 231240 h 2218015"/>
              <a:gd name="csX33" fmla="*/ 1019046 w 2218015"/>
              <a:gd name="csY33" fmla="*/ 9438 h 2218015"/>
              <a:gd name="csX34" fmla="*/ 1198969 w 2218015"/>
              <a:gd name="csY34" fmla="*/ 9438 h 2218015"/>
              <a:gd name="csX35" fmla="*/ 1238072 w 2218015"/>
              <a:gd name="csY35" fmla="*/ 231239 h 2218015"/>
              <a:gd name="csX36" fmla="*/ 1574356 w 2218015"/>
              <a:gd name="csY36" fmla="*/ 353636 h 2218015"/>
              <a:gd name="csX37" fmla="*/ 1574357 w 2218015"/>
              <a:gd name="csY37" fmla="*/ 353637 h 22180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2218015" h="2218015">
                <a:moveTo>
                  <a:pt x="1574357" y="353637"/>
                </a:moveTo>
                <a:lnTo>
                  <a:pt x="1746883" y="208862"/>
                </a:lnTo>
                <a:lnTo>
                  <a:pt x="1884711" y="324514"/>
                </a:lnTo>
                <a:lnTo>
                  <a:pt x="1772095" y="519559"/>
                </a:lnTo>
                <a:cubicBezTo>
                  <a:pt x="1852172" y="609640"/>
                  <a:pt x="1913054" y="715091"/>
                  <a:pt x="1951028" y="829480"/>
                </a:cubicBezTo>
                <a:lnTo>
                  <a:pt x="2176251" y="829475"/>
                </a:lnTo>
                <a:lnTo>
                  <a:pt x="2207494" y="1006664"/>
                </a:lnTo>
                <a:lnTo>
                  <a:pt x="1995852" y="1083689"/>
                </a:lnTo>
                <a:cubicBezTo>
                  <a:pt x="1999292" y="1204167"/>
                  <a:pt x="1978147" y="1324082"/>
                  <a:pt x="1933709" y="1436118"/>
                </a:cubicBezTo>
                <a:lnTo>
                  <a:pt x="2106243" y="1580884"/>
                </a:lnTo>
                <a:lnTo>
                  <a:pt x="2016282" y="1736701"/>
                </a:lnTo>
                <a:lnTo>
                  <a:pt x="1804645" y="1659665"/>
                </a:lnTo>
                <a:cubicBezTo>
                  <a:pt x="1729838" y="1754167"/>
                  <a:pt x="1636560" y="1832437"/>
                  <a:pt x="1530504" y="1889697"/>
                </a:cubicBezTo>
                <a:lnTo>
                  <a:pt x="1569618" y="2111496"/>
                </a:lnTo>
                <a:lnTo>
                  <a:pt x="1400547" y="2173033"/>
                </a:lnTo>
                <a:lnTo>
                  <a:pt x="1287941" y="1977982"/>
                </a:lnTo>
                <a:cubicBezTo>
                  <a:pt x="1169891" y="2002290"/>
                  <a:pt x="1048125" y="2002290"/>
                  <a:pt x="930075" y="1977982"/>
                </a:cubicBezTo>
                <a:lnTo>
                  <a:pt x="817468" y="2173033"/>
                </a:lnTo>
                <a:lnTo>
                  <a:pt x="648397" y="2111496"/>
                </a:lnTo>
                <a:lnTo>
                  <a:pt x="687512" y="1889697"/>
                </a:lnTo>
                <a:cubicBezTo>
                  <a:pt x="581455" y="1832437"/>
                  <a:pt x="488177" y="1754167"/>
                  <a:pt x="413371" y="1659665"/>
                </a:cubicBezTo>
                <a:lnTo>
                  <a:pt x="201733" y="1736701"/>
                </a:lnTo>
                <a:lnTo>
                  <a:pt x="111772" y="1580884"/>
                </a:lnTo>
                <a:lnTo>
                  <a:pt x="284306" y="1436118"/>
                </a:lnTo>
                <a:cubicBezTo>
                  <a:pt x="239868" y="1324082"/>
                  <a:pt x="218724" y="1204167"/>
                  <a:pt x="222163" y="1083689"/>
                </a:cubicBezTo>
                <a:lnTo>
                  <a:pt x="10521" y="1006664"/>
                </a:lnTo>
                <a:lnTo>
                  <a:pt x="41764" y="829475"/>
                </a:lnTo>
                <a:lnTo>
                  <a:pt x="266987" y="829481"/>
                </a:lnTo>
                <a:cubicBezTo>
                  <a:pt x="304961" y="715092"/>
                  <a:pt x="365843" y="609640"/>
                  <a:pt x="445920" y="519560"/>
                </a:cubicBezTo>
                <a:lnTo>
                  <a:pt x="333304" y="324514"/>
                </a:lnTo>
                <a:lnTo>
                  <a:pt x="471132" y="208862"/>
                </a:lnTo>
                <a:lnTo>
                  <a:pt x="643658" y="353637"/>
                </a:lnTo>
                <a:cubicBezTo>
                  <a:pt x="746275" y="290419"/>
                  <a:pt x="860697" y="248773"/>
                  <a:pt x="979942" y="231240"/>
                </a:cubicBezTo>
                <a:lnTo>
                  <a:pt x="1019046" y="9438"/>
                </a:lnTo>
                <a:lnTo>
                  <a:pt x="1198969" y="9438"/>
                </a:lnTo>
                <a:lnTo>
                  <a:pt x="1238072" y="231239"/>
                </a:lnTo>
                <a:cubicBezTo>
                  <a:pt x="1357317" y="248772"/>
                  <a:pt x="1471739" y="290419"/>
                  <a:pt x="1574356" y="353636"/>
                </a:cubicBezTo>
                <a:lnTo>
                  <a:pt x="1574357" y="353637"/>
                </a:lnTo>
                <a:close/>
              </a:path>
            </a:pathLst>
          </a:custGeom>
          <a:noFill/>
          <a:ln w="38100">
            <a:solidFill>
              <a:srgbClr val="BD111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70050" tIns="543689" rIns="470050" bIns="582480" numCol="1" spcCol="1270" anchor="ctr" anchorCtr="0">
            <a:noAutofit/>
          </a:bodyPr>
          <a:lstStyle/>
          <a:p>
            <a:pPr marL="0" lvl="0" indent="0" algn="ctr" defTabSz="844550">
              <a:lnSpc>
                <a:spcPct val="90000"/>
              </a:lnSpc>
              <a:spcBef>
                <a:spcPct val="0"/>
              </a:spcBef>
              <a:spcAft>
                <a:spcPct val="35000"/>
              </a:spcAft>
              <a:buNone/>
            </a:pPr>
            <a:r>
              <a:rPr lang="en-US" sz="1600" kern="1200" dirty="0">
                <a:latin typeface="Montserrat" pitchFamily="2" charset="77"/>
              </a:rPr>
              <a:t>Luxury economics &amp; elevated ROIC</a:t>
            </a:r>
          </a:p>
        </p:txBody>
      </p:sp>
      <p:sp>
        <p:nvSpPr>
          <p:cNvPr id="8" name="Freeform 7">
            <a:extLst>
              <a:ext uri="{FF2B5EF4-FFF2-40B4-BE49-F238E27FC236}">
                <a16:creationId xmlns:a16="http://schemas.microsoft.com/office/drawing/2014/main" id="{AE5BCB05-0C71-8C7E-88FC-CCA0DB065E3F}"/>
              </a:ext>
            </a:extLst>
          </p:cNvPr>
          <p:cNvSpPr/>
          <p:nvPr/>
        </p:nvSpPr>
        <p:spPr>
          <a:xfrm>
            <a:off x="4169167" y="3433616"/>
            <a:ext cx="1613102" cy="1613102"/>
          </a:xfrm>
          <a:custGeom>
            <a:avLst/>
            <a:gdLst>
              <a:gd name="csX0" fmla="*/ 1206999 w 1613102"/>
              <a:gd name="csY0" fmla="*/ 408558 h 1613102"/>
              <a:gd name="csX1" fmla="*/ 1444986 w 1613102"/>
              <a:gd name="csY1" fmla="*/ 336833 h 1613102"/>
              <a:gd name="csX2" fmla="*/ 1532556 w 1613102"/>
              <a:gd name="csY2" fmla="*/ 488509 h 1613102"/>
              <a:gd name="csX3" fmla="*/ 1351447 w 1613102"/>
              <a:gd name="csY3" fmla="*/ 658750 h 1613102"/>
              <a:gd name="csX4" fmla="*/ 1351447 w 1613102"/>
              <a:gd name="csY4" fmla="*/ 954353 h 1613102"/>
              <a:gd name="csX5" fmla="*/ 1532556 w 1613102"/>
              <a:gd name="csY5" fmla="*/ 1124593 h 1613102"/>
              <a:gd name="csX6" fmla="*/ 1444986 w 1613102"/>
              <a:gd name="csY6" fmla="*/ 1276269 h 1613102"/>
              <a:gd name="csX7" fmla="*/ 1206999 w 1613102"/>
              <a:gd name="csY7" fmla="*/ 1204544 h 1613102"/>
              <a:gd name="csX8" fmla="*/ 951000 w 1613102"/>
              <a:gd name="csY8" fmla="*/ 1352345 h 1613102"/>
              <a:gd name="csX9" fmla="*/ 894121 w 1613102"/>
              <a:gd name="csY9" fmla="*/ 1594311 h 1613102"/>
              <a:gd name="csX10" fmla="*/ 718981 w 1613102"/>
              <a:gd name="csY10" fmla="*/ 1594311 h 1613102"/>
              <a:gd name="csX11" fmla="*/ 662103 w 1613102"/>
              <a:gd name="csY11" fmla="*/ 1352346 h 1613102"/>
              <a:gd name="csX12" fmla="*/ 406104 w 1613102"/>
              <a:gd name="csY12" fmla="*/ 1204545 h 1613102"/>
              <a:gd name="csX13" fmla="*/ 168116 w 1613102"/>
              <a:gd name="csY13" fmla="*/ 1276269 h 1613102"/>
              <a:gd name="csX14" fmla="*/ 80546 w 1613102"/>
              <a:gd name="csY14" fmla="*/ 1124593 h 1613102"/>
              <a:gd name="csX15" fmla="*/ 261655 w 1613102"/>
              <a:gd name="csY15" fmla="*/ 954352 h 1613102"/>
              <a:gd name="csX16" fmla="*/ 261655 w 1613102"/>
              <a:gd name="csY16" fmla="*/ 658749 h 1613102"/>
              <a:gd name="csX17" fmla="*/ 80546 w 1613102"/>
              <a:gd name="csY17" fmla="*/ 488509 h 1613102"/>
              <a:gd name="csX18" fmla="*/ 168116 w 1613102"/>
              <a:gd name="csY18" fmla="*/ 336833 h 1613102"/>
              <a:gd name="csX19" fmla="*/ 406103 w 1613102"/>
              <a:gd name="csY19" fmla="*/ 408558 h 1613102"/>
              <a:gd name="csX20" fmla="*/ 662102 w 1613102"/>
              <a:gd name="csY20" fmla="*/ 260757 h 1613102"/>
              <a:gd name="csX21" fmla="*/ 718981 w 1613102"/>
              <a:gd name="csY21" fmla="*/ 18791 h 1613102"/>
              <a:gd name="csX22" fmla="*/ 894121 w 1613102"/>
              <a:gd name="csY22" fmla="*/ 18791 h 1613102"/>
              <a:gd name="csX23" fmla="*/ 950999 w 1613102"/>
              <a:gd name="csY23" fmla="*/ 260756 h 1613102"/>
              <a:gd name="csX24" fmla="*/ 1206998 w 1613102"/>
              <a:gd name="csY24" fmla="*/ 408557 h 1613102"/>
              <a:gd name="csX25" fmla="*/ 1206999 w 1613102"/>
              <a:gd name="csY25" fmla="*/ 408558 h 16131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613102" h="1613102">
                <a:moveTo>
                  <a:pt x="1206999" y="408558"/>
                </a:moveTo>
                <a:lnTo>
                  <a:pt x="1444986" y="336833"/>
                </a:lnTo>
                <a:lnTo>
                  <a:pt x="1532556" y="488509"/>
                </a:lnTo>
                <a:lnTo>
                  <a:pt x="1351447" y="658750"/>
                </a:lnTo>
                <a:cubicBezTo>
                  <a:pt x="1377700" y="755536"/>
                  <a:pt x="1377700" y="857567"/>
                  <a:pt x="1351447" y="954353"/>
                </a:cubicBezTo>
                <a:lnTo>
                  <a:pt x="1532556" y="1124593"/>
                </a:lnTo>
                <a:lnTo>
                  <a:pt x="1444986" y="1276269"/>
                </a:lnTo>
                <a:lnTo>
                  <a:pt x="1206999" y="1204544"/>
                </a:lnTo>
                <a:cubicBezTo>
                  <a:pt x="1136307" y="1275672"/>
                  <a:pt x="1047945" y="1326688"/>
                  <a:pt x="951000" y="1352345"/>
                </a:cubicBezTo>
                <a:lnTo>
                  <a:pt x="894121" y="1594311"/>
                </a:lnTo>
                <a:lnTo>
                  <a:pt x="718981" y="1594311"/>
                </a:lnTo>
                <a:lnTo>
                  <a:pt x="662103" y="1352346"/>
                </a:lnTo>
                <a:cubicBezTo>
                  <a:pt x="565158" y="1326689"/>
                  <a:pt x="476796" y="1275673"/>
                  <a:pt x="406104" y="1204545"/>
                </a:cubicBezTo>
                <a:lnTo>
                  <a:pt x="168116" y="1276269"/>
                </a:lnTo>
                <a:lnTo>
                  <a:pt x="80546" y="1124593"/>
                </a:lnTo>
                <a:lnTo>
                  <a:pt x="261655" y="954352"/>
                </a:lnTo>
                <a:cubicBezTo>
                  <a:pt x="235402" y="857566"/>
                  <a:pt x="235402" y="755535"/>
                  <a:pt x="261655" y="658749"/>
                </a:cubicBezTo>
                <a:lnTo>
                  <a:pt x="80546" y="488509"/>
                </a:lnTo>
                <a:lnTo>
                  <a:pt x="168116" y="336833"/>
                </a:lnTo>
                <a:lnTo>
                  <a:pt x="406103" y="408558"/>
                </a:lnTo>
                <a:cubicBezTo>
                  <a:pt x="476795" y="337430"/>
                  <a:pt x="565157" y="286414"/>
                  <a:pt x="662102" y="260757"/>
                </a:cubicBezTo>
                <a:lnTo>
                  <a:pt x="718981" y="18791"/>
                </a:lnTo>
                <a:lnTo>
                  <a:pt x="894121" y="18791"/>
                </a:lnTo>
                <a:lnTo>
                  <a:pt x="950999" y="260756"/>
                </a:lnTo>
                <a:cubicBezTo>
                  <a:pt x="1047944" y="286413"/>
                  <a:pt x="1136306" y="337429"/>
                  <a:pt x="1206998" y="408557"/>
                </a:cubicBezTo>
                <a:lnTo>
                  <a:pt x="1206999" y="408558"/>
                </a:lnTo>
                <a:close/>
              </a:path>
            </a:pathLst>
          </a:custGeom>
          <a:noFill/>
          <a:ln w="38100">
            <a:solidFill>
              <a:srgbClr val="BD111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30233" tIns="432688" rIns="430233" bIns="432688" numCol="1" spcCol="1270" anchor="ctr" anchorCtr="0">
            <a:noAutofit/>
          </a:bodyPr>
          <a:lstStyle/>
          <a:p>
            <a:pPr marL="0" lvl="0" indent="0" algn="ctr" defTabSz="844550">
              <a:lnSpc>
                <a:spcPct val="90000"/>
              </a:lnSpc>
              <a:spcBef>
                <a:spcPct val="0"/>
              </a:spcBef>
              <a:spcAft>
                <a:spcPct val="35000"/>
              </a:spcAft>
              <a:buNone/>
            </a:pPr>
            <a:r>
              <a:rPr lang="en-US" sz="1600" kern="1200" dirty="0">
                <a:latin typeface="Montserrat" pitchFamily="2" charset="77"/>
              </a:rPr>
              <a:t>Pricing power</a:t>
            </a:r>
          </a:p>
        </p:txBody>
      </p:sp>
      <p:sp>
        <p:nvSpPr>
          <p:cNvPr id="9" name="Freeform 8">
            <a:extLst>
              <a:ext uri="{FF2B5EF4-FFF2-40B4-BE49-F238E27FC236}">
                <a16:creationId xmlns:a16="http://schemas.microsoft.com/office/drawing/2014/main" id="{66712D74-2349-8168-75BC-7D19DB4B2B2D}"/>
              </a:ext>
            </a:extLst>
          </p:cNvPr>
          <p:cNvSpPr/>
          <p:nvPr/>
        </p:nvSpPr>
        <p:spPr>
          <a:xfrm>
            <a:off x="4895062" y="2143134"/>
            <a:ext cx="1935722" cy="1935722"/>
          </a:xfrm>
          <a:custGeom>
            <a:avLst/>
            <a:gdLst>
              <a:gd name="csX0" fmla="*/ 1182612 w 1580510"/>
              <a:gd name="csY0" fmla="*/ 400303 h 1580510"/>
              <a:gd name="csX1" fmla="*/ 1415791 w 1580510"/>
              <a:gd name="csY1" fmla="*/ 330027 h 1580510"/>
              <a:gd name="csX2" fmla="*/ 1501592 w 1580510"/>
              <a:gd name="csY2" fmla="*/ 478639 h 1580510"/>
              <a:gd name="csX3" fmla="*/ 1324142 w 1580510"/>
              <a:gd name="csY3" fmla="*/ 645440 h 1580510"/>
              <a:gd name="csX4" fmla="*/ 1324142 w 1580510"/>
              <a:gd name="csY4" fmla="*/ 935070 h 1580510"/>
              <a:gd name="csX5" fmla="*/ 1501592 w 1580510"/>
              <a:gd name="csY5" fmla="*/ 1101871 h 1580510"/>
              <a:gd name="csX6" fmla="*/ 1415791 w 1580510"/>
              <a:gd name="csY6" fmla="*/ 1250483 h 1580510"/>
              <a:gd name="csX7" fmla="*/ 1182612 w 1580510"/>
              <a:gd name="csY7" fmla="*/ 1180207 h 1580510"/>
              <a:gd name="csX8" fmla="*/ 931785 w 1580510"/>
              <a:gd name="csY8" fmla="*/ 1325022 h 1580510"/>
              <a:gd name="csX9" fmla="*/ 876056 w 1580510"/>
              <a:gd name="csY9" fmla="*/ 1562098 h 1580510"/>
              <a:gd name="csX10" fmla="*/ 704454 w 1580510"/>
              <a:gd name="csY10" fmla="*/ 1562098 h 1580510"/>
              <a:gd name="csX11" fmla="*/ 648725 w 1580510"/>
              <a:gd name="csY11" fmla="*/ 1325022 h 1580510"/>
              <a:gd name="csX12" fmla="*/ 397898 w 1580510"/>
              <a:gd name="csY12" fmla="*/ 1180207 h 1580510"/>
              <a:gd name="csX13" fmla="*/ 164719 w 1580510"/>
              <a:gd name="csY13" fmla="*/ 1250483 h 1580510"/>
              <a:gd name="csX14" fmla="*/ 78918 w 1580510"/>
              <a:gd name="csY14" fmla="*/ 1101871 h 1580510"/>
              <a:gd name="csX15" fmla="*/ 256368 w 1580510"/>
              <a:gd name="csY15" fmla="*/ 935070 h 1580510"/>
              <a:gd name="csX16" fmla="*/ 256368 w 1580510"/>
              <a:gd name="csY16" fmla="*/ 645440 h 1580510"/>
              <a:gd name="csX17" fmla="*/ 78918 w 1580510"/>
              <a:gd name="csY17" fmla="*/ 478639 h 1580510"/>
              <a:gd name="csX18" fmla="*/ 164719 w 1580510"/>
              <a:gd name="csY18" fmla="*/ 330027 h 1580510"/>
              <a:gd name="csX19" fmla="*/ 397898 w 1580510"/>
              <a:gd name="csY19" fmla="*/ 400303 h 1580510"/>
              <a:gd name="csX20" fmla="*/ 648725 w 1580510"/>
              <a:gd name="csY20" fmla="*/ 255488 h 1580510"/>
              <a:gd name="csX21" fmla="*/ 704454 w 1580510"/>
              <a:gd name="csY21" fmla="*/ 18412 h 1580510"/>
              <a:gd name="csX22" fmla="*/ 876056 w 1580510"/>
              <a:gd name="csY22" fmla="*/ 18412 h 1580510"/>
              <a:gd name="csX23" fmla="*/ 931785 w 1580510"/>
              <a:gd name="csY23" fmla="*/ 255488 h 1580510"/>
              <a:gd name="csX24" fmla="*/ 1182612 w 1580510"/>
              <a:gd name="csY24" fmla="*/ 400303 h 15805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580510" h="1580510">
                <a:moveTo>
                  <a:pt x="1017291" y="399795"/>
                </a:moveTo>
                <a:lnTo>
                  <a:pt x="1186342" y="295093"/>
                </a:lnTo>
                <a:lnTo>
                  <a:pt x="1285416" y="394168"/>
                </a:lnTo>
                <a:lnTo>
                  <a:pt x="1180715" y="563219"/>
                </a:lnTo>
                <a:cubicBezTo>
                  <a:pt x="1221042" y="632574"/>
                  <a:pt x="1242168" y="711418"/>
                  <a:pt x="1241921" y="791643"/>
                </a:cubicBezTo>
                <a:lnTo>
                  <a:pt x="1417121" y="885696"/>
                </a:lnTo>
                <a:lnTo>
                  <a:pt x="1380857" y="1021034"/>
                </a:lnTo>
                <a:lnTo>
                  <a:pt x="1182104" y="1014886"/>
                </a:lnTo>
                <a:cubicBezTo>
                  <a:pt x="1142204" y="1084486"/>
                  <a:pt x="1084486" y="1142204"/>
                  <a:pt x="1014886" y="1182104"/>
                </a:cubicBezTo>
                <a:lnTo>
                  <a:pt x="1021034" y="1380856"/>
                </a:lnTo>
                <a:lnTo>
                  <a:pt x="885695" y="1417120"/>
                </a:lnTo>
                <a:lnTo>
                  <a:pt x="791643" y="1241921"/>
                </a:lnTo>
                <a:cubicBezTo>
                  <a:pt x="711418" y="1242168"/>
                  <a:pt x="632574" y="1221041"/>
                  <a:pt x="563219" y="1180715"/>
                </a:cubicBezTo>
                <a:lnTo>
                  <a:pt x="394168" y="1285417"/>
                </a:lnTo>
                <a:lnTo>
                  <a:pt x="295094" y="1186342"/>
                </a:lnTo>
                <a:lnTo>
                  <a:pt x="399795" y="1017291"/>
                </a:lnTo>
                <a:cubicBezTo>
                  <a:pt x="359468" y="947936"/>
                  <a:pt x="338342" y="869092"/>
                  <a:pt x="338589" y="788867"/>
                </a:cubicBezTo>
                <a:lnTo>
                  <a:pt x="163389" y="694814"/>
                </a:lnTo>
                <a:lnTo>
                  <a:pt x="199653" y="559476"/>
                </a:lnTo>
                <a:lnTo>
                  <a:pt x="398406" y="565624"/>
                </a:lnTo>
                <a:cubicBezTo>
                  <a:pt x="438306" y="496024"/>
                  <a:pt x="496024" y="438306"/>
                  <a:pt x="565624" y="398406"/>
                </a:cubicBezTo>
                <a:lnTo>
                  <a:pt x="559476" y="199654"/>
                </a:lnTo>
                <a:lnTo>
                  <a:pt x="694815" y="163390"/>
                </a:lnTo>
                <a:lnTo>
                  <a:pt x="788867" y="338589"/>
                </a:lnTo>
                <a:cubicBezTo>
                  <a:pt x="869092" y="338342"/>
                  <a:pt x="947936" y="359469"/>
                  <a:pt x="1017291" y="399795"/>
                </a:cubicBezTo>
                <a:close/>
              </a:path>
            </a:pathLst>
          </a:custGeom>
          <a:noFill/>
          <a:ln w="38100">
            <a:solidFill>
              <a:srgbClr val="BD111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48389" tIns="548389" rIns="548387" bIns="548387" numCol="1" spcCol="1270" anchor="ctr" anchorCtr="0">
            <a:noAutofit/>
          </a:bodyPr>
          <a:lstStyle/>
          <a:p>
            <a:pPr marL="0" lvl="0" indent="0" algn="ctr" defTabSz="844550">
              <a:lnSpc>
                <a:spcPct val="90000"/>
              </a:lnSpc>
              <a:spcBef>
                <a:spcPct val="0"/>
              </a:spcBef>
              <a:spcAft>
                <a:spcPct val="35000"/>
              </a:spcAft>
              <a:buNone/>
            </a:pPr>
            <a:r>
              <a:rPr lang="en-US" sz="1400" kern="1200" dirty="0">
                <a:latin typeface="Montserrat" pitchFamily="2" charset="77"/>
              </a:rPr>
              <a:t>Scarcity</a:t>
            </a:r>
          </a:p>
        </p:txBody>
      </p:sp>
      <p:sp>
        <p:nvSpPr>
          <p:cNvPr id="10" name="Circular Arrow 9">
            <a:extLst>
              <a:ext uri="{FF2B5EF4-FFF2-40B4-BE49-F238E27FC236}">
                <a16:creationId xmlns:a16="http://schemas.microsoft.com/office/drawing/2014/main" id="{663ADA24-09B2-1DD5-1528-0562085B3CCC}"/>
              </a:ext>
            </a:extLst>
          </p:cNvPr>
          <p:cNvSpPr/>
          <p:nvPr/>
        </p:nvSpPr>
        <p:spPr>
          <a:xfrm>
            <a:off x="5287336" y="3624181"/>
            <a:ext cx="2839059" cy="2839059"/>
          </a:xfrm>
          <a:prstGeom prst="circularArrow">
            <a:avLst>
              <a:gd name="adj1" fmla="val 4688"/>
              <a:gd name="adj2" fmla="val 299029"/>
              <a:gd name="adj3" fmla="val 2512298"/>
              <a:gd name="adj4" fmla="val 15869633"/>
              <a:gd name="adj5" fmla="val 5469"/>
            </a:avLst>
          </a:prstGeom>
          <a:gradFill flip="none" rotWithShape="1">
            <a:gsLst>
              <a:gs pos="0">
                <a:srgbClr val="BD1111">
                  <a:shade val="30000"/>
                  <a:satMod val="115000"/>
                </a:srgbClr>
              </a:gs>
              <a:gs pos="50000">
                <a:srgbClr val="BD1111">
                  <a:shade val="67500"/>
                  <a:satMod val="115000"/>
                </a:srgbClr>
              </a:gs>
              <a:gs pos="100000">
                <a:srgbClr val="BD1111">
                  <a:shade val="100000"/>
                  <a:satMod val="115000"/>
                </a:srgbClr>
              </a:gs>
            </a:gsLst>
            <a:lin ang="13500000" scaled="1"/>
            <a:tileRect/>
          </a:gra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11" name="Shape 10">
            <a:extLst>
              <a:ext uri="{FF2B5EF4-FFF2-40B4-BE49-F238E27FC236}">
                <a16:creationId xmlns:a16="http://schemas.microsoft.com/office/drawing/2014/main" id="{69ECF761-B12A-AF4F-CD0E-64BD356186F0}"/>
              </a:ext>
            </a:extLst>
          </p:cNvPr>
          <p:cNvSpPr/>
          <p:nvPr/>
        </p:nvSpPr>
        <p:spPr>
          <a:xfrm>
            <a:off x="3883489" y="3077391"/>
            <a:ext cx="2062754" cy="2062754"/>
          </a:xfrm>
          <a:prstGeom prst="leftCircularArrow">
            <a:avLst>
              <a:gd name="adj1" fmla="val 6452"/>
              <a:gd name="adj2" fmla="val 429999"/>
              <a:gd name="adj3" fmla="val 10489124"/>
              <a:gd name="adj4" fmla="val 14837806"/>
              <a:gd name="adj5" fmla="val 7527"/>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18900000" scaled="1"/>
            <a:tileRect/>
          </a:gra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12" name="Circular Arrow 11">
            <a:extLst>
              <a:ext uri="{FF2B5EF4-FFF2-40B4-BE49-F238E27FC236}">
                <a16:creationId xmlns:a16="http://schemas.microsoft.com/office/drawing/2014/main" id="{71A8EECA-E03C-5EE5-8288-51401BFE6C07}"/>
              </a:ext>
            </a:extLst>
          </p:cNvPr>
          <p:cNvSpPr/>
          <p:nvPr/>
        </p:nvSpPr>
        <p:spPr>
          <a:xfrm>
            <a:off x="4707080" y="1975243"/>
            <a:ext cx="2224064" cy="2224064"/>
          </a:xfrm>
          <a:prstGeom prst="circularArrow">
            <a:avLst>
              <a:gd name="adj1" fmla="val 5984"/>
              <a:gd name="adj2" fmla="val 394124"/>
              <a:gd name="adj3" fmla="val 13313824"/>
              <a:gd name="adj4" fmla="val 10508221"/>
              <a:gd name="adj5" fmla="val 6981"/>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8100000" scaled="1"/>
            <a:tileRect/>
          </a:gra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E40F3F19-6A89-9191-CC99-2F86B53F3DFE}"/>
              </a:ext>
            </a:extLst>
          </p:cNvPr>
          <p:cNvSpPr/>
          <p:nvPr/>
        </p:nvSpPr>
        <p:spPr>
          <a:xfrm>
            <a:off x="6920723" y="3028411"/>
            <a:ext cx="3200400"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4" name="TextBox 13">
            <a:extLst>
              <a:ext uri="{FF2B5EF4-FFF2-40B4-BE49-F238E27FC236}">
                <a16:creationId xmlns:a16="http://schemas.microsoft.com/office/drawing/2014/main" id="{1FD97EEE-4E95-24CE-BC3A-742ACE44611D}"/>
              </a:ext>
            </a:extLst>
          </p:cNvPr>
          <p:cNvSpPr txBox="1"/>
          <p:nvPr/>
        </p:nvSpPr>
        <p:spPr>
          <a:xfrm>
            <a:off x="6920723" y="2633997"/>
            <a:ext cx="2612560" cy="307777"/>
          </a:xfrm>
          <a:prstGeom prst="rect">
            <a:avLst/>
          </a:prstGeom>
          <a:noFill/>
        </p:spPr>
        <p:txBody>
          <a:bodyPr wrap="square" lIns="0" tIns="45720" rIns="0" bIns="45720" rtlCol="0" anchor="t">
            <a:spAutoFit/>
          </a:bodyPr>
          <a:lstStyle/>
          <a:p>
            <a:r>
              <a:rPr lang="en-US" sz="1400" dirty="0">
                <a:solidFill>
                  <a:schemeClr val="bg1"/>
                </a:solidFill>
                <a:latin typeface="Montserrat" pitchFamily="2" charset="77"/>
              </a:rPr>
              <a:t>~13.6k annual shipments </a:t>
            </a:r>
          </a:p>
        </p:txBody>
      </p:sp>
      <p:sp>
        <p:nvSpPr>
          <p:cNvPr id="20" name="Rectangle 19">
            <a:extLst>
              <a:ext uri="{FF2B5EF4-FFF2-40B4-BE49-F238E27FC236}">
                <a16:creationId xmlns:a16="http://schemas.microsoft.com/office/drawing/2014/main" id="{C0E916F4-F580-49AC-2495-AA593440E840}"/>
              </a:ext>
            </a:extLst>
          </p:cNvPr>
          <p:cNvSpPr/>
          <p:nvPr/>
        </p:nvSpPr>
        <p:spPr>
          <a:xfrm>
            <a:off x="808569" y="4891773"/>
            <a:ext cx="3200400"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2" name="TextBox 21">
            <a:extLst>
              <a:ext uri="{FF2B5EF4-FFF2-40B4-BE49-F238E27FC236}">
                <a16:creationId xmlns:a16="http://schemas.microsoft.com/office/drawing/2014/main" id="{E3FCC5EE-1354-8A54-2E74-EC3CFB281754}"/>
              </a:ext>
            </a:extLst>
          </p:cNvPr>
          <p:cNvSpPr txBox="1"/>
          <p:nvPr/>
        </p:nvSpPr>
        <p:spPr>
          <a:xfrm>
            <a:off x="817224" y="4302489"/>
            <a:ext cx="3200400" cy="523220"/>
          </a:xfrm>
          <a:prstGeom prst="rect">
            <a:avLst/>
          </a:prstGeom>
          <a:noFill/>
        </p:spPr>
        <p:txBody>
          <a:bodyPr wrap="square" lIns="0" tIns="45720" rIns="0" bIns="45720" rtlCol="0" anchor="t">
            <a:spAutoFit/>
          </a:bodyPr>
          <a:lstStyle/>
          <a:p>
            <a:r>
              <a:rPr lang="en-US" sz="1400" dirty="0">
                <a:solidFill>
                  <a:schemeClr val="bg1"/>
                </a:solidFill>
                <a:latin typeface="Montserrat" pitchFamily="2" charset="77"/>
              </a:rPr>
              <a:t>ASP increased from €374k to €440k (‘23–’25)</a:t>
            </a:r>
          </a:p>
        </p:txBody>
      </p:sp>
      <p:sp>
        <p:nvSpPr>
          <p:cNvPr id="26" name="Rectangle 25">
            <a:extLst>
              <a:ext uri="{FF2B5EF4-FFF2-40B4-BE49-F238E27FC236}">
                <a16:creationId xmlns:a16="http://schemas.microsoft.com/office/drawing/2014/main" id="{35EA470C-D706-AB1B-32DC-3DCC7A926D6B}"/>
              </a:ext>
            </a:extLst>
          </p:cNvPr>
          <p:cNvSpPr/>
          <p:nvPr/>
        </p:nvSpPr>
        <p:spPr>
          <a:xfrm>
            <a:off x="8237672" y="5849060"/>
            <a:ext cx="3200400"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8" name="TextBox 27">
            <a:extLst>
              <a:ext uri="{FF2B5EF4-FFF2-40B4-BE49-F238E27FC236}">
                <a16:creationId xmlns:a16="http://schemas.microsoft.com/office/drawing/2014/main" id="{6BBB3E6A-ED7E-F87A-F87E-C45371ADA678}"/>
              </a:ext>
            </a:extLst>
          </p:cNvPr>
          <p:cNvSpPr txBox="1"/>
          <p:nvPr/>
        </p:nvSpPr>
        <p:spPr>
          <a:xfrm>
            <a:off x="8237672" y="5244786"/>
            <a:ext cx="2612560" cy="523220"/>
          </a:xfrm>
          <a:prstGeom prst="rect">
            <a:avLst/>
          </a:prstGeom>
          <a:noFill/>
        </p:spPr>
        <p:txBody>
          <a:bodyPr wrap="square" lIns="0" tIns="45720" rIns="0" bIns="45720" rtlCol="0" anchor="t">
            <a:spAutoFit/>
          </a:bodyPr>
          <a:lstStyle/>
          <a:p>
            <a:r>
              <a:rPr lang="en-US" sz="1400" dirty="0">
                <a:solidFill>
                  <a:schemeClr val="bg1"/>
                </a:solidFill>
                <a:latin typeface="Montserrat" pitchFamily="2" charset="77"/>
              </a:rPr>
              <a:t>EBIT margin of ~30%</a:t>
            </a:r>
          </a:p>
          <a:p>
            <a:r>
              <a:rPr lang="en-US" sz="1400" dirty="0">
                <a:solidFill>
                  <a:schemeClr val="bg1"/>
                </a:solidFill>
                <a:latin typeface="Montserrat" pitchFamily="2" charset="77"/>
              </a:rPr>
              <a:t>ROIC of 40%+</a:t>
            </a:r>
          </a:p>
        </p:txBody>
      </p:sp>
      <p:sp>
        <p:nvSpPr>
          <p:cNvPr id="30" name="TextBox 29">
            <a:extLst>
              <a:ext uri="{FF2B5EF4-FFF2-40B4-BE49-F238E27FC236}">
                <a16:creationId xmlns:a16="http://schemas.microsoft.com/office/drawing/2014/main" id="{42D35B3C-728E-D2EF-2DAF-A336019E40A5}"/>
              </a:ext>
            </a:extLst>
          </p:cNvPr>
          <p:cNvSpPr txBox="1"/>
          <p:nvPr/>
        </p:nvSpPr>
        <p:spPr>
          <a:xfrm>
            <a:off x="609598" y="6440070"/>
            <a:ext cx="10495967" cy="197618"/>
          </a:xfrm>
          <a:prstGeom prst="rect">
            <a:avLst/>
          </a:prstGeom>
          <a:noFill/>
        </p:spPr>
        <p:txBody>
          <a:bodyPr wrap="square" lIns="0" rtlCol="0">
            <a:spAutoFit/>
          </a:bodyPr>
          <a:lstStyle/>
          <a:p>
            <a:pPr marL="228600" indent="-228600">
              <a:lnSpc>
                <a:spcPts val="800"/>
              </a:lnSpc>
              <a:buAutoNum type="arabicPeriod"/>
            </a:pPr>
            <a:r>
              <a:rPr lang="en-US" sz="800" dirty="0">
                <a:solidFill>
                  <a:schemeClr val="bg1"/>
                </a:solidFill>
                <a:latin typeface="Montserrat" pitchFamily="2" charset="77"/>
              </a:rPr>
              <a:t>As of December 2025.</a:t>
            </a:r>
          </a:p>
        </p:txBody>
      </p:sp>
      <p:sp>
        <p:nvSpPr>
          <p:cNvPr id="34" name="Slide Number Placeholder 33">
            <a:extLst>
              <a:ext uri="{FF2B5EF4-FFF2-40B4-BE49-F238E27FC236}">
                <a16:creationId xmlns:a16="http://schemas.microsoft.com/office/drawing/2014/main" id="{4A210A37-CE40-8578-0753-BA36A490763C}"/>
              </a:ext>
            </a:extLst>
          </p:cNvPr>
          <p:cNvSpPr>
            <a:spLocks noGrp="1"/>
          </p:cNvSpPr>
          <p:nvPr>
            <p:ph type="sldNum" sz="quarter" idx="12"/>
          </p:nvPr>
        </p:nvSpPr>
        <p:spPr/>
        <p:txBody>
          <a:bodyPr/>
          <a:lstStyle/>
          <a:p>
            <a:fld id="{5780461E-0DE5-ED4D-97A3-62EC4F103ED2}" type="slidenum">
              <a:rPr lang="en-US" smtClean="0"/>
              <a:t>3</a:t>
            </a:fld>
            <a:endParaRPr lang="en-US"/>
          </a:p>
        </p:txBody>
      </p:sp>
    </p:spTree>
    <p:extLst>
      <p:ext uri="{BB962C8B-B14F-4D97-AF65-F5344CB8AC3E}">
        <p14:creationId xmlns:p14="http://schemas.microsoft.com/office/powerpoint/2010/main" val="50226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1000" fill="hold"/>
                                        <p:tgtEl>
                                          <p:spTgt spid="9"/>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8" presetClass="emph" presetSubtype="0" fill="hold" grpId="0" nodeType="clickEffect">
                                  <p:stCondLst>
                                    <p:cond delay="0"/>
                                  </p:stCondLst>
                                  <p:childTnLst>
                                    <p:animRot by="-21600000">
                                      <p:cBhvr>
                                        <p:cTn id="20" dur="1000" fill="hold"/>
                                        <p:tgtEl>
                                          <p:spTgt spid="8"/>
                                        </p:tgtEl>
                                        <p:attrNameLst>
                                          <p:attrName>r</p:attrName>
                                        </p:attrNameLst>
                                      </p:cBhvr>
                                    </p:animRo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additive="base">
                                        <p:cTn id="25" dur="500" fill="hold"/>
                                        <p:tgtEl>
                                          <p:spTgt spid="20"/>
                                        </p:tgtEl>
                                        <p:attrNameLst>
                                          <p:attrName>ppt_x</p:attrName>
                                        </p:attrNameLst>
                                      </p:cBhvr>
                                      <p:tavLst>
                                        <p:tav tm="0">
                                          <p:val>
                                            <p:strVal val="#ppt_x"/>
                                          </p:val>
                                        </p:tav>
                                        <p:tav tm="100000">
                                          <p:val>
                                            <p:strVal val="#ppt_x"/>
                                          </p:val>
                                        </p:tav>
                                      </p:tavLst>
                                    </p:anim>
                                    <p:anim calcmode="lin" valueType="num">
                                      <p:cBhvr additive="base">
                                        <p:cTn id="26" dur="500" fill="hold"/>
                                        <p:tgtEl>
                                          <p:spTgt spid="20"/>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anim calcmode="lin" valueType="num">
                                      <p:cBhvr additive="base">
                                        <p:cTn id="29" dur="500" fill="hold"/>
                                        <p:tgtEl>
                                          <p:spTgt spid="22"/>
                                        </p:tgtEl>
                                        <p:attrNameLst>
                                          <p:attrName>ppt_x</p:attrName>
                                        </p:attrNameLst>
                                      </p:cBhvr>
                                      <p:tavLst>
                                        <p:tav tm="0">
                                          <p:val>
                                            <p:strVal val="#ppt_x"/>
                                          </p:val>
                                        </p:tav>
                                        <p:tav tm="100000">
                                          <p:val>
                                            <p:strVal val="#ppt_x"/>
                                          </p:val>
                                        </p:tav>
                                      </p:tavLst>
                                    </p:anim>
                                    <p:anim calcmode="lin" valueType="num">
                                      <p:cBhvr additive="base">
                                        <p:cTn id="3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8" presetClass="emph" presetSubtype="0" fill="hold" grpId="0" nodeType="clickEffect">
                                  <p:stCondLst>
                                    <p:cond delay="0"/>
                                  </p:stCondLst>
                                  <p:childTnLst>
                                    <p:animRot by="21600000">
                                      <p:cBhvr>
                                        <p:cTn id="34" dur="1000" fill="hold"/>
                                        <p:tgtEl>
                                          <p:spTgt spid="7"/>
                                        </p:tgtEl>
                                        <p:attrNameLst>
                                          <p:attrName>r</p:attrName>
                                        </p:attrNameLst>
                                      </p:cBhvr>
                                    </p:animRo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anim calcmode="lin" valueType="num">
                                      <p:cBhvr additive="base">
                                        <p:cTn id="39" dur="500" fill="hold"/>
                                        <p:tgtEl>
                                          <p:spTgt spid="26"/>
                                        </p:tgtEl>
                                        <p:attrNameLst>
                                          <p:attrName>ppt_x</p:attrName>
                                        </p:attrNameLst>
                                      </p:cBhvr>
                                      <p:tavLst>
                                        <p:tav tm="0">
                                          <p:val>
                                            <p:strVal val="#ppt_x"/>
                                          </p:val>
                                        </p:tav>
                                        <p:tav tm="100000">
                                          <p:val>
                                            <p:strVal val="#ppt_x"/>
                                          </p:val>
                                        </p:tav>
                                      </p:tavLst>
                                    </p:anim>
                                    <p:anim calcmode="lin" valueType="num">
                                      <p:cBhvr additive="base">
                                        <p:cTn id="40" dur="500" fill="hold"/>
                                        <p:tgtEl>
                                          <p:spTgt spid="2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anim calcmode="lin" valueType="num">
                                      <p:cBhvr additive="base">
                                        <p:cTn id="43" dur="500" fill="hold"/>
                                        <p:tgtEl>
                                          <p:spTgt spid="28"/>
                                        </p:tgtEl>
                                        <p:attrNameLst>
                                          <p:attrName>ppt_x</p:attrName>
                                        </p:attrNameLst>
                                      </p:cBhvr>
                                      <p:tavLst>
                                        <p:tav tm="0">
                                          <p:val>
                                            <p:strVal val="#ppt_x"/>
                                          </p:val>
                                        </p:tav>
                                        <p:tav tm="100000">
                                          <p:val>
                                            <p:strVal val="#ppt_x"/>
                                          </p:val>
                                        </p:tav>
                                      </p:tavLst>
                                    </p:anim>
                                    <p:anim calcmode="lin" valueType="num">
                                      <p:cBhvr additive="base">
                                        <p:cTn id="4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3" grpId="0" animBg="1"/>
      <p:bldP spid="14" grpId="0"/>
      <p:bldP spid="20" grpId="0" animBg="1"/>
      <p:bldP spid="22" grpId="0"/>
      <p:bldP spid="26" grpId="0" animBg="1"/>
      <p:bldP spid="2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B07A1BB-48DA-E86D-C023-5279C329D0E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236F35D-E626-24B4-64B0-E4A155021D7D}"/>
              </a:ext>
            </a:extLst>
          </p:cNvPr>
          <p:cNvSpPr txBox="1"/>
          <p:nvPr/>
        </p:nvSpPr>
        <p:spPr>
          <a:xfrm>
            <a:off x="609600" y="682109"/>
            <a:ext cx="10972800" cy="646331"/>
          </a:xfrm>
          <a:prstGeom prst="rect">
            <a:avLst/>
          </a:prstGeom>
          <a:noFill/>
        </p:spPr>
        <p:txBody>
          <a:bodyPr wrap="square" lIns="0" tIns="45720" rIns="0" bIns="45720" rtlCol="0" anchor="t">
            <a:spAutoFit/>
          </a:bodyPr>
          <a:lstStyle/>
          <a:p>
            <a:r>
              <a:rPr lang="en-US" sz="3600" b="1" dirty="0">
                <a:solidFill>
                  <a:schemeClr val="bg1"/>
                </a:solidFill>
                <a:latin typeface="Montserrat" pitchFamily="2" charset="77"/>
              </a:rPr>
              <a:t>A Policy-Driven Industry Transformation</a:t>
            </a:r>
          </a:p>
        </p:txBody>
      </p:sp>
      <p:sp>
        <p:nvSpPr>
          <p:cNvPr id="4" name="TextBox 3">
            <a:extLst>
              <a:ext uri="{FF2B5EF4-FFF2-40B4-BE49-F238E27FC236}">
                <a16:creationId xmlns:a16="http://schemas.microsoft.com/office/drawing/2014/main" id="{6E5DEC2F-B773-FF07-DAE4-D79ADD5DE7DF}"/>
              </a:ext>
            </a:extLst>
          </p:cNvPr>
          <p:cNvSpPr txBox="1"/>
          <p:nvPr/>
        </p:nvSpPr>
        <p:spPr>
          <a:xfrm>
            <a:off x="609598" y="1524100"/>
            <a:ext cx="10744202" cy="400110"/>
          </a:xfrm>
          <a:prstGeom prst="rect">
            <a:avLst/>
          </a:prstGeom>
          <a:noFill/>
        </p:spPr>
        <p:txBody>
          <a:bodyPr wrap="square" lIns="0" tIns="45720" rIns="0" bIns="45720" rtlCol="0" anchor="t">
            <a:spAutoFit/>
          </a:bodyPr>
          <a:lstStyle/>
          <a:p>
            <a:r>
              <a:rPr lang="en-US" sz="2000" dirty="0">
                <a:solidFill>
                  <a:schemeClr val="bg1"/>
                </a:solidFill>
                <a:latin typeface="Montserrat" pitchFamily="2" charset="77"/>
              </a:rPr>
              <a:t>Electrification is accelerating, but cost and supply risks remain</a:t>
            </a:r>
          </a:p>
        </p:txBody>
      </p:sp>
      <p:graphicFrame>
        <p:nvGraphicFramePr>
          <p:cNvPr id="15" name="Chart 14">
            <a:extLst>
              <a:ext uri="{FF2B5EF4-FFF2-40B4-BE49-F238E27FC236}">
                <a16:creationId xmlns:a16="http://schemas.microsoft.com/office/drawing/2014/main" id="{049FA6A4-EADD-D0D0-F1C5-721C88C86521}"/>
              </a:ext>
            </a:extLst>
          </p:cNvPr>
          <p:cNvGraphicFramePr/>
          <p:nvPr>
            <p:extLst>
              <p:ext uri="{D42A27DB-BD31-4B8C-83A1-F6EECF244321}">
                <p14:modId xmlns:p14="http://schemas.microsoft.com/office/powerpoint/2010/main" val="1919994239"/>
              </p:ext>
            </p:extLst>
          </p:nvPr>
        </p:nvGraphicFramePr>
        <p:xfrm>
          <a:off x="609599" y="2503357"/>
          <a:ext cx="10972800" cy="3634976"/>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15">
            <a:extLst>
              <a:ext uri="{FF2B5EF4-FFF2-40B4-BE49-F238E27FC236}">
                <a16:creationId xmlns:a16="http://schemas.microsoft.com/office/drawing/2014/main" id="{0E0CC161-A55F-0351-3DEA-404C6B6D9778}"/>
              </a:ext>
            </a:extLst>
          </p:cNvPr>
          <p:cNvSpPr txBox="1"/>
          <p:nvPr/>
        </p:nvSpPr>
        <p:spPr>
          <a:xfrm>
            <a:off x="609598" y="2174314"/>
            <a:ext cx="10972800" cy="307777"/>
          </a:xfrm>
          <a:prstGeom prst="rect">
            <a:avLst/>
          </a:prstGeom>
          <a:noFill/>
        </p:spPr>
        <p:txBody>
          <a:bodyPr wrap="square" lIns="0" tIns="45720" rIns="0" bIns="45720" rtlCol="0" anchor="t">
            <a:spAutoFit/>
          </a:bodyPr>
          <a:lstStyle/>
          <a:p>
            <a:r>
              <a:rPr lang="en-US" sz="1400" b="1" dirty="0">
                <a:solidFill>
                  <a:schemeClr val="bg1"/>
                </a:solidFill>
                <a:latin typeface="Montserrat" pitchFamily="2" charset="77"/>
              </a:rPr>
              <a:t>Global EV Sales by Region and Type (million vehicles) as of YE 2025</a:t>
            </a:r>
            <a:r>
              <a:rPr lang="en-US" sz="1400" b="1" baseline="30000" dirty="0">
                <a:solidFill>
                  <a:schemeClr val="bg1"/>
                </a:solidFill>
                <a:latin typeface="Montserrat" pitchFamily="2" charset="77"/>
              </a:rPr>
              <a:t>1</a:t>
            </a:r>
          </a:p>
        </p:txBody>
      </p:sp>
      <p:sp>
        <p:nvSpPr>
          <p:cNvPr id="17" name="TextBox 16">
            <a:extLst>
              <a:ext uri="{FF2B5EF4-FFF2-40B4-BE49-F238E27FC236}">
                <a16:creationId xmlns:a16="http://schemas.microsoft.com/office/drawing/2014/main" id="{5106D764-D40C-CFB4-B9C4-DC1AED43B288}"/>
              </a:ext>
            </a:extLst>
          </p:cNvPr>
          <p:cNvSpPr txBox="1"/>
          <p:nvPr/>
        </p:nvSpPr>
        <p:spPr>
          <a:xfrm>
            <a:off x="609598" y="6440070"/>
            <a:ext cx="10495967" cy="197618"/>
          </a:xfrm>
          <a:prstGeom prst="rect">
            <a:avLst/>
          </a:prstGeom>
          <a:noFill/>
        </p:spPr>
        <p:txBody>
          <a:bodyPr wrap="square" lIns="0" rtlCol="0">
            <a:spAutoFit/>
          </a:bodyPr>
          <a:lstStyle/>
          <a:p>
            <a:pPr marL="228600" indent="-228600">
              <a:lnSpc>
                <a:spcPts val="800"/>
              </a:lnSpc>
              <a:buAutoNum type="arabicPeriod"/>
            </a:pPr>
            <a:r>
              <a:rPr lang="en-US" sz="800" dirty="0">
                <a:solidFill>
                  <a:schemeClr val="bg1"/>
                </a:solidFill>
                <a:latin typeface="Montserrat" pitchFamily="2" charset="77"/>
              </a:rPr>
              <a:t>Source: IEA (2025), Global electric car sales, 2014-2024, IEA, Paris https://</a:t>
            </a:r>
            <a:r>
              <a:rPr lang="en-US" sz="800" dirty="0" err="1">
                <a:solidFill>
                  <a:schemeClr val="bg1"/>
                </a:solidFill>
                <a:latin typeface="Montserrat" pitchFamily="2" charset="77"/>
              </a:rPr>
              <a:t>www.iea.org</a:t>
            </a:r>
            <a:r>
              <a:rPr lang="en-US" sz="800" dirty="0">
                <a:solidFill>
                  <a:schemeClr val="bg1"/>
                </a:solidFill>
                <a:latin typeface="Montserrat" pitchFamily="2" charset="77"/>
              </a:rPr>
              <a:t>/data-and-statistics/charts/global-electric-car-sales-2014-2024, </a:t>
            </a:r>
            <a:r>
              <a:rPr lang="en-US" sz="800" dirty="0" err="1">
                <a:solidFill>
                  <a:schemeClr val="bg1"/>
                </a:solidFill>
                <a:latin typeface="Montserrat" pitchFamily="2" charset="77"/>
              </a:rPr>
              <a:t>Licence</a:t>
            </a:r>
            <a:r>
              <a:rPr lang="en-US" sz="800" dirty="0">
                <a:solidFill>
                  <a:schemeClr val="bg1"/>
                </a:solidFill>
                <a:latin typeface="Montserrat" pitchFamily="2" charset="77"/>
              </a:rPr>
              <a:t>: CC BY 4.0</a:t>
            </a:r>
          </a:p>
        </p:txBody>
      </p:sp>
      <p:cxnSp>
        <p:nvCxnSpPr>
          <p:cNvPr id="29" name="Straight Arrow Connector 28">
            <a:extLst>
              <a:ext uri="{FF2B5EF4-FFF2-40B4-BE49-F238E27FC236}">
                <a16:creationId xmlns:a16="http://schemas.microsoft.com/office/drawing/2014/main" id="{37C4304F-7B9A-4EEC-64F7-4FF1D9E9AD00}"/>
              </a:ext>
            </a:extLst>
          </p:cNvPr>
          <p:cNvCxnSpPr>
            <a:cxnSpLocks/>
          </p:cNvCxnSpPr>
          <p:nvPr/>
        </p:nvCxnSpPr>
        <p:spPr>
          <a:xfrm flipV="1">
            <a:off x="1857375" y="2770084"/>
            <a:ext cx="8686800" cy="2273404"/>
          </a:xfrm>
          <a:prstGeom prst="straightConnector1">
            <a:avLst/>
          </a:prstGeom>
          <a:ln w="38100">
            <a:solidFill>
              <a:srgbClr val="BD1111"/>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F53A9AFE-3613-B9ED-8912-557B2D9CD614}"/>
              </a:ext>
            </a:extLst>
          </p:cNvPr>
          <p:cNvSpPr txBox="1"/>
          <p:nvPr/>
        </p:nvSpPr>
        <p:spPr>
          <a:xfrm>
            <a:off x="1233488" y="4978642"/>
            <a:ext cx="428625" cy="307777"/>
          </a:xfrm>
          <a:prstGeom prst="rect">
            <a:avLst/>
          </a:prstGeom>
          <a:noFill/>
        </p:spPr>
        <p:txBody>
          <a:bodyPr wrap="square" lIns="0" tIns="45720" rIns="0" bIns="45720" rtlCol="0" anchor="t">
            <a:spAutoFit/>
          </a:bodyPr>
          <a:lstStyle/>
          <a:p>
            <a:pPr algn="ctr"/>
            <a:r>
              <a:rPr lang="en-US" sz="1400" b="1" dirty="0">
                <a:solidFill>
                  <a:schemeClr val="bg1"/>
                </a:solidFill>
                <a:latin typeface="Montserrat" pitchFamily="2" charset="77"/>
              </a:rPr>
              <a:t>0.3</a:t>
            </a:r>
            <a:endParaRPr lang="en-US" sz="1400" b="1" baseline="30000" dirty="0">
              <a:solidFill>
                <a:schemeClr val="bg1"/>
              </a:solidFill>
              <a:latin typeface="Montserrat" pitchFamily="2" charset="77"/>
            </a:endParaRPr>
          </a:p>
        </p:txBody>
      </p:sp>
      <p:sp>
        <p:nvSpPr>
          <p:cNvPr id="33" name="TextBox 32">
            <a:extLst>
              <a:ext uri="{FF2B5EF4-FFF2-40B4-BE49-F238E27FC236}">
                <a16:creationId xmlns:a16="http://schemas.microsoft.com/office/drawing/2014/main" id="{EBA9C877-2377-88A7-5F04-B5FE0A2A0847}"/>
              </a:ext>
            </a:extLst>
          </p:cNvPr>
          <p:cNvSpPr txBox="1"/>
          <p:nvPr/>
        </p:nvSpPr>
        <p:spPr>
          <a:xfrm>
            <a:off x="10839450" y="2616195"/>
            <a:ext cx="428625" cy="307777"/>
          </a:xfrm>
          <a:prstGeom prst="rect">
            <a:avLst/>
          </a:prstGeom>
          <a:noFill/>
        </p:spPr>
        <p:txBody>
          <a:bodyPr wrap="square" lIns="0" tIns="45720" rIns="0" bIns="45720" rtlCol="0" anchor="t">
            <a:spAutoFit/>
          </a:bodyPr>
          <a:lstStyle/>
          <a:p>
            <a:pPr algn="ctr"/>
            <a:r>
              <a:rPr lang="en-US" sz="1400" b="1" dirty="0">
                <a:solidFill>
                  <a:schemeClr val="bg1"/>
                </a:solidFill>
                <a:latin typeface="Montserrat" pitchFamily="2" charset="77"/>
              </a:rPr>
              <a:t>17.3</a:t>
            </a:r>
            <a:endParaRPr lang="en-US" sz="1400" b="1" baseline="30000" dirty="0">
              <a:solidFill>
                <a:schemeClr val="bg1"/>
              </a:solidFill>
              <a:latin typeface="Montserrat" pitchFamily="2" charset="77"/>
            </a:endParaRPr>
          </a:p>
        </p:txBody>
      </p:sp>
      <p:sp>
        <p:nvSpPr>
          <p:cNvPr id="34" name="TextBox 33">
            <a:extLst>
              <a:ext uri="{FF2B5EF4-FFF2-40B4-BE49-F238E27FC236}">
                <a16:creationId xmlns:a16="http://schemas.microsoft.com/office/drawing/2014/main" id="{F3A74B75-99B4-E78F-3F59-658720E514EC}"/>
              </a:ext>
            </a:extLst>
          </p:cNvPr>
          <p:cNvSpPr txBox="1"/>
          <p:nvPr/>
        </p:nvSpPr>
        <p:spPr>
          <a:xfrm rot="20701650">
            <a:off x="5381476" y="3554617"/>
            <a:ext cx="1200444" cy="307777"/>
          </a:xfrm>
          <a:prstGeom prst="rect">
            <a:avLst/>
          </a:prstGeom>
          <a:noFill/>
        </p:spPr>
        <p:txBody>
          <a:bodyPr wrap="square" lIns="0" tIns="45720" rIns="0" bIns="45720" rtlCol="0" anchor="t">
            <a:spAutoFit/>
          </a:bodyPr>
          <a:lstStyle/>
          <a:p>
            <a:pPr algn="ctr"/>
            <a:r>
              <a:rPr lang="en-US" sz="1400" b="1" dirty="0">
                <a:solidFill>
                  <a:schemeClr val="bg1"/>
                </a:solidFill>
                <a:latin typeface="Montserrat" pitchFamily="2" charset="77"/>
              </a:rPr>
              <a:t>~50% CAGR</a:t>
            </a:r>
            <a:endParaRPr lang="en-US" sz="1400" b="1" baseline="30000" dirty="0">
              <a:solidFill>
                <a:schemeClr val="bg1"/>
              </a:solidFill>
              <a:latin typeface="Montserrat" pitchFamily="2" charset="77"/>
            </a:endParaRPr>
          </a:p>
        </p:txBody>
      </p:sp>
      <p:sp>
        <p:nvSpPr>
          <p:cNvPr id="35" name="Slide Number Placeholder 34">
            <a:extLst>
              <a:ext uri="{FF2B5EF4-FFF2-40B4-BE49-F238E27FC236}">
                <a16:creationId xmlns:a16="http://schemas.microsoft.com/office/drawing/2014/main" id="{E1A86981-3A7F-E37D-04A4-F17E3B17E4D1}"/>
              </a:ext>
            </a:extLst>
          </p:cNvPr>
          <p:cNvSpPr>
            <a:spLocks noGrp="1"/>
          </p:cNvSpPr>
          <p:nvPr>
            <p:ph type="sldNum" sz="quarter" idx="12"/>
          </p:nvPr>
        </p:nvSpPr>
        <p:spPr/>
        <p:txBody>
          <a:bodyPr/>
          <a:lstStyle/>
          <a:p>
            <a:fld id="{5780461E-0DE5-ED4D-97A3-62EC4F103ED2}" type="slidenum">
              <a:rPr lang="en-US" smtClean="0"/>
              <a:t>4</a:t>
            </a:fld>
            <a:endParaRPr lang="en-US"/>
          </a:p>
        </p:txBody>
      </p:sp>
    </p:spTree>
    <p:extLst>
      <p:ext uri="{BB962C8B-B14F-4D97-AF65-F5344CB8AC3E}">
        <p14:creationId xmlns:p14="http://schemas.microsoft.com/office/powerpoint/2010/main" val="8662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75DEEE6-7315-3B98-0A9D-DA64E80970A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1430A66-3285-BD02-5C34-BDB23EABCF1C}"/>
              </a:ext>
            </a:extLst>
          </p:cNvPr>
          <p:cNvSpPr txBox="1"/>
          <p:nvPr/>
        </p:nvSpPr>
        <p:spPr>
          <a:xfrm>
            <a:off x="609600" y="682109"/>
            <a:ext cx="10972800" cy="646331"/>
          </a:xfrm>
          <a:prstGeom prst="rect">
            <a:avLst/>
          </a:prstGeom>
          <a:noFill/>
        </p:spPr>
        <p:txBody>
          <a:bodyPr wrap="square" lIns="0" tIns="45720" rIns="0" bIns="45720" rtlCol="0" anchor="t">
            <a:spAutoFit/>
          </a:bodyPr>
          <a:lstStyle/>
          <a:p>
            <a:r>
              <a:rPr lang="en-US" sz="3600" b="1" dirty="0">
                <a:solidFill>
                  <a:schemeClr val="bg1"/>
                </a:solidFill>
                <a:latin typeface="Montserrat" pitchFamily="2" charset="77"/>
              </a:rPr>
              <a:t>Electrification Depends on China</a:t>
            </a:r>
          </a:p>
        </p:txBody>
      </p:sp>
      <p:sp>
        <p:nvSpPr>
          <p:cNvPr id="4" name="TextBox 3">
            <a:extLst>
              <a:ext uri="{FF2B5EF4-FFF2-40B4-BE49-F238E27FC236}">
                <a16:creationId xmlns:a16="http://schemas.microsoft.com/office/drawing/2014/main" id="{C5A3DD69-CEFB-1262-0EC2-6A21E4C338B3}"/>
              </a:ext>
            </a:extLst>
          </p:cNvPr>
          <p:cNvSpPr txBox="1"/>
          <p:nvPr/>
        </p:nvSpPr>
        <p:spPr>
          <a:xfrm>
            <a:off x="609598" y="1524100"/>
            <a:ext cx="10744202" cy="400110"/>
          </a:xfrm>
          <a:prstGeom prst="rect">
            <a:avLst/>
          </a:prstGeom>
          <a:noFill/>
        </p:spPr>
        <p:txBody>
          <a:bodyPr wrap="square" lIns="0" tIns="45720" rIns="0" bIns="45720" rtlCol="0" anchor="t">
            <a:spAutoFit/>
          </a:bodyPr>
          <a:lstStyle/>
          <a:p>
            <a:r>
              <a:rPr lang="en-US" sz="2000" dirty="0">
                <a:solidFill>
                  <a:schemeClr val="bg1"/>
                </a:solidFill>
                <a:latin typeface="Montserrat" pitchFamily="2" charset="77"/>
              </a:rPr>
              <a:t>80% of battery production is geographically centered in China</a:t>
            </a:r>
          </a:p>
        </p:txBody>
      </p:sp>
      <p:sp>
        <p:nvSpPr>
          <p:cNvPr id="17" name="TextBox 16">
            <a:extLst>
              <a:ext uri="{FF2B5EF4-FFF2-40B4-BE49-F238E27FC236}">
                <a16:creationId xmlns:a16="http://schemas.microsoft.com/office/drawing/2014/main" id="{574698F0-BE0A-0A1E-3E0B-3AA0B3EC6FC7}"/>
              </a:ext>
            </a:extLst>
          </p:cNvPr>
          <p:cNvSpPr txBox="1"/>
          <p:nvPr/>
        </p:nvSpPr>
        <p:spPr>
          <a:xfrm>
            <a:off x="609598" y="6440070"/>
            <a:ext cx="10495967" cy="297517"/>
          </a:xfrm>
          <a:prstGeom prst="rect">
            <a:avLst/>
          </a:prstGeom>
          <a:noFill/>
        </p:spPr>
        <p:txBody>
          <a:bodyPr wrap="square" lIns="0" rtlCol="0">
            <a:spAutoFit/>
          </a:bodyPr>
          <a:lstStyle/>
          <a:p>
            <a:pPr marL="228600" indent="-228600">
              <a:lnSpc>
                <a:spcPts val="800"/>
              </a:lnSpc>
              <a:buAutoNum type="arabicPeriod"/>
            </a:pPr>
            <a:r>
              <a:rPr lang="en-US" sz="800" dirty="0">
                <a:solidFill>
                  <a:schemeClr val="bg1"/>
                </a:solidFill>
                <a:latin typeface="Montserrat" pitchFamily="2" charset="77"/>
              </a:rPr>
              <a:t>Source: </a:t>
            </a:r>
            <a:r>
              <a:rPr lang="en-US" sz="800" dirty="0" err="1">
                <a:solidFill>
                  <a:schemeClr val="bg1"/>
                </a:solidFill>
                <a:latin typeface="Montserrat" pitchFamily="2" charset="77"/>
              </a:rPr>
              <a:t>BloombergNEF</a:t>
            </a:r>
            <a:r>
              <a:rPr lang="en-US" sz="800" dirty="0">
                <a:solidFill>
                  <a:schemeClr val="bg1"/>
                </a:solidFill>
                <a:latin typeface="Montserrat" pitchFamily="2" charset="77"/>
              </a:rPr>
              <a:t>, Ministry of Industry and Information Technology (MIT) of China, General Administration of Customs of China. Note: 2025 is estimated. Includes lithium-ion battery cells for stationary storage applications.</a:t>
            </a:r>
          </a:p>
        </p:txBody>
      </p:sp>
      <p:sp>
        <p:nvSpPr>
          <p:cNvPr id="7" name="TextBox 6">
            <a:extLst>
              <a:ext uri="{FF2B5EF4-FFF2-40B4-BE49-F238E27FC236}">
                <a16:creationId xmlns:a16="http://schemas.microsoft.com/office/drawing/2014/main" id="{3C075B1E-4686-08AB-1167-771C326B12CC}"/>
              </a:ext>
            </a:extLst>
          </p:cNvPr>
          <p:cNvSpPr txBox="1"/>
          <p:nvPr/>
        </p:nvSpPr>
        <p:spPr>
          <a:xfrm>
            <a:off x="609598" y="2174314"/>
            <a:ext cx="10972800" cy="307777"/>
          </a:xfrm>
          <a:prstGeom prst="rect">
            <a:avLst/>
          </a:prstGeom>
          <a:noFill/>
        </p:spPr>
        <p:txBody>
          <a:bodyPr wrap="square" lIns="0" tIns="45720" rIns="0" bIns="45720" rtlCol="0" anchor="t">
            <a:spAutoFit/>
          </a:bodyPr>
          <a:lstStyle/>
          <a:p>
            <a:r>
              <a:rPr lang="en-US" sz="1400" b="1" dirty="0">
                <a:solidFill>
                  <a:schemeClr val="bg1"/>
                </a:solidFill>
                <a:latin typeface="Montserrat" pitchFamily="2" charset="77"/>
              </a:rPr>
              <a:t>Battery Production in China (Gigawatt-hours) as of YE 2025</a:t>
            </a:r>
            <a:r>
              <a:rPr lang="en-US" sz="1400" b="1" baseline="30000" dirty="0">
                <a:solidFill>
                  <a:schemeClr val="bg1"/>
                </a:solidFill>
                <a:latin typeface="Montserrat" pitchFamily="2" charset="77"/>
              </a:rPr>
              <a:t>1</a:t>
            </a:r>
          </a:p>
        </p:txBody>
      </p:sp>
      <p:pic>
        <p:nvPicPr>
          <p:cNvPr id="13" name="Picture 12" descr="A graph of a growing graph&#10;&#10;AI-generated content may be incorrect.">
            <a:extLst>
              <a:ext uri="{FF2B5EF4-FFF2-40B4-BE49-F238E27FC236}">
                <a16:creationId xmlns:a16="http://schemas.microsoft.com/office/drawing/2014/main" id="{206458BA-F3B6-0D0B-82A9-34E56B6E43A1}"/>
              </a:ext>
            </a:extLst>
          </p:cNvPr>
          <p:cNvPicPr>
            <a:picLocks noChangeAspect="1"/>
          </p:cNvPicPr>
          <p:nvPr/>
        </p:nvPicPr>
        <p:blipFill>
          <a:blip r:embed="rId3"/>
          <a:srcRect t="20797" b="4429"/>
          <a:stretch>
            <a:fillRect/>
          </a:stretch>
        </p:blipFill>
        <p:spPr>
          <a:xfrm>
            <a:off x="609599" y="2482092"/>
            <a:ext cx="10972799" cy="3693284"/>
          </a:xfrm>
          <a:prstGeom prst="rect">
            <a:avLst/>
          </a:prstGeom>
        </p:spPr>
      </p:pic>
      <p:pic>
        <p:nvPicPr>
          <p:cNvPr id="18" name="Picture 17" descr="A graph of energy storage production&#10;&#10;AI-generated content may be incorrect.">
            <a:extLst>
              <a:ext uri="{FF2B5EF4-FFF2-40B4-BE49-F238E27FC236}">
                <a16:creationId xmlns:a16="http://schemas.microsoft.com/office/drawing/2014/main" id="{1DB62D97-6B1F-02EE-A1AF-6951C0A95734}"/>
              </a:ext>
            </a:extLst>
          </p:cNvPr>
          <p:cNvPicPr>
            <a:picLocks noChangeAspect="1"/>
          </p:cNvPicPr>
          <p:nvPr/>
        </p:nvPicPr>
        <p:blipFill>
          <a:blip r:embed="rId4"/>
          <a:srcRect l="9354" t="7231" r="44205" b="72638"/>
          <a:stretch>
            <a:fillRect/>
          </a:stretch>
        </p:blipFill>
        <p:spPr>
          <a:xfrm>
            <a:off x="8910637" y="2463869"/>
            <a:ext cx="2671763" cy="864096"/>
          </a:xfrm>
          <a:prstGeom prst="rect">
            <a:avLst/>
          </a:prstGeom>
        </p:spPr>
      </p:pic>
      <p:sp>
        <p:nvSpPr>
          <p:cNvPr id="19" name="Slide Number Placeholder 18">
            <a:extLst>
              <a:ext uri="{FF2B5EF4-FFF2-40B4-BE49-F238E27FC236}">
                <a16:creationId xmlns:a16="http://schemas.microsoft.com/office/drawing/2014/main" id="{B5C10554-665B-F205-DB24-F801CF0FEEEA}"/>
              </a:ext>
            </a:extLst>
          </p:cNvPr>
          <p:cNvSpPr>
            <a:spLocks noGrp="1"/>
          </p:cNvSpPr>
          <p:nvPr>
            <p:ph type="sldNum" sz="quarter" idx="12"/>
          </p:nvPr>
        </p:nvSpPr>
        <p:spPr/>
        <p:txBody>
          <a:bodyPr/>
          <a:lstStyle/>
          <a:p>
            <a:fld id="{5780461E-0DE5-ED4D-97A3-62EC4F103ED2}" type="slidenum">
              <a:rPr lang="en-US" smtClean="0"/>
              <a:t>5</a:t>
            </a:fld>
            <a:endParaRPr lang="en-US"/>
          </a:p>
        </p:txBody>
      </p:sp>
    </p:spTree>
    <p:extLst>
      <p:ext uri="{BB962C8B-B14F-4D97-AF65-F5344CB8AC3E}">
        <p14:creationId xmlns:p14="http://schemas.microsoft.com/office/powerpoint/2010/main" val="1711854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67F17F8-7DD5-BFBE-F6D4-6776F90B9F6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1918AE0-62E0-766A-CBEC-A19B3AA15A1B}"/>
              </a:ext>
            </a:extLst>
          </p:cNvPr>
          <p:cNvSpPr txBox="1"/>
          <p:nvPr/>
        </p:nvSpPr>
        <p:spPr>
          <a:xfrm>
            <a:off x="609600" y="682109"/>
            <a:ext cx="10972800" cy="646331"/>
          </a:xfrm>
          <a:prstGeom prst="rect">
            <a:avLst/>
          </a:prstGeom>
          <a:noFill/>
        </p:spPr>
        <p:txBody>
          <a:bodyPr wrap="square" lIns="0" tIns="45720" rIns="0" bIns="45720" rtlCol="0" anchor="t">
            <a:spAutoFit/>
          </a:bodyPr>
          <a:lstStyle/>
          <a:p>
            <a:r>
              <a:rPr lang="en-US" sz="3600" b="1" dirty="0">
                <a:solidFill>
                  <a:schemeClr val="bg1"/>
                </a:solidFill>
                <a:latin typeface="Montserrat" pitchFamily="2" charset="77"/>
              </a:rPr>
              <a:t>Ferrari’s Economics Confirm a Scarcity Model</a:t>
            </a:r>
          </a:p>
        </p:txBody>
      </p:sp>
      <p:sp>
        <p:nvSpPr>
          <p:cNvPr id="4" name="TextBox 3">
            <a:extLst>
              <a:ext uri="{FF2B5EF4-FFF2-40B4-BE49-F238E27FC236}">
                <a16:creationId xmlns:a16="http://schemas.microsoft.com/office/drawing/2014/main" id="{66CE1EC4-2822-7700-C344-3C18B9A5074E}"/>
              </a:ext>
            </a:extLst>
          </p:cNvPr>
          <p:cNvSpPr txBox="1"/>
          <p:nvPr/>
        </p:nvSpPr>
        <p:spPr>
          <a:xfrm>
            <a:off x="609598" y="1524100"/>
            <a:ext cx="10744202" cy="400110"/>
          </a:xfrm>
          <a:prstGeom prst="rect">
            <a:avLst/>
          </a:prstGeom>
          <a:noFill/>
        </p:spPr>
        <p:txBody>
          <a:bodyPr wrap="square" lIns="0" tIns="45720" rIns="0" bIns="45720" rtlCol="0" anchor="t">
            <a:spAutoFit/>
          </a:bodyPr>
          <a:lstStyle/>
          <a:p>
            <a:r>
              <a:rPr lang="en-US" sz="2000" dirty="0">
                <a:solidFill>
                  <a:schemeClr val="bg1"/>
                </a:solidFill>
                <a:latin typeface="Montserrat" pitchFamily="2" charset="77"/>
              </a:rPr>
              <a:t>High pricing power, expanding margins, and superior capital efficiency</a:t>
            </a:r>
          </a:p>
        </p:txBody>
      </p:sp>
      <p:graphicFrame>
        <p:nvGraphicFramePr>
          <p:cNvPr id="8" name="Table 7">
            <a:extLst>
              <a:ext uri="{FF2B5EF4-FFF2-40B4-BE49-F238E27FC236}">
                <a16:creationId xmlns:a16="http://schemas.microsoft.com/office/drawing/2014/main" id="{BD31BC19-7132-0E88-5B49-2947957232DF}"/>
              </a:ext>
            </a:extLst>
          </p:cNvPr>
          <p:cNvGraphicFramePr>
            <a:graphicFrameLocks noGrp="1"/>
          </p:cNvGraphicFramePr>
          <p:nvPr>
            <p:extLst>
              <p:ext uri="{D42A27DB-BD31-4B8C-83A1-F6EECF244321}">
                <p14:modId xmlns:p14="http://schemas.microsoft.com/office/powerpoint/2010/main" val="2102878980"/>
              </p:ext>
            </p:extLst>
          </p:nvPr>
        </p:nvGraphicFramePr>
        <p:xfrm>
          <a:off x="609600" y="3034790"/>
          <a:ext cx="5163671" cy="539412"/>
        </p:xfrm>
        <a:graphic>
          <a:graphicData uri="http://schemas.openxmlformats.org/drawingml/2006/table">
            <a:tbl>
              <a:tblPr firstRow="1" bandRow="1">
                <a:tableStyleId>{5C22544A-7EE6-4342-B048-85BDC9FD1C3A}</a:tableStyleId>
              </a:tblPr>
              <a:tblGrid>
                <a:gridCol w="5163671">
                  <a:extLst>
                    <a:ext uri="{9D8B030D-6E8A-4147-A177-3AD203B41FA5}">
                      <a16:colId xmlns:a16="http://schemas.microsoft.com/office/drawing/2014/main" val="138813154"/>
                    </a:ext>
                  </a:extLst>
                </a:gridCol>
              </a:tblGrid>
              <a:tr h="539412">
                <a:tc>
                  <a:txBody>
                    <a:bodyPr/>
                    <a:lstStyle/>
                    <a:p>
                      <a:r>
                        <a:rPr lang="en-US" b="0" dirty="0">
                          <a:solidFill>
                            <a:schemeClr val="bg1"/>
                          </a:solidFill>
                          <a:latin typeface="Montserrat" pitchFamily="2" charset="77"/>
                        </a:rPr>
                        <a:t>ASP of </a:t>
                      </a:r>
                      <a:r>
                        <a:rPr lang="en-US" sz="1800" b="0" i="0" u="none" strike="noStrike" kern="1200" dirty="0">
                          <a:solidFill>
                            <a:schemeClr val="bg1"/>
                          </a:solidFill>
                          <a:effectLst/>
                          <a:latin typeface="Montserrat" pitchFamily="2" charset="77"/>
                          <a:ea typeface="+mn-ea"/>
                          <a:cs typeface="+mn-cs"/>
                        </a:rPr>
                        <a:t>€374k → €440k</a:t>
                      </a:r>
                      <a:endParaRPr lang="en-US" b="0" dirty="0">
                        <a:solidFill>
                          <a:schemeClr val="bg1"/>
                        </a:solidFill>
                        <a:latin typeface="Montserrat" pitchFamily="2" charset="77"/>
                      </a:endParaRPr>
                    </a:p>
                  </a:txBody>
                  <a:tcPr>
                    <a:lnL w="76200" cap="flat" cmpd="sng" algn="ctr">
                      <a:solidFill>
                        <a:srgbClr val="C00000"/>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00759802"/>
                  </a:ext>
                </a:extLst>
              </a:tr>
            </a:tbl>
          </a:graphicData>
        </a:graphic>
      </p:graphicFrame>
      <p:graphicFrame>
        <p:nvGraphicFramePr>
          <p:cNvPr id="10" name="Table 9">
            <a:extLst>
              <a:ext uri="{FF2B5EF4-FFF2-40B4-BE49-F238E27FC236}">
                <a16:creationId xmlns:a16="http://schemas.microsoft.com/office/drawing/2014/main" id="{D3C2857B-2990-DD76-9FE5-0C77101749CA}"/>
              </a:ext>
            </a:extLst>
          </p:cNvPr>
          <p:cNvGraphicFramePr>
            <a:graphicFrameLocks noGrp="1"/>
          </p:cNvGraphicFramePr>
          <p:nvPr>
            <p:extLst>
              <p:ext uri="{D42A27DB-BD31-4B8C-83A1-F6EECF244321}">
                <p14:modId xmlns:p14="http://schemas.microsoft.com/office/powerpoint/2010/main" val="929345150"/>
              </p:ext>
            </p:extLst>
          </p:nvPr>
        </p:nvGraphicFramePr>
        <p:xfrm>
          <a:off x="609598" y="3668698"/>
          <a:ext cx="5163671" cy="1078824"/>
        </p:xfrm>
        <a:graphic>
          <a:graphicData uri="http://schemas.openxmlformats.org/drawingml/2006/table">
            <a:tbl>
              <a:tblPr firstRow="1" bandRow="1">
                <a:tableStyleId>{5C22544A-7EE6-4342-B048-85BDC9FD1C3A}</a:tableStyleId>
              </a:tblPr>
              <a:tblGrid>
                <a:gridCol w="5163671">
                  <a:extLst>
                    <a:ext uri="{9D8B030D-6E8A-4147-A177-3AD203B41FA5}">
                      <a16:colId xmlns:a16="http://schemas.microsoft.com/office/drawing/2014/main" val="556172296"/>
                    </a:ext>
                  </a:extLst>
                </a:gridCol>
              </a:tblGrid>
              <a:tr h="539412">
                <a:tc>
                  <a:txBody>
                    <a:bodyPr/>
                    <a:lstStyle/>
                    <a:p>
                      <a:endParaRPr lang="en-US" b="0" dirty="0">
                        <a:solidFill>
                          <a:schemeClr val="bg1"/>
                        </a:solidFill>
                        <a:latin typeface="Montserrat" pitchFamily="2" charset="77"/>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04586683"/>
                  </a:ext>
                </a:extLst>
              </a:tr>
              <a:tr h="539412">
                <a:tc>
                  <a:txBody>
                    <a:bodyPr/>
                    <a:lstStyle/>
                    <a:p>
                      <a:r>
                        <a:rPr lang="en-US" b="0" dirty="0">
                          <a:solidFill>
                            <a:schemeClr val="bg1"/>
                          </a:solidFill>
                          <a:latin typeface="Montserrat" pitchFamily="2" charset="77"/>
                        </a:rPr>
                        <a:t>40% historical ROIC</a:t>
                      </a:r>
                    </a:p>
                  </a:txBody>
                  <a:tcPr>
                    <a:lnL w="76200" cap="flat" cmpd="sng" algn="ctr">
                      <a:solidFill>
                        <a:srgbClr val="C00000"/>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53516032"/>
                  </a:ext>
                </a:extLst>
              </a:tr>
            </a:tbl>
          </a:graphicData>
        </a:graphic>
      </p:graphicFrame>
      <p:graphicFrame>
        <p:nvGraphicFramePr>
          <p:cNvPr id="11" name="Table 10">
            <a:extLst>
              <a:ext uri="{FF2B5EF4-FFF2-40B4-BE49-F238E27FC236}">
                <a16:creationId xmlns:a16="http://schemas.microsoft.com/office/drawing/2014/main" id="{3936958E-55F2-9ACB-0ADC-B1031258D98D}"/>
              </a:ext>
            </a:extLst>
          </p:cNvPr>
          <p:cNvGraphicFramePr>
            <a:graphicFrameLocks noGrp="1"/>
          </p:cNvGraphicFramePr>
          <p:nvPr>
            <p:extLst>
              <p:ext uri="{D42A27DB-BD31-4B8C-83A1-F6EECF244321}">
                <p14:modId xmlns:p14="http://schemas.microsoft.com/office/powerpoint/2010/main" val="2990729292"/>
              </p:ext>
            </p:extLst>
          </p:nvPr>
        </p:nvGraphicFramePr>
        <p:xfrm>
          <a:off x="5773270" y="3668698"/>
          <a:ext cx="5809130" cy="1078824"/>
        </p:xfrm>
        <a:graphic>
          <a:graphicData uri="http://schemas.openxmlformats.org/drawingml/2006/table">
            <a:tbl>
              <a:tblPr firstRow="1" bandRow="1">
                <a:tableStyleId>{5C22544A-7EE6-4342-B048-85BDC9FD1C3A}</a:tableStyleId>
              </a:tblPr>
              <a:tblGrid>
                <a:gridCol w="645459">
                  <a:extLst>
                    <a:ext uri="{9D8B030D-6E8A-4147-A177-3AD203B41FA5}">
                      <a16:colId xmlns:a16="http://schemas.microsoft.com/office/drawing/2014/main" val="1684465499"/>
                    </a:ext>
                  </a:extLst>
                </a:gridCol>
                <a:gridCol w="5163671">
                  <a:extLst>
                    <a:ext uri="{9D8B030D-6E8A-4147-A177-3AD203B41FA5}">
                      <a16:colId xmlns:a16="http://schemas.microsoft.com/office/drawing/2014/main" val="3309215739"/>
                    </a:ext>
                  </a:extLst>
                </a:gridCol>
              </a:tblGrid>
              <a:tr h="539412">
                <a:tc>
                  <a:txBody>
                    <a:bodyPr/>
                    <a:lstStyle/>
                    <a:p>
                      <a:endParaRPr lang="en-US" b="0" dirty="0">
                        <a:solidFill>
                          <a:schemeClr val="bg1"/>
                        </a:solidFill>
                        <a:latin typeface="Montserrat" pitchFamily="2" charset="77"/>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US" b="0" dirty="0">
                        <a:solidFill>
                          <a:schemeClr val="bg1"/>
                        </a:solidFill>
                        <a:latin typeface="Montserrat" pitchFamily="2" charset="77"/>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29254885"/>
                  </a:ext>
                </a:extLst>
              </a:tr>
              <a:tr h="539412">
                <a:tc>
                  <a:txBody>
                    <a:bodyPr/>
                    <a:lstStyle/>
                    <a:p>
                      <a:endParaRPr lang="en-US" b="0" dirty="0">
                        <a:solidFill>
                          <a:schemeClr val="bg1"/>
                        </a:solidFill>
                        <a:latin typeface="Montserrat" pitchFamily="2" charset="77"/>
                      </a:endParaRPr>
                    </a:p>
                  </a:txBody>
                  <a:tcPr>
                    <a:lnL w="12700" cmpd="sng">
                      <a:noFill/>
                    </a:lnL>
                    <a:lnR w="76200" cap="flat" cmpd="sng" algn="ctr">
                      <a:solidFill>
                        <a:srgbClr val="C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r>
                        <a:rPr lang="en-US" b="0" dirty="0">
                          <a:solidFill>
                            <a:schemeClr val="bg1"/>
                          </a:solidFill>
                          <a:latin typeface="Montserrat" pitchFamily="2" charset="77"/>
                        </a:rPr>
                        <a:t>40-50% hybrid mix </a:t>
                      </a:r>
                    </a:p>
                  </a:txBody>
                  <a:tcPr>
                    <a:lnL w="76200" cap="flat" cmpd="sng" algn="ctr">
                      <a:solidFill>
                        <a:srgbClr val="C00000"/>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69203053"/>
                  </a:ext>
                </a:extLst>
              </a:tr>
            </a:tbl>
          </a:graphicData>
        </a:graphic>
      </p:graphicFrame>
      <p:graphicFrame>
        <p:nvGraphicFramePr>
          <p:cNvPr id="12" name="Table 11">
            <a:extLst>
              <a:ext uri="{FF2B5EF4-FFF2-40B4-BE49-F238E27FC236}">
                <a16:creationId xmlns:a16="http://schemas.microsoft.com/office/drawing/2014/main" id="{29C4CAEB-B463-443F-B390-8184717549AA}"/>
              </a:ext>
            </a:extLst>
          </p:cNvPr>
          <p:cNvGraphicFramePr>
            <a:graphicFrameLocks noGrp="1"/>
          </p:cNvGraphicFramePr>
          <p:nvPr>
            <p:extLst>
              <p:ext uri="{D42A27DB-BD31-4B8C-83A1-F6EECF244321}">
                <p14:modId xmlns:p14="http://schemas.microsoft.com/office/powerpoint/2010/main" val="3210172146"/>
              </p:ext>
            </p:extLst>
          </p:nvPr>
        </p:nvGraphicFramePr>
        <p:xfrm>
          <a:off x="5773270" y="3048263"/>
          <a:ext cx="5809130" cy="539412"/>
        </p:xfrm>
        <a:graphic>
          <a:graphicData uri="http://schemas.openxmlformats.org/drawingml/2006/table">
            <a:tbl>
              <a:tblPr firstRow="1" bandRow="1">
                <a:tableStyleId>{5C22544A-7EE6-4342-B048-85BDC9FD1C3A}</a:tableStyleId>
              </a:tblPr>
              <a:tblGrid>
                <a:gridCol w="645459">
                  <a:extLst>
                    <a:ext uri="{9D8B030D-6E8A-4147-A177-3AD203B41FA5}">
                      <a16:colId xmlns:a16="http://schemas.microsoft.com/office/drawing/2014/main" val="157040439"/>
                    </a:ext>
                  </a:extLst>
                </a:gridCol>
                <a:gridCol w="5163671">
                  <a:extLst>
                    <a:ext uri="{9D8B030D-6E8A-4147-A177-3AD203B41FA5}">
                      <a16:colId xmlns:a16="http://schemas.microsoft.com/office/drawing/2014/main" val="2949748969"/>
                    </a:ext>
                  </a:extLst>
                </a:gridCol>
              </a:tblGrid>
              <a:tr h="539412">
                <a:tc>
                  <a:txBody>
                    <a:bodyPr/>
                    <a:lstStyle/>
                    <a:p>
                      <a:endParaRPr lang="en-US" b="0" dirty="0">
                        <a:solidFill>
                          <a:schemeClr val="bg1"/>
                        </a:solidFill>
                        <a:latin typeface="Montserrat" pitchFamily="2" charset="77"/>
                      </a:endParaRPr>
                    </a:p>
                  </a:txBody>
                  <a:tcPr>
                    <a:lnL w="12700" cmpd="sng">
                      <a:noFill/>
                    </a:lnL>
                    <a:lnR w="76200" cap="flat" cmpd="sng" algn="ctr">
                      <a:solidFill>
                        <a:srgbClr val="C0000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lang="en-US" b="0" dirty="0">
                          <a:solidFill>
                            <a:schemeClr val="bg1"/>
                          </a:solidFill>
                          <a:latin typeface="Montserrat" pitchFamily="2" charset="77"/>
                        </a:rPr>
                        <a:t>EBIT ~30%</a:t>
                      </a:r>
                    </a:p>
                  </a:txBody>
                  <a:tcPr>
                    <a:lnL w="76200" cap="flat" cmpd="sng" algn="ctr">
                      <a:solidFill>
                        <a:srgbClr val="C00000"/>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11827253"/>
                  </a:ext>
                </a:extLst>
              </a:tr>
            </a:tbl>
          </a:graphicData>
        </a:graphic>
      </p:graphicFrame>
      <p:cxnSp>
        <p:nvCxnSpPr>
          <p:cNvPr id="13" name="Straight Arrow Connector 12">
            <a:extLst>
              <a:ext uri="{FF2B5EF4-FFF2-40B4-BE49-F238E27FC236}">
                <a16:creationId xmlns:a16="http://schemas.microsoft.com/office/drawing/2014/main" id="{84FA91AB-72D2-A5F0-1332-1BF8F91F4F4C}"/>
              </a:ext>
            </a:extLst>
          </p:cNvPr>
          <p:cNvCxnSpPr>
            <a:cxnSpLocks/>
          </p:cNvCxnSpPr>
          <p:nvPr/>
        </p:nvCxnSpPr>
        <p:spPr>
          <a:xfrm flipH="1" flipV="1">
            <a:off x="1973092" y="4684782"/>
            <a:ext cx="318695" cy="892193"/>
          </a:xfrm>
          <a:prstGeom prst="straightConnector1">
            <a:avLst/>
          </a:prstGeom>
          <a:ln>
            <a:solidFill>
              <a:srgbClr val="008C45"/>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EE6E8F82-EB06-200C-17AD-FEE479D1338A}"/>
              </a:ext>
            </a:extLst>
          </p:cNvPr>
          <p:cNvCxnSpPr>
            <a:cxnSpLocks/>
          </p:cNvCxnSpPr>
          <p:nvPr/>
        </p:nvCxnSpPr>
        <p:spPr>
          <a:xfrm flipH="1">
            <a:off x="3490687" y="2770815"/>
            <a:ext cx="282660" cy="302113"/>
          </a:xfrm>
          <a:prstGeom prst="straightConnector1">
            <a:avLst/>
          </a:prstGeom>
          <a:ln>
            <a:solidFill>
              <a:srgbClr val="008C45"/>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E1B89870-E079-C3D6-5137-89CDF6AD5798}"/>
              </a:ext>
            </a:extLst>
          </p:cNvPr>
          <p:cNvCxnSpPr>
            <a:cxnSpLocks/>
          </p:cNvCxnSpPr>
          <p:nvPr/>
        </p:nvCxnSpPr>
        <p:spPr>
          <a:xfrm flipH="1" flipV="1">
            <a:off x="7136763" y="4711728"/>
            <a:ext cx="645459" cy="1096079"/>
          </a:xfrm>
          <a:prstGeom prst="straightConnector1">
            <a:avLst/>
          </a:prstGeom>
          <a:ln>
            <a:solidFill>
              <a:srgbClr val="008C45"/>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73A27335-E5B2-B5BF-19FA-410AAB8D2307}"/>
              </a:ext>
            </a:extLst>
          </p:cNvPr>
          <p:cNvCxnSpPr>
            <a:cxnSpLocks/>
          </p:cNvCxnSpPr>
          <p:nvPr/>
        </p:nvCxnSpPr>
        <p:spPr>
          <a:xfrm flipH="1">
            <a:off x="7900988" y="2907847"/>
            <a:ext cx="1173564" cy="294189"/>
          </a:xfrm>
          <a:prstGeom prst="straightConnector1">
            <a:avLst/>
          </a:prstGeom>
          <a:ln>
            <a:solidFill>
              <a:srgbClr val="008C45"/>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A4B75BD4-DD53-D61E-6981-67F2C40D107B}"/>
              </a:ext>
            </a:extLst>
          </p:cNvPr>
          <p:cNvSpPr txBox="1"/>
          <p:nvPr/>
        </p:nvSpPr>
        <p:spPr>
          <a:xfrm>
            <a:off x="2892179" y="2423608"/>
            <a:ext cx="3203821" cy="276999"/>
          </a:xfrm>
          <a:prstGeom prst="rect">
            <a:avLst/>
          </a:prstGeom>
          <a:noFill/>
        </p:spPr>
        <p:txBody>
          <a:bodyPr wrap="square" lIns="0" tIns="45720" rIns="0" bIns="45720" rtlCol="0" anchor="t">
            <a:spAutoFit/>
          </a:bodyPr>
          <a:lstStyle/>
          <a:p>
            <a:r>
              <a:rPr lang="en-US" sz="1200" i="1" dirty="0">
                <a:solidFill>
                  <a:schemeClr val="bg1"/>
                </a:solidFill>
                <a:latin typeface="Montserrat" pitchFamily="2" charset="77"/>
              </a:rPr>
              <a:t>Revenue +7% with flat shipments</a:t>
            </a:r>
          </a:p>
        </p:txBody>
      </p:sp>
      <p:sp>
        <p:nvSpPr>
          <p:cNvPr id="24" name="TextBox 23">
            <a:extLst>
              <a:ext uri="{FF2B5EF4-FFF2-40B4-BE49-F238E27FC236}">
                <a16:creationId xmlns:a16="http://schemas.microsoft.com/office/drawing/2014/main" id="{517FF7D8-9126-B561-F46C-AC60CE3F8CA7}"/>
              </a:ext>
            </a:extLst>
          </p:cNvPr>
          <p:cNvSpPr txBox="1"/>
          <p:nvPr/>
        </p:nvSpPr>
        <p:spPr>
          <a:xfrm>
            <a:off x="1858737" y="5611700"/>
            <a:ext cx="3263900" cy="276999"/>
          </a:xfrm>
          <a:prstGeom prst="rect">
            <a:avLst/>
          </a:prstGeom>
          <a:noFill/>
        </p:spPr>
        <p:txBody>
          <a:bodyPr wrap="square" lIns="0" tIns="45720" rIns="0" bIns="45720" rtlCol="0" anchor="t">
            <a:spAutoFit/>
          </a:bodyPr>
          <a:lstStyle/>
          <a:p>
            <a:r>
              <a:rPr lang="en-US" sz="1200" i="1" dirty="0">
                <a:solidFill>
                  <a:schemeClr val="bg1"/>
                </a:solidFill>
                <a:latin typeface="Montserrat" pitchFamily="2" charset="77"/>
              </a:rPr>
              <a:t>Luxury-level profitability</a:t>
            </a:r>
          </a:p>
        </p:txBody>
      </p:sp>
      <p:sp>
        <p:nvSpPr>
          <p:cNvPr id="26" name="TextBox 25">
            <a:extLst>
              <a:ext uri="{FF2B5EF4-FFF2-40B4-BE49-F238E27FC236}">
                <a16:creationId xmlns:a16="http://schemas.microsoft.com/office/drawing/2014/main" id="{7D413DE4-18E3-6EAE-2F26-CBA0413325F7}"/>
              </a:ext>
            </a:extLst>
          </p:cNvPr>
          <p:cNvSpPr txBox="1"/>
          <p:nvPr/>
        </p:nvSpPr>
        <p:spPr>
          <a:xfrm>
            <a:off x="8318500" y="2577381"/>
            <a:ext cx="3263900" cy="276999"/>
          </a:xfrm>
          <a:prstGeom prst="rect">
            <a:avLst/>
          </a:prstGeom>
          <a:noFill/>
        </p:spPr>
        <p:txBody>
          <a:bodyPr wrap="square" lIns="0" tIns="45720" rIns="0" bIns="45720" rtlCol="0" anchor="t">
            <a:spAutoFit/>
          </a:bodyPr>
          <a:lstStyle/>
          <a:p>
            <a:r>
              <a:rPr lang="en-US" sz="1200" i="1" dirty="0">
                <a:solidFill>
                  <a:schemeClr val="bg1"/>
                </a:solidFill>
                <a:latin typeface="Montserrat" pitchFamily="2" charset="77"/>
              </a:rPr>
              <a:t>Luxury-level profitability</a:t>
            </a:r>
          </a:p>
        </p:txBody>
      </p:sp>
      <p:sp>
        <p:nvSpPr>
          <p:cNvPr id="28" name="TextBox 27">
            <a:extLst>
              <a:ext uri="{FF2B5EF4-FFF2-40B4-BE49-F238E27FC236}">
                <a16:creationId xmlns:a16="http://schemas.microsoft.com/office/drawing/2014/main" id="{ED4EC0F6-25AC-3C28-6FEE-4530C7231D91}"/>
              </a:ext>
            </a:extLst>
          </p:cNvPr>
          <p:cNvSpPr txBox="1"/>
          <p:nvPr/>
        </p:nvSpPr>
        <p:spPr>
          <a:xfrm>
            <a:off x="7348390" y="5888699"/>
            <a:ext cx="3263900" cy="276999"/>
          </a:xfrm>
          <a:prstGeom prst="rect">
            <a:avLst/>
          </a:prstGeom>
          <a:noFill/>
        </p:spPr>
        <p:txBody>
          <a:bodyPr wrap="square" lIns="0" tIns="45720" rIns="0" bIns="45720" rtlCol="0" anchor="t">
            <a:spAutoFit/>
          </a:bodyPr>
          <a:lstStyle/>
          <a:p>
            <a:r>
              <a:rPr lang="en-US" sz="1200" i="1" dirty="0">
                <a:solidFill>
                  <a:schemeClr val="bg1"/>
                </a:solidFill>
                <a:latin typeface="Montserrat" pitchFamily="2" charset="77"/>
              </a:rPr>
              <a:t>No margin compression</a:t>
            </a:r>
          </a:p>
        </p:txBody>
      </p:sp>
      <p:sp>
        <p:nvSpPr>
          <p:cNvPr id="37" name="TextBox 36">
            <a:extLst>
              <a:ext uri="{FF2B5EF4-FFF2-40B4-BE49-F238E27FC236}">
                <a16:creationId xmlns:a16="http://schemas.microsoft.com/office/drawing/2014/main" id="{1E1B5AE2-96FF-AAC5-879F-B976E4B537C3}"/>
              </a:ext>
            </a:extLst>
          </p:cNvPr>
          <p:cNvSpPr txBox="1"/>
          <p:nvPr/>
        </p:nvSpPr>
        <p:spPr>
          <a:xfrm>
            <a:off x="609598" y="6440070"/>
            <a:ext cx="10495967" cy="197618"/>
          </a:xfrm>
          <a:prstGeom prst="rect">
            <a:avLst/>
          </a:prstGeom>
          <a:noFill/>
        </p:spPr>
        <p:txBody>
          <a:bodyPr wrap="square" lIns="0" rtlCol="0">
            <a:spAutoFit/>
          </a:bodyPr>
          <a:lstStyle/>
          <a:p>
            <a:pPr marL="228600" indent="-228600">
              <a:lnSpc>
                <a:spcPts val="800"/>
              </a:lnSpc>
              <a:buAutoNum type="arabicPeriod"/>
            </a:pPr>
            <a:r>
              <a:rPr lang="en-US" sz="800" dirty="0">
                <a:solidFill>
                  <a:schemeClr val="bg1"/>
                </a:solidFill>
                <a:latin typeface="Montserrat" pitchFamily="2" charset="77"/>
              </a:rPr>
              <a:t>As of December 2025.</a:t>
            </a:r>
          </a:p>
        </p:txBody>
      </p:sp>
      <p:sp>
        <p:nvSpPr>
          <p:cNvPr id="38" name="Slide Number Placeholder 37">
            <a:extLst>
              <a:ext uri="{FF2B5EF4-FFF2-40B4-BE49-F238E27FC236}">
                <a16:creationId xmlns:a16="http://schemas.microsoft.com/office/drawing/2014/main" id="{2E6F3352-3AEA-AF14-515A-97CD5484DAF4}"/>
              </a:ext>
            </a:extLst>
          </p:cNvPr>
          <p:cNvSpPr>
            <a:spLocks noGrp="1"/>
          </p:cNvSpPr>
          <p:nvPr>
            <p:ph type="sldNum" sz="quarter" idx="12"/>
          </p:nvPr>
        </p:nvSpPr>
        <p:spPr/>
        <p:txBody>
          <a:bodyPr/>
          <a:lstStyle/>
          <a:p>
            <a:fld id="{5780461E-0DE5-ED4D-97A3-62EC4F103ED2}" type="slidenum">
              <a:rPr lang="en-US" smtClean="0"/>
              <a:t>6</a:t>
            </a:fld>
            <a:endParaRPr lang="en-US"/>
          </a:p>
        </p:txBody>
      </p:sp>
    </p:spTree>
    <p:extLst>
      <p:ext uri="{BB962C8B-B14F-4D97-AF65-F5344CB8AC3E}">
        <p14:creationId xmlns:p14="http://schemas.microsoft.com/office/powerpoint/2010/main" val="3851199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6" grpId="0"/>
      <p:bldP spid="28"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14A8F4C-DD68-15E9-1446-2FC8490AC0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C90E838-C746-9473-8143-F48E0D19EC3A}"/>
              </a:ext>
            </a:extLst>
          </p:cNvPr>
          <p:cNvSpPr txBox="1"/>
          <p:nvPr/>
        </p:nvSpPr>
        <p:spPr>
          <a:xfrm>
            <a:off x="609600" y="682109"/>
            <a:ext cx="10972800" cy="646331"/>
          </a:xfrm>
          <a:prstGeom prst="rect">
            <a:avLst/>
          </a:prstGeom>
          <a:noFill/>
        </p:spPr>
        <p:txBody>
          <a:bodyPr wrap="square" lIns="0" tIns="45720" rIns="0" bIns="45720" rtlCol="0" anchor="t">
            <a:spAutoFit/>
          </a:bodyPr>
          <a:lstStyle/>
          <a:p>
            <a:r>
              <a:rPr lang="en-US" sz="3600" b="1" dirty="0">
                <a:solidFill>
                  <a:schemeClr val="bg1"/>
                </a:solidFill>
                <a:latin typeface="Montserrat" pitchFamily="2" charset="77"/>
              </a:rPr>
              <a:t>Structural Tension: Brand vs BEV</a:t>
            </a:r>
          </a:p>
        </p:txBody>
      </p:sp>
      <p:sp>
        <p:nvSpPr>
          <p:cNvPr id="4" name="TextBox 3">
            <a:extLst>
              <a:ext uri="{FF2B5EF4-FFF2-40B4-BE49-F238E27FC236}">
                <a16:creationId xmlns:a16="http://schemas.microsoft.com/office/drawing/2014/main" id="{80F719AB-3750-8256-ACE7-6FCF6FC5DF74}"/>
              </a:ext>
            </a:extLst>
          </p:cNvPr>
          <p:cNvSpPr txBox="1"/>
          <p:nvPr/>
        </p:nvSpPr>
        <p:spPr>
          <a:xfrm>
            <a:off x="609598" y="1524100"/>
            <a:ext cx="10744202" cy="400110"/>
          </a:xfrm>
          <a:prstGeom prst="rect">
            <a:avLst/>
          </a:prstGeom>
          <a:noFill/>
        </p:spPr>
        <p:txBody>
          <a:bodyPr wrap="square" lIns="0" tIns="45720" rIns="0" bIns="45720" rtlCol="0" anchor="t">
            <a:spAutoFit/>
          </a:bodyPr>
          <a:lstStyle/>
          <a:p>
            <a:r>
              <a:rPr lang="en-US" sz="2000" dirty="0">
                <a:solidFill>
                  <a:schemeClr val="bg1"/>
                </a:solidFill>
                <a:latin typeface="Montserrat" pitchFamily="2" charset="77"/>
              </a:rPr>
              <a:t>Electrification alters the sources of differentiation in ultra-performance vehicles</a:t>
            </a:r>
          </a:p>
        </p:txBody>
      </p:sp>
      <p:sp>
        <p:nvSpPr>
          <p:cNvPr id="8" name="Freeform 7">
            <a:extLst>
              <a:ext uri="{FF2B5EF4-FFF2-40B4-BE49-F238E27FC236}">
                <a16:creationId xmlns:a16="http://schemas.microsoft.com/office/drawing/2014/main" id="{76FD39C1-73FD-D12B-49CF-F8708B1CD21B}"/>
              </a:ext>
            </a:extLst>
          </p:cNvPr>
          <p:cNvSpPr/>
          <p:nvPr/>
        </p:nvSpPr>
        <p:spPr>
          <a:xfrm>
            <a:off x="1832179" y="2758041"/>
            <a:ext cx="3129153" cy="3129153"/>
          </a:xfrm>
          <a:custGeom>
            <a:avLst/>
            <a:gdLst>
              <a:gd name="csX0" fmla="*/ 1564576 w 3129153"/>
              <a:gd name="csY0" fmla="*/ 0 h 3129153"/>
              <a:gd name="csX1" fmla="*/ 3052577 w 3129153"/>
              <a:gd name="csY1" fmla="*/ 1081096 h 3129153"/>
              <a:gd name="csX2" fmla="*/ 1564577 w 3129153"/>
              <a:gd name="csY2" fmla="*/ 1564577 h 3129153"/>
              <a:gd name="csX3" fmla="*/ 1564576 w 3129153"/>
              <a:gd name="csY3" fmla="*/ 0 h 3129153"/>
            </a:gdLst>
            <a:ahLst/>
            <a:cxnLst>
              <a:cxn ang="0">
                <a:pos x="csX0" y="csY0"/>
              </a:cxn>
              <a:cxn ang="0">
                <a:pos x="csX1" y="csY1"/>
              </a:cxn>
              <a:cxn ang="0">
                <a:pos x="csX2" y="csY2"/>
              </a:cxn>
              <a:cxn ang="0">
                <a:pos x="csX3" y="csY3"/>
              </a:cxn>
            </a:cxnLst>
            <a:rect l="l" t="t" r="r" b="b"/>
            <a:pathLst>
              <a:path w="3129153" h="3129153">
                <a:moveTo>
                  <a:pt x="1564576" y="0"/>
                </a:moveTo>
                <a:cubicBezTo>
                  <a:pt x="2242392" y="0"/>
                  <a:pt x="2843121" y="436455"/>
                  <a:pt x="3052577" y="1081096"/>
                </a:cubicBezTo>
                <a:lnTo>
                  <a:pt x="1564577" y="1564577"/>
                </a:lnTo>
                <a:cubicBezTo>
                  <a:pt x="1564577" y="1043051"/>
                  <a:pt x="1564576" y="521526"/>
                  <a:pt x="1564576" y="0"/>
                </a:cubicBezTo>
                <a:close/>
              </a:path>
            </a:pathLst>
          </a:custGeom>
          <a:noFill/>
          <a:ln w="38100">
            <a:solidFill>
              <a:srgbClr val="BD111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646345" tIns="539966" rIns="504949" bIns="1946595"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Montserrat" pitchFamily="2" charset="77"/>
              </a:rPr>
              <a:t>Throttle response &amp; bespoke tuning</a:t>
            </a:r>
          </a:p>
        </p:txBody>
      </p:sp>
      <p:sp>
        <p:nvSpPr>
          <p:cNvPr id="9" name="Freeform 8">
            <a:extLst>
              <a:ext uri="{FF2B5EF4-FFF2-40B4-BE49-F238E27FC236}">
                <a16:creationId xmlns:a16="http://schemas.microsoft.com/office/drawing/2014/main" id="{C3ED161E-9982-5EC6-64DD-6D2EE8F9CE01}"/>
              </a:ext>
            </a:extLst>
          </p:cNvPr>
          <p:cNvSpPr/>
          <p:nvPr/>
        </p:nvSpPr>
        <p:spPr>
          <a:xfrm>
            <a:off x="1859001" y="2841485"/>
            <a:ext cx="3129153" cy="3129153"/>
          </a:xfrm>
          <a:custGeom>
            <a:avLst/>
            <a:gdLst>
              <a:gd name="csX0" fmla="*/ 3052577 w 3129153"/>
              <a:gd name="csY0" fmla="*/ 1081096 h 3129153"/>
              <a:gd name="csX1" fmla="*/ 2484211 w 3129153"/>
              <a:gd name="csY1" fmla="*/ 2830346 h 3129153"/>
              <a:gd name="csX2" fmla="*/ 1564577 w 3129153"/>
              <a:gd name="csY2" fmla="*/ 1564577 h 3129153"/>
              <a:gd name="csX3" fmla="*/ 3052577 w 3129153"/>
              <a:gd name="csY3" fmla="*/ 1081096 h 3129153"/>
            </a:gdLst>
            <a:ahLst/>
            <a:cxnLst>
              <a:cxn ang="0">
                <a:pos x="csX0" y="csY0"/>
              </a:cxn>
              <a:cxn ang="0">
                <a:pos x="csX1" y="csY1"/>
              </a:cxn>
              <a:cxn ang="0">
                <a:pos x="csX2" y="csY2"/>
              </a:cxn>
              <a:cxn ang="0">
                <a:pos x="csX3" y="csY3"/>
              </a:cxn>
            </a:cxnLst>
            <a:rect l="l" t="t" r="r" b="b"/>
            <a:pathLst>
              <a:path w="3129153" h="3129153">
                <a:moveTo>
                  <a:pt x="3052577" y="1081096"/>
                </a:moveTo>
                <a:cubicBezTo>
                  <a:pt x="3262034" y="1725737"/>
                  <a:pt x="3032576" y="2431936"/>
                  <a:pt x="2484211" y="2830346"/>
                </a:cubicBezTo>
                <a:lnTo>
                  <a:pt x="1564577" y="1564577"/>
                </a:lnTo>
                <a:lnTo>
                  <a:pt x="3052577" y="1081096"/>
                </a:lnTo>
                <a:close/>
              </a:path>
            </a:pathLst>
          </a:custGeom>
          <a:noFill/>
          <a:ln w="38100">
            <a:solidFill>
              <a:srgbClr val="BD111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029294" tIns="1443696" rIns="196504" bIns="968361"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Montserrat" pitchFamily="2" charset="77"/>
              </a:rPr>
              <a:t>Emotional resonance</a:t>
            </a:r>
          </a:p>
        </p:txBody>
      </p:sp>
      <p:sp>
        <p:nvSpPr>
          <p:cNvPr id="10" name="Freeform 9">
            <a:extLst>
              <a:ext uri="{FF2B5EF4-FFF2-40B4-BE49-F238E27FC236}">
                <a16:creationId xmlns:a16="http://schemas.microsoft.com/office/drawing/2014/main" id="{C4F9EF97-5A63-BE7E-49A2-2C96F3FDFD2D}"/>
              </a:ext>
            </a:extLst>
          </p:cNvPr>
          <p:cNvSpPr/>
          <p:nvPr/>
        </p:nvSpPr>
        <p:spPr>
          <a:xfrm>
            <a:off x="1788222" y="2892893"/>
            <a:ext cx="3129153" cy="3129153"/>
          </a:xfrm>
          <a:custGeom>
            <a:avLst/>
            <a:gdLst>
              <a:gd name="csX0" fmla="*/ 2484211 w 3129153"/>
              <a:gd name="csY0" fmla="*/ 2830345 h 3129153"/>
              <a:gd name="csX1" fmla="*/ 644940 w 3129153"/>
              <a:gd name="csY1" fmla="*/ 2830345 h 3129153"/>
              <a:gd name="csX2" fmla="*/ 1564577 w 3129153"/>
              <a:gd name="csY2" fmla="*/ 1564577 h 3129153"/>
              <a:gd name="csX3" fmla="*/ 2484211 w 3129153"/>
              <a:gd name="csY3" fmla="*/ 2830345 h 3129153"/>
            </a:gdLst>
            <a:ahLst/>
            <a:cxnLst>
              <a:cxn ang="0">
                <a:pos x="csX0" y="csY0"/>
              </a:cxn>
              <a:cxn ang="0">
                <a:pos x="csX1" y="csY1"/>
              </a:cxn>
              <a:cxn ang="0">
                <a:pos x="csX2" y="csY2"/>
              </a:cxn>
              <a:cxn ang="0">
                <a:pos x="csX3" y="csY3"/>
              </a:cxn>
            </a:cxnLst>
            <a:rect l="l" t="t" r="r" b="b"/>
            <a:pathLst>
              <a:path w="3129153" h="3129153">
                <a:moveTo>
                  <a:pt x="2484211" y="2830345"/>
                </a:moveTo>
                <a:cubicBezTo>
                  <a:pt x="1935846" y="3228755"/>
                  <a:pt x="1193305" y="3228755"/>
                  <a:pt x="644940" y="2830345"/>
                </a:cubicBezTo>
                <a:lnTo>
                  <a:pt x="1564577" y="1564577"/>
                </a:lnTo>
                <a:lnTo>
                  <a:pt x="2484211" y="2830345"/>
                </a:lnTo>
                <a:close/>
              </a:path>
            </a:pathLst>
          </a:custGeom>
          <a:noFill/>
          <a:ln w="38100">
            <a:solidFill>
              <a:srgbClr val="BD111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131525" tIns="2211828" rIns="1131525" bIns="125725"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Montserrat" pitchFamily="2" charset="77"/>
              </a:rPr>
              <a:t>Mechanical engineering superiority</a:t>
            </a:r>
          </a:p>
        </p:txBody>
      </p:sp>
      <p:sp>
        <p:nvSpPr>
          <p:cNvPr id="11" name="Freeform 10">
            <a:extLst>
              <a:ext uri="{FF2B5EF4-FFF2-40B4-BE49-F238E27FC236}">
                <a16:creationId xmlns:a16="http://schemas.microsoft.com/office/drawing/2014/main" id="{8FEAC21B-D635-0C2F-B0DD-AF75C7BD53D7}"/>
              </a:ext>
            </a:extLst>
          </p:cNvPr>
          <p:cNvSpPr/>
          <p:nvPr/>
        </p:nvSpPr>
        <p:spPr>
          <a:xfrm>
            <a:off x="1717444" y="2841485"/>
            <a:ext cx="3129153" cy="3129153"/>
          </a:xfrm>
          <a:custGeom>
            <a:avLst/>
            <a:gdLst>
              <a:gd name="csX0" fmla="*/ 644942 w 3129153"/>
              <a:gd name="csY0" fmla="*/ 2830345 h 3129153"/>
              <a:gd name="csX1" fmla="*/ 76576 w 3129153"/>
              <a:gd name="csY1" fmla="*/ 1081095 h 3129153"/>
              <a:gd name="csX2" fmla="*/ 1564577 w 3129153"/>
              <a:gd name="csY2" fmla="*/ 1564577 h 3129153"/>
              <a:gd name="csX3" fmla="*/ 644942 w 3129153"/>
              <a:gd name="csY3" fmla="*/ 2830345 h 3129153"/>
            </a:gdLst>
            <a:ahLst/>
            <a:cxnLst>
              <a:cxn ang="0">
                <a:pos x="csX0" y="csY0"/>
              </a:cxn>
              <a:cxn ang="0">
                <a:pos x="csX1" y="csY1"/>
              </a:cxn>
              <a:cxn ang="0">
                <a:pos x="csX2" y="csY2"/>
              </a:cxn>
              <a:cxn ang="0">
                <a:pos x="csX3" y="csY3"/>
              </a:cxn>
            </a:cxnLst>
            <a:rect l="l" t="t" r="r" b="b"/>
            <a:pathLst>
              <a:path w="3129153" h="3129153">
                <a:moveTo>
                  <a:pt x="644942" y="2830345"/>
                </a:moveTo>
                <a:cubicBezTo>
                  <a:pt x="96577" y="2431935"/>
                  <a:pt x="-132880" y="1725736"/>
                  <a:pt x="76576" y="1081095"/>
                </a:cubicBezTo>
                <a:lnTo>
                  <a:pt x="1564577" y="1564577"/>
                </a:lnTo>
                <a:lnTo>
                  <a:pt x="644942" y="2830345"/>
                </a:lnTo>
                <a:close/>
              </a:path>
            </a:pathLst>
          </a:custGeom>
          <a:noFill/>
          <a:ln w="38100">
            <a:solidFill>
              <a:srgbClr val="BD111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96504" tIns="1443696" rIns="2029294" bIns="968361"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Montserrat" pitchFamily="2" charset="77"/>
              </a:rPr>
              <a:t>Controlled scarcity</a:t>
            </a:r>
          </a:p>
        </p:txBody>
      </p:sp>
      <p:sp>
        <p:nvSpPr>
          <p:cNvPr id="12" name="Freeform 11">
            <a:extLst>
              <a:ext uri="{FF2B5EF4-FFF2-40B4-BE49-F238E27FC236}">
                <a16:creationId xmlns:a16="http://schemas.microsoft.com/office/drawing/2014/main" id="{07441BC3-6A09-DE09-7F3D-E2A7FAC8053A}"/>
              </a:ext>
            </a:extLst>
          </p:cNvPr>
          <p:cNvSpPr/>
          <p:nvPr/>
        </p:nvSpPr>
        <p:spPr>
          <a:xfrm>
            <a:off x="1744265" y="2758041"/>
            <a:ext cx="3129153" cy="3129153"/>
          </a:xfrm>
          <a:custGeom>
            <a:avLst/>
            <a:gdLst>
              <a:gd name="csX0" fmla="*/ 76576 w 3129153"/>
              <a:gd name="csY0" fmla="*/ 1081096 h 3129153"/>
              <a:gd name="csX1" fmla="*/ 1564577 w 3129153"/>
              <a:gd name="csY1" fmla="*/ 0 h 3129153"/>
              <a:gd name="csX2" fmla="*/ 1564577 w 3129153"/>
              <a:gd name="csY2" fmla="*/ 1564577 h 3129153"/>
              <a:gd name="csX3" fmla="*/ 76576 w 3129153"/>
              <a:gd name="csY3" fmla="*/ 1081096 h 3129153"/>
            </a:gdLst>
            <a:ahLst/>
            <a:cxnLst>
              <a:cxn ang="0">
                <a:pos x="csX0" y="csY0"/>
              </a:cxn>
              <a:cxn ang="0">
                <a:pos x="csX1" y="csY1"/>
              </a:cxn>
              <a:cxn ang="0">
                <a:pos x="csX2" y="csY2"/>
              </a:cxn>
              <a:cxn ang="0">
                <a:pos x="csX3" y="csY3"/>
              </a:cxn>
            </a:cxnLst>
            <a:rect l="l" t="t" r="r" b="b"/>
            <a:pathLst>
              <a:path w="3129153" h="3129153">
                <a:moveTo>
                  <a:pt x="76576" y="1081096"/>
                </a:moveTo>
                <a:cubicBezTo>
                  <a:pt x="286033" y="436455"/>
                  <a:pt x="886761" y="0"/>
                  <a:pt x="1564577" y="0"/>
                </a:cubicBezTo>
                <a:lnTo>
                  <a:pt x="1564577" y="1564577"/>
                </a:lnTo>
                <a:lnTo>
                  <a:pt x="76576" y="1081096"/>
                </a:lnTo>
                <a:close/>
              </a:path>
            </a:pathLst>
          </a:custGeom>
          <a:noFill/>
          <a:ln w="38100">
            <a:solidFill>
              <a:srgbClr val="BD111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504949" tIns="539966" rIns="1646345" bIns="1946595"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Montserrat" pitchFamily="2" charset="77"/>
              </a:rPr>
              <a:t>Engine sound</a:t>
            </a:r>
          </a:p>
        </p:txBody>
      </p:sp>
      <p:sp>
        <p:nvSpPr>
          <p:cNvPr id="19" name="Oval 18">
            <a:extLst>
              <a:ext uri="{FF2B5EF4-FFF2-40B4-BE49-F238E27FC236}">
                <a16:creationId xmlns:a16="http://schemas.microsoft.com/office/drawing/2014/main" id="{5EEC7980-00E5-ADF5-B3AB-5E82DD4B9976}"/>
              </a:ext>
            </a:extLst>
          </p:cNvPr>
          <p:cNvSpPr/>
          <p:nvPr/>
        </p:nvSpPr>
        <p:spPr>
          <a:xfrm>
            <a:off x="1569718" y="2597453"/>
            <a:ext cx="3566160" cy="3566160"/>
          </a:xfrm>
          <a:prstGeom prst="ellipse">
            <a:avLst/>
          </a:prstGeom>
          <a:noFill/>
          <a:ln w="38100">
            <a:solidFill>
              <a:srgbClr val="BD11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itchFamily="2" charset="77"/>
            </a:endParaRPr>
          </a:p>
        </p:txBody>
      </p:sp>
      <p:sp>
        <p:nvSpPr>
          <p:cNvPr id="20" name="Freeform 19">
            <a:extLst>
              <a:ext uri="{FF2B5EF4-FFF2-40B4-BE49-F238E27FC236}">
                <a16:creationId xmlns:a16="http://schemas.microsoft.com/office/drawing/2014/main" id="{6BEA1BD9-6C7B-C931-B084-BEBF7E4739D9}"/>
              </a:ext>
            </a:extLst>
          </p:cNvPr>
          <p:cNvSpPr/>
          <p:nvPr/>
        </p:nvSpPr>
        <p:spPr>
          <a:xfrm>
            <a:off x="7318583" y="2758041"/>
            <a:ext cx="3129153" cy="3129153"/>
          </a:xfrm>
          <a:custGeom>
            <a:avLst/>
            <a:gdLst>
              <a:gd name="csX0" fmla="*/ 1564576 w 3129153"/>
              <a:gd name="csY0" fmla="*/ 0 h 3129153"/>
              <a:gd name="csX1" fmla="*/ 3052577 w 3129153"/>
              <a:gd name="csY1" fmla="*/ 1081096 h 3129153"/>
              <a:gd name="csX2" fmla="*/ 1564577 w 3129153"/>
              <a:gd name="csY2" fmla="*/ 1564577 h 3129153"/>
              <a:gd name="csX3" fmla="*/ 1564576 w 3129153"/>
              <a:gd name="csY3" fmla="*/ 0 h 3129153"/>
            </a:gdLst>
            <a:ahLst/>
            <a:cxnLst>
              <a:cxn ang="0">
                <a:pos x="csX0" y="csY0"/>
              </a:cxn>
              <a:cxn ang="0">
                <a:pos x="csX1" y="csY1"/>
              </a:cxn>
              <a:cxn ang="0">
                <a:pos x="csX2" y="csY2"/>
              </a:cxn>
              <a:cxn ang="0">
                <a:pos x="csX3" y="csY3"/>
              </a:cxn>
            </a:cxnLst>
            <a:rect l="l" t="t" r="r" b="b"/>
            <a:pathLst>
              <a:path w="3129153" h="3129153">
                <a:moveTo>
                  <a:pt x="1564576" y="0"/>
                </a:moveTo>
                <a:cubicBezTo>
                  <a:pt x="2242392" y="0"/>
                  <a:pt x="2843121" y="436455"/>
                  <a:pt x="3052577" y="1081096"/>
                </a:cubicBezTo>
                <a:lnTo>
                  <a:pt x="1564577" y="1564577"/>
                </a:lnTo>
                <a:cubicBezTo>
                  <a:pt x="1564577" y="1043051"/>
                  <a:pt x="1564576" y="521526"/>
                  <a:pt x="1564576" y="0"/>
                </a:cubicBezTo>
                <a:close/>
              </a:path>
            </a:pathLst>
          </a:custGeom>
          <a:noFill/>
          <a:ln w="38100">
            <a:solidFill>
              <a:srgbClr val="008C45"/>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646345" tIns="539966" rIns="504949" bIns="1946595"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Montserrat" pitchFamily="2" charset="77"/>
              </a:rPr>
              <a:t>Instant torque available to all</a:t>
            </a:r>
          </a:p>
        </p:txBody>
      </p:sp>
      <p:sp>
        <p:nvSpPr>
          <p:cNvPr id="21" name="Freeform 20">
            <a:extLst>
              <a:ext uri="{FF2B5EF4-FFF2-40B4-BE49-F238E27FC236}">
                <a16:creationId xmlns:a16="http://schemas.microsoft.com/office/drawing/2014/main" id="{A0E99922-44DF-5C9C-3B10-A3386AD945C4}"/>
              </a:ext>
            </a:extLst>
          </p:cNvPr>
          <p:cNvSpPr/>
          <p:nvPr/>
        </p:nvSpPr>
        <p:spPr>
          <a:xfrm>
            <a:off x="7345405" y="2841485"/>
            <a:ext cx="3129153" cy="3129153"/>
          </a:xfrm>
          <a:custGeom>
            <a:avLst/>
            <a:gdLst>
              <a:gd name="csX0" fmla="*/ 3052577 w 3129153"/>
              <a:gd name="csY0" fmla="*/ 1081096 h 3129153"/>
              <a:gd name="csX1" fmla="*/ 2484211 w 3129153"/>
              <a:gd name="csY1" fmla="*/ 2830346 h 3129153"/>
              <a:gd name="csX2" fmla="*/ 1564577 w 3129153"/>
              <a:gd name="csY2" fmla="*/ 1564577 h 3129153"/>
              <a:gd name="csX3" fmla="*/ 3052577 w 3129153"/>
              <a:gd name="csY3" fmla="*/ 1081096 h 3129153"/>
            </a:gdLst>
            <a:ahLst/>
            <a:cxnLst>
              <a:cxn ang="0">
                <a:pos x="csX0" y="csY0"/>
              </a:cxn>
              <a:cxn ang="0">
                <a:pos x="csX1" y="csY1"/>
              </a:cxn>
              <a:cxn ang="0">
                <a:pos x="csX2" y="csY2"/>
              </a:cxn>
              <a:cxn ang="0">
                <a:pos x="csX3" y="csY3"/>
              </a:cxn>
            </a:cxnLst>
            <a:rect l="l" t="t" r="r" b="b"/>
            <a:pathLst>
              <a:path w="3129153" h="3129153">
                <a:moveTo>
                  <a:pt x="3052577" y="1081096"/>
                </a:moveTo>
                <a:cubicBezTo>
                  <a:pt x="3262034" y="1725737"/>
                  <a:pt x="3032576" y="2431936"/>
                  <a:pt x="2484211" y="2830346"/>
                </a:cubicBezTo>
                <a:lnTo>
                  <a:pt x="1564577" y="1564577"/>
                </a:lnTo>
                <a:lnTo>
                  <a:pt x="3052577" y="1081096"/>
                </a:lnTo>
                <a:close/>
              </a:path>
            </a:pathLst>
          </a:custGeom>
          <a:noFill/>
          <a:ln w="38100">
            <a:solidFill>
              <a:srgbClr val="008C45"/>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029294" tIns="1443696" rIns="196504" bIns="968361" numCol="1" spcCol="1270" anchor="ctr" anchorCtr="0">
            <a:noAutofit/>
          </a:bodyPr>
          <a:lstStyle/>
          <a:p>
            <a:pPr marL="0" lvl="0" indent="0" algn="ctr" defTabSz="488950">
              <a:lnSpc>
                <a:spcPct val="90000"/>
              </a:lnSpc>
              <a:spcBef>
                <a:spcPct val="0"/>
              </a:spcBef>
              <a:spcAft>
                <a:spcPct val="35000"/>
              </a:spcAft>
              <a:buNone/>
            </a:pPr>
            <a:r>
              <a:rPr lang="en-US" sz="1100" dirty="0" err="1">
                <a:latin typeface="Montserrat" pitchFamily="2" charset="77"/>
              </a:rPr>
              <a:t>Commodi-tized</a:t>
            </a:r>
            <a:r>
              <a:rPr lang="en-US" sz="1100" dirty="0">
                <a:latin typeface="Montserrat" pitchFamily="2" charset="77"/>
              </a:rPr>
              <a:t> m</a:t>
            </a:r>
            <a:r>
              <a:rPr lang="en-US" sz="1100" kern="1200" dirty="0">
                <a:latin typeface="Montserrat" pitchFamily="2" charset="77"/>
              </a:rPr>
              <a:t>etrics</a:t>
            </a:r>
          </a:p>
        </p:txBody>
      </p:sp>
      <p:sp>
        <p:nvSpPr>
          <p:cNvPr id="22" name="Freeform 21">
            <a:extLst>
              <a:ext uri="{FF2B5EF4-FFF2-40B4-BE49-F238E27FC236}">
                <a16:creationId xmlns:a16="http://schemas.microsoft.com/office/drawing/2014/main" id="{91DFDD32-6BDB-E452-EBF0-D34760278A70}"/>
              </a:ext>
            </a:extLst>
          </p:cNvPr>
          <p:cNvSpPr/>
          <p:nvPr/>
        </p:nvSpPr>
        <p:spPr>
          <a:xfrm>
            <a:off x="7274626" y="2892893"/>
            <a:ext cx="3129153" cy="3129153"/>
          </a:xfrm>
          <a:custGeom>
            <a:avLst/>
            <a:gdLst>
              <a:gd name="csX0" fmla="*/ 2484211 w 3129153"/>
              <a:gd name="csY0" fmla="*/ 2830345 h 3129153"/>
              <a:gd name="csX1" fmla="*/ 644940 w 3129153"/>
              <a:gd name="csY1" fmla="*/ 2830345 h 3129153"/>
              <a:gd name="csX2" fmla="*/ 1564577 w 3129153"/>
              <a:gd name="csY2" fmla="*/ 1564577 h 3129153"/>
              <a:gd name="csX3" fmla="*/ 2484211 w 3129153"/>
              <a:gd name="csY3" fmla="*/ 2830345 h 3129153"/>
            </a:gdLst>
            <a:ahLst/>
            <a:cxnLst>
              <a:cxn ang="0">
                <a:pos x="csX0" y="csY0"/>
              </a:cxn>
              <a:cxn ang="0">
                <a:pos x="csX1" y="csY1"/>
              </a:cxn>
              <a:cxn ang="0">
                <a:pos x="csX2" y="csY2"/>
              </a:cxn>
              <a:cxn ang="0">
                <a:pos x="csX3" y="csY3"/>
              </a:cxn>
            </a:cxnLst>
            <a:rect l="l" t="t" r="r" b="b"/>
            <a:pathLst>
              <a:path w="3129153" h="3129153">
                <a:moveTo>
                  <a:pt x="2484211" y="2830345"/>
                </a:moveTo>
                <a:cubicBezTo>
                  <a:pt x="1935846" y="3228755"/>
                  <a:pt x="1193305" y="3228755"/>
                  <a:pt x="644940" y="2830345"/>
                </a:cubicBezTo>
                <a:lnTo>
                  <a:pt x="1564577" y="1564577"/>
                </a:lnTo>
                <a:lnTo>
                  <a:pt x="2484211" y="2830345"/>
                </a:lnTo>
                <a:close/>
              </a:path>
            </a:pathLst>
          </a:custGeom>
          <a:noFill/>
          <a:ln w="38100">
            <a:solidFill>
              <a:srgbClr val="008C45"/>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131525" tIns="2211828" rIns="1131525" bIns="125725"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Montserrat" pitchFamily="2" charset="77"/>
              </a:rPr>
              <a:t>Externally-sourced battery technology</a:t>
            </a:r>
          </a:p>
        </p:txBody>
      </p:sp>
      <p:sp>
        <p:nvSpPr>
          <p:cNvPr id="23" name="Freeform 22">
            <a:extLst>
              <a:ext uri="{FF2B5EF4-FFF2-40B4-BE49-F238E27FC236}">
                <a16:creationId xmlns:a16="http://schemas.microsoft.com/office/drawing/2014/main" id="{C9C96DB6-902B-1C5E-9A30-974002320C08}"/>
              </a:ext>
            </a:extLst>
          </p:cNvPr>
          <p:cNvSpPr/>
          <p:nvPr/>
        </p:nvSpPr>
        <p:spPr>
          <a:xfrm>
            <a:off x="7203848" y="2841485"/>
            <a:ext cx="3129153" cy="3129153"/>
          </a:xfrm>
          <a:custGeom>
            <a:avLst/>
            <a:gdLst>
              <a:gd name="csX0" fmla="*/ 644942 w 3129153"/>
              <a:gd name="csY0" fmla="*/ 2830345 h 3129153"/>
              <a:gd name="csX1" fmla="*/ 76576 w 3129153"/>
              <a:gd name="csY1" fmla="*/ 1081095 h 3129153"/>
              <a:gd name="csX2" fmla="*/ 1564577 w 3129153"/>
              <a:gd name="csY2" fmla="*/ 1564577 h 3129153"/>
              <a:gd name="csX3" fmla="*/ 644942 w 3129153"/>
              <a:gd name="csY3" fmla="*/ 2830345 h 3129153"/>
            </a:gdLst>
            <a:ahLst/>
            <a:cxnLst>
              <a:cxn ang="0">
                <a:pos x="csX0" y="csY0"/>
              </a:cxn>
              <a:cxn ang="0">
                <a:pos x="csX1" y="csY1"/>
              </a:cxn>
              <a:cxn ang="0">
                <a:pos x="csX2" y="csY2"/>
              </a:cxn>
              <a:cxn ang="0">
                <a:pos x="csX3" y="csY3"/>
              </a:cxn>
            </a:cxnLst>
            <a:rect l="l" t="t" r="r" b="b"/>
            <a:pathLst>
              <a:path w="3129153" h="3129153">
                <a:moveTo>
                  <a:pt x="644942" y="2830345"/>
                </a:moveTo>
                <a:cubicBezTo>
                  <a:pt x="96577" y="2431935"/>
                  <a:pt x="-132880" y="1725736"/>
                  <a:pt x="76576" y="1081095"/>
                </a:cubicBezTo>
                <a:lnTo>
                  <a:pt x="1564577" y="1564577"/>
                </a:lnTo>
                <a:lnTo>
                  <a:pt x="644942" y="2830345"/>
                </a:lnTo>
                <a:close/>
              </a:path>
            </a:pathLst>
          </a:custGeom>
          <a:noFill/>
          <a:ln w="38100">
            <a:solidFill>
              <a:srgbClr val="008C45"/>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96504" tIns="1443696" rIns="2029294" bIns="968361"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Montserrat" pitchFamily="2" charset="77"/>
              </a:rPr>
              <a:t>Regulatory-driven adoption</a:t>
            </a:r>
          </a:p>
        </p:txBody>
      </p:sp>
      <p:sp>
        <p:nvSpPr>
          <p:cNvPr id="24" name="Freeform 23">
            <a:extLst>
              <a:ext uri="{FF2B5EF4-FFF2-40B4-BE49-F238E27FC236}">
                <a16:creationId xmlns:a16="http://schemas.microsoft.com/office/drawing/2014/main" id="{1D601C0E-9944-E0A0-9990-50DBA3009873}"/>
              </a:ext>
            </a:extLst>
          </p:cNvPr>
          <p:cNvSpPr/>
          <p:nvPr/>
        </p:nvSpPr>
        <p:spPr>
          <a:xfrm>
            <a:off x="7230669" y="2758041"/>
            <a:ext cx="3129153" cy="3129153"/>
          </a:xfrm>
          <a:custGeom>
            <a:avLst/>
            <a:gdLst>
              <a:gd name="csX0" fmla="*/ 76576 w 3129153"/>
              <a:gd name="csY0" fmla="*/ 1081096 h 3129153"/>
              <a:gd name="csX1" fmla="*/ 1564577 w 3129153"/>
              <a:gd name="csY1" fmla="*/ 0 h 3129153"/>
              <a:gd name="csX2" fmla="*/ 1564577 w 3129153"/>
              <a:gd name="csY2" fmla="*/ 1564577 h 3129153"/>
              <a:gd name="csX3" fmla="*/ 76576 w 3129153"/>
              <a:gd name="csY3" fmla="*/ 1081096 h 3129153"/>
            </a:gdLst>
            <a:ahLst/>
            <a:cxnLst>
              <a:cxn ang="0">
                <a:pos x="csX0" y="csY0"/>
              </a:cxn>
              <a:cxn ang="0">
                <a:pos x="csX1" y="csY1"/>
              </a:cxn>
              <a:cxn ang="0">
                <a:pos x="csX2" y="csY2"/>
              </a:cxn>
              <a:cxn ang="0">
                <a:pos x="csX3" y="csY3"/>
              </a:cxn>
            </a:cxnLst>
            <a:rect l="l" t="t" r="r" b="b"/>
            <a:pathLst>
              <a:path w="3129153" h="3129153">
                <a:moveTo>
                  <a:pt x="76576" y="1081096"/>
                </a:moveTo>
                <a:cubicBezTo>
                  <a:pt x="286033" y="436455"/>
                  <a:pt x="886761" y="0"/>
                  <a:pt x="1564577" y="0"/>
                </a:cubicBezTo>
                <a:lnTo>
                  <a:pt x="1564577" y="1564577"/>
                </a:lnTo>
                <a:lnTo>
                  <a:pt x="76576" y="1081096"/>
                </a:lnTo>
                <a:close/>
              </a:path>
            </a:pathLst>
          </a:custGeom>
          <a:noFill/>
          <a:ln w="38100">
            <a:solidFill>
              <a:srgbClr val="008C45"/>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504949" tIns="539966" rIns="1646345" bIns="1946595"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Montserrat" pitchFamily="2" charset="77"/>
              </a:rPr>
              <a:t>Soundless drivetrains</a:t>
            </a:r>
          </a:p>
        </p:txBody>
      </p:sp>
      <p:sp>
        <p:nvSpPr>
          <p:cNvPr id="25" name="Oval 24">
            <a:extLst>
              <a:ext uri="{FF2B5EF4-FFF2-40B4-BE49-F238E27FC236}">
                <a16:creationId xmlns:a16="http://schemas.microsoft.com/office/drawing/2014/main" id="{82BC0A4C-74DA-A32D-D983-CDBF918E2D32}"/>
              </a:ext>
            </a:extLst>
          </p:cNvPr>
          <p:cNvSpPr/>
          <p:nvPr/>
        </p:nvSpPr>
        <p:spPr>
          <a:xfrm>
            <a:off x="7056122" y="2597453"/>
            <a:ext cx="3566160" cy="3566160"/>
          </a:xfrm>
          <a:prstGeom prst="ellipse">
            <a:avLst/>
          </a:prstGeom>
          <a:noFill/>
          <a:ln w="38100">
            <a:solidFill>
              <a:srgbClr val="008C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itchFamily="2" charset="77"/>
            </a:endParaRPr>
          </a:p>
        </p:txBody>
      </p:sp>
      <p:sp>
        <p:nvSpPr>
          <p:cNvPr id="26" name="TextBox 25">
            <a:extLst>
              <a:ext uri="{FF2B5EF4-FFF2-40B4-BE49-F238E27FC236}">
                <a16:creationId xmlns:a16="http://schemas.microsoft.com/office/drawing/2014/main" id="{6AAE9757-DAC6-82D4-0BC2-7C0A00BC90A9}"/>
              </a:ext>
            </a:extLst>
          </p:cNvPr>
          <p:cNvSpPr txBox="1"/>
          <p:nvPr/>
        </p:nvSpPr>
        <p:spPr>
          <a:xfrm>
            <a:off x="609598" y="2174314"/>
            <a:ext cx="5486402" cy="307777"/>
          </a:xfrm>
          <a:prstGeom prst="rect">
            <a:avLst/>
          </a:prstGeom>
          <a:noFill/>
        </p:spPr>
        <p:txBody>
          <a:bodyPr wrap="square" lIns="0" tIns="45720" rIns="0" bIns="45720" rtlCol="0" anchor="t">
            <a:spAutoFit/>
          </a:bodyPr>
          <a:lstStyle/>
          <a:p>
            <a:r>
              <a:rPr lang="en-US" sz="1400" b="1" dirty="0">
                <a:solidFill>
                  <a:schemeClr val="bg1"/>
                </a:solidFill>
                <a:latin typeface="Montserrat" pitchFamily="2" charset="77"/>
              </a:rPr>
              <a:t>Ferrari’s Historical Differentiation </a:t>
            </a:r>
            <a:endParaRPr lang="en-US" sz="1400" b="1" baseline="30000" dirty="0">
              <a:solidFill>
                <a:schemeClr val="bg1"/>
              </a:solidFill>
              <a:latin typeface="Montserrat" pitchFamily="2" charset="77"/>
            </a:endParaRPr>
          </a:p>
        </p:txBody>
      </p:sp>
      <p:sp>
        <p:nvSpPr>
          <p:cNvPr id="27" name="TextBox 26">
            <a:extLst>
              <a:ext uri="{FF2B5EF4-FFF2-40B4-BE49-F238E27FC236}">
                <a16:creationId xmlns:a16="http://schemas.microsoft.com/office/drawing/2014/main" id="{52DE5B83-F186-E5BA-63AA-F5E4003A30DD}"/>
              </a:ext>
            </a:extLst>
          </p:cNvPr>
          <p:cNvSpPr txBox="1"/>
          <p:nvPr/>
        </p:nvSpPr>
        <p:spPr>
          <a:xfrm>
            <a:off x="6096000" y="2168242"/>
            <a:ext cx="5215590" cy="307777"/>
          </a:xfrm>
          <a:prstGeom prst="rect">
            <a:avLst/>
          </a:prstGeom>
          <a:noFill/>
        </p:spPr>
        <p:txBody>
          <a:bodyPr wrap="square" lIns="0" tIns="45720" rIns="0" bIns="45720" rtlCol="0" anchor="t">
            <a:spAutoFit/>
          </a:bodyPr>
          <a:lstStyle/>
          <a:p>
            <a:r>
              <a:rPr lang="en-US" sz="1400" b="1" dirty="0">
                <a:solidFill>
                  <a:schemeClr val="bg1"/>
                </a:solidFill>
                <a:latin typeface="Montserrat" pitchFamily="2" charset="77"/>
              </a:rPr>
              <a:t>BEV Standardization Risk</a:t>
            </a:r>
            <a:endParaRPr lang="en-US" sz="1400" b="1" baseline="30000" dirty="0">
              <a:solidFill>
                <a:schemeClr val="bg1"/>
              </a:solidFill>
              <a:latin typeface="Montserrat" pitchFamily="2" charset="77"/>
            </a:endParaRPr>
          </a:p>
        </p:txBody>
      </p:sp>
      <p:sp>
        <p:nvSpPr>
          <p:cNvPr id="28" name="Slide Number Placeholder 27">
            <a:extLst>
              <a:ext uri="{FF2B5EF4-FFF2-40B4-BE49-F238E27FC236}">
                <a16:creationId xmlns:a16="http://schemas.microsoft.com/office/drawing/2014/main" id="{A2C8A770-35C3-CF78-17D2-34444B43CE29}"/>
              </a:ext>
            </a:extLst>
          </p:cNvPr>
          <p:cNvSpPr>
            <a:spLocks noGrp="1"/>
          </p:cNvSpPr>
          <p:nvPr>
            <p:ph type="sldNum" sz="quarter" idx="12"/>
          </p:nvPr>
        </p:nvSpPr>
        <p:spPr/>
        <p:txBody>
          <a:bodyPr/>
          <a:lstStyle/>
          <a:p>
            <a:fld id="{5780461E-0DE5-ED4D-97A3-62EC4F103ED2}" type="slidenum">
              <a:rPr lang="en-US" smtClean="0"/>
              <a:t>7</a:t>
            </a:fld>
            <a:endParaRPr lang="en-US"/>
          </a:p>
        </p:txBody>
      </p:sp>
    </p:spTree>
    <p:extLst>
      <p:ext uri="{BB962C8B-B14F-4D97-AF65-F5344CB8AC3E}">
        <p14:creationId xmlns:p14="http://schemas.microsoft.com/office/powerpoint/2010/main" val="266860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heel(1)">
                                      <p:cBhvr>
                                        <p:cTn id="27" dur="20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1" presetClass="entr" presetSubtype="1"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heel(1)">
                                      <p:cBhvr>
                                        <p:cTn id="52" dur="2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9" grpId="0" animBg="1"/>
      <p:bldP spid="20" grpId="0" animBg="1"/>
      <p:bldP spid="21" grpId="0" animBg="1"/>
      <p:bldP spid="22" grpId="0" animBg="1"/>
      <p:bldP spid="23" grpId="0" animBg="1"/>
      <p:bldP spid="24" grpId="0" animBg="1"/>
      <p:bldP spid="2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1A2EAE5-7515-5D62-E20E-25DB294D976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CC752C0-41F5-ECF4-30D4-35C115E0499E}"/>
              </a:ext>
            </a:extLst>
          </p:cNvPr>
          <p:cNvSpPr txBox="1"/>
          <p:nvPr/>
        </p:nvSpPr>
        <p:spPr>
          <a:xfrm>
            <a:off x="609600" y="682109"/>
            <a:ext cx="10972800" cy="646331"/>
          </a:xfrm>
          <a:prstGeom prst="rect">
            <a:avLst/>
          </a:prstGeom>
          <a:noFill/>
        </p:spPr>
        <p:txBody>
          <a:bodyPr wrap="square" lIns="0" tIns="45720" rIns="0" bIns="45720" rtlCol="0" anchor="t">
            <a:spAutoFit/>
          </a:bodyPr>
          <a:lstStyle/>
          <a:p>
            <a:r>
              <a:rPr lang="en-US" sz="3600" b="1" dirty="0">
                <a:solidFill>
                  <a:schemeClr val="bg1"/>
                </a:solidFill>
                <a:latin typeface="Montserrat" pitchFamily="2" charset="77"/>
              </a:rPr>
              <a:t>Valuation Framework</a:t>
            </a:r>
          </a:p>
        </p:txBody>
      </p:sp>
      <p:sp>
        <p:nvSpPr>
          <p:cNvPr id="4" name="TextBox 3">
            <a:extLst>
              <a:ext uri="{FF2B5EF4-FFF2-40B4-BE49-F238E27FC236}">
                <a16:creationId xmlns:a16="http://schemas.microsoft.com/office/drawing/2014/main" id="{E18C2050-2C1F-69F5-E29E-CDC3F47E9CB5}"/>
              </a:ext>
            </a:extLst>
          </p:cNvPr>
          <p:cNvSpPr txBox="1"/>
          <p:nvPr/>
        </p:nvSpPr>
        <p:spPr>
          <a:xfrm>
            <a:off x="609598" y="1524100"/>
            <a:ext cx="10744202" cy="400110"/>
          </a:xfrm>
          <a:prstGeom prst="rect">
            <a:avLst/>
          </a:prstGeom>
          <a:noFill/>
        </p:spPr>
        <p:txBody>
          <a:bodyPr wrap="square" lIns="0" tIns="45720" rIns="0" bIns="45720" rtlCol="0" anchor="t">
            <a:spAutoFit/>
          </a:bodyPr>
          <a:lstStyle/>
          <a:p>
            <a:r>
              <a:rPr lang="en-US" sz="2000" dirty="0">
                <a:solidFill>
                  <a:schemeClr val="bg1"/>
                </a:solidFill>
                <a:latin typeface="Montserrat" pitchFamily="2" charset="77"/>
              </a:rPr>
              <a:t>DCF model based on 2015-2025 financials, projected through 2035</a:t>
            </a:r>
          </a:p>
        </p:txBody>
      </p:sp>
      <p:graphicFrame>
        <p:nvGraphicFramePr>
          <p:cNvPr id="10" name="Table 9">
            <a:extLst>
              <a:ext uri="{FF2B5EF4-FFF2-40B4-BE49-F238E27FC236}">
                <a16:creationId xmlns:a16="http://schemas.microsoft.com/office/drawing/2014/main" id="{48C0D002-8ECE-41CC-0202-BA4AAA525E6C}"/>
              </a:ext>
            </a:extLst>
          </p:cNvPr>
          <p:cNvGraphicFramePr>
            <a:graphicFrameLocks noGrp="1"/>
          </p:cNvGraphicFramePr>
          <p:nvPr>
            <p:extLst>
              <p:ext uri="{D42A27DB-BD31-4B8C-83A1-F6EECF244321}">
                <p14:modId xmlns:p14="http://schemas.microsoft.com/office/powerpoint/2010/main" val="3420499281"/>
              </p:ext>
            </p:extLst>
          </p:nvPr>
        </p:nvGraphicFramePr>
        <p:xfrm>
          <a:off x="609600" y="2855702"/>
          <a:ext cx="5486401" cy="1645920"/>
        </p:xfrm>
        <a:graphic>
          <a:graphicData uri="http://schemas.openxmlformats.org/drawingml/2006/table">
            <a:tbl>
              <a:tblPr firstRow="1" bandRow="1" bandCol="1">
                <a:effectLst>
                  <a:outerShdw blurRad="50800" dist="38100" dir="2700000" algn="tl" rotWithShape="0">
                    <a:prstClr val="black">
                      <a:alpha val="40000"/>
                    </a:prstClr>
                  </a:outerShdw>
                </a:effectLst>
                <a:tableStyleId>{5C22544A-7EE6-4342-B048-85BDC9FD1C3A}</a:tableStyleId>
              </a:tblPr>
              <a:tblGrid>
                <a:gridCol w="1827892">
                  <a:extLst>
                    <a:ext uri="{9D8B030D-6E8A-4147-A177-3AD203B41FA5}">
                      <a16:colId xmlns:a16="http://schemas.microsoft.com/office/drawing/2014/main" val="676909862"/>
                    </a:ext>
                  </a:extLst>
                </a:gridCol>
                <a:gridCol w="1219503">
                  <a:extLst>
                    <a:ext uri="{9D8B030D-6E8A-4147-A177-3AD203B41FA5}">
                      <a16:colId xmlns:a16="http://schemas.microsoft.com/office/drawing/2014/main" val="3251192462"/>
                    </a:ext>
                  </a:extLst>
                </a:gridCol>
                <a:gridCol w="1219503">
                  <a:extLst>
                    <a:ext uri="{9D8B030D-6E8A-4147-A177-3AD203B41FA5}">
                      <a16:colId xmlns:a16="http://schemas.microsoft.com/office/drawing/2014/main" val="2909660324"/>
                    </a:ext>
                  </a:extLst>
                </a:gridCol>
                <a:gridCol w="1219503">
                  <a:extLst>
                    <a:ext uri="{9D8B030D-6E8A-4147-A177-3AD203B41FA5}">
                      <a16:colId xmlns:a16="http://schemas.microsoft.com/office/drawing/2014/main" val="248885335"/>
                    </a:ext>
                  </a:extLst>
                </a:gridCol>
              </a:tblGrid>
              <a:tr h="182880">
                <a:tc>
                  <a:txBody>
                    <a:bodyPr/>
                    <a:lstStyle/>
                    <a:p>
                      <a:pPr algn="ctr"/>
                      <a:endParaRPr lang="en-US" sz="1200" dirty="0">
                        <a:solidFill>
                          <a:schemeClr val="bg1"/>
                        </a:solidFill>
                        <a:latin typeface="Montserrat" pitchFamily="2" charset="77"/>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1100F"/>
                    </a:solidFill>
                  </a:tcPr>
                </a:tc>
                <a:tc>
                  <a:txBody>
                    <a:bodyPr/>
                    <a:lstStyle/>
                    <a:p>
                      <a:pPr algn="ctr"/>
                      <a:r>
                        <a:rPr lang="en-US" sz="1200" dirty="0">
                          <a:solidFill>
                            <a:schemeClr val="bg1"/>
                          </a:solidFill>
                          <a:latin typeface="Montserrat" pitchFamily="2" charset="77"/>
                        </a:rPr>
                        <a:t>2026</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1100F"/>
                    </a:solidFill>
                  </a:tcPr>
                </a:tc>
                <a:tc>
                  <a:txBody>
                    <a:bodyPr/>
                    <a:lstStyle/>
                    <a:p>
                      <a:pPr algn="ctr"/>
                      <a:r>
                        <a:rPr lang="en-US" sz="1200" dirty="0">
                          <a:solidFill>
                            <a:schemeClr val="bg1"/>
                          </a:solidFill>
                          <a:latin typeface="Montserrat" pitchFamily="2" charset="77"/>
                        </a:rPr>
                        <a:t>2030</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1100F"/>
                    </a:solidFill>
                  </a:tcPr>
                </a:tc>
                <a:tc>
                  <a:txBody>
                    <a:bodyPr/>
                    <a:lstStyle/>
                    <a:p>
                      <a:pPr algn="ctr"/>
                      <a:r>
                        <a:rPr lang="en-US" sz="1200" dirty="0">
                          <a:solidFill>
                            <a:schemeClr val="bg1"/>
                          </a:solidFill>
                          <a:latin typeface="Montserrat" pitchFamily="2" charset="77"/>
                        </a:rPr>
                        <a:t>2035</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1100F"/>
                    </a:solidFill>
                  </a:tcPr>
                </a:tc>
                <a:extLst>
                  <a:ext uri="{0D108BD9-81ED-4DB2-BD59-A6C34878D82A}">
                    <a16:rowId xmlns:a16="http://schemas.microsoft.com/office/drawing/2014/main" val="2627609678"/>
                  </a:ext>
                </a:extLst>
              </a:tr>
              <a:tr h="182880">
                <a:tc>
                  <a:txBody>
                    <a:bodyPr/>
                    <a:lstStyle/>
                    <a:p>
                      <a:pPr algn="ctr"/>
                      <a:r>
                        <a:rPr lang="en-US" sz="1200" b="1" dirty="0">
                          <a:solidFill>
                            <a:schemeClr val="bg1"/>
                          </a:solidFill>
                          <a:latin typeface="Montserrat" pitchFamily="2" charset="77"/>
                        </a:rPr>
                        <a:t>Revenue Growth</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tc>
                  <a:txBody>
                    <a:bodyPr/>
                    <a:lstStyle/>
                    <a:p>
                      <a:pPr algn="ctr"/>
                      <a:r>
                        <a:rPr lang="en-US" sz="1200" dirty="0">
                          <a:solidFill>
                            <a:schemeClr val="bg1"/>
                          </a:solidFill>
                          <a:latin typeface="Montserrat" pitchFamily="2" charset="77"/>
                        </a:rPr>
                        <a:t>13.37%</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tc>
                  <a:txBody>
                    <a:bodyPr/>
                    <a:lstStyle/>
                    <a:p>
                      <a:pPr algn="ctr"/>
                      <a:r>
                        <a:rPr lang="en-US" sz="1200" dirty="0">
                          <a:solidFill>
                            <a:schemeClr val="bg1"/>
                          </a:solidFill>
                          <a:latin typeface="Montserrat" pitchFamily="2" charset="77"/>
                        </a:rPr>
                        <a:t>11.35%</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tc>
                  <a:txBody>
                    <a:bodyPr/>
                    <a:lstStyle/>
                    <a:p>
                      <a:pPr algn="ctr"/>
                      <a:r>
                        <a:rPr lang="en-US" sz="1200" dirty="0">
                          <a:solidFill>
                            <a:schemeClr val="bg1"/>
                          </a:solidFill>
                          <a:latin typeface="Montserrat" pitchFamily="2" charset="77"/>
                        </a:rPr>
                        <a:t>3.00%</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extLst>
                  <a:ext uri="{0D108BD9-81ED-4DB2-BD59-A6C34878D82A}">
                    <a16:rowId xmlns:a16="http://schemas.microsoft.com/office/drawing/2014/main" val="1039394931"/>
                  </a:ext>
                </a:extLst>
              </a:tr>
              <a:tr h="182880">
                <a:tc>
                  <a:txBody>
                    <a:bodyPr/>
                    <a:lstStyle/>
                    <a:p>
                      <a:pPr algn="ctr"/>
                      <a:r>
                        <a:rPr lang="en-US" sz="1200" b="1" dirty="0">
                          <a:solidFill>
                            <a:schemeClr val="bg1"/>
                          </a:solidFill>
                          <a:latin typeface="Montserrat" pitchFamily="2" charset="77"/>
                        </a:rPr>
                        <a:t>EBIT Margin</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a:r>
                        <a:rPr lang="en-US" sz="1200" dirty="0">
                          <a:solidFill>
                            <a:schemeClr val="bg1"/>
                          </a:solidFill>
                          <a:latin typeface="Montserrat" pitchFamily="2" charset="77"/>
                        </a:rPr>
                        <a:t>24.27%</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a:r>
                        <a:rPr lang="en-US" sz="1200" dirty="0">
                          <a:solidFill>
                            <a:schemeClr val="bg1"/>
                          </a:solidFill>
                          <a:latin typeface="Montserrat" pitchFamily="2" charset="77"/>
                        </a:rPr>
                        <a:t>23.32%</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a:r>
                        <a:rPr lang="en-US" sz="1200" dirty="0">
                          <a:solidFill>
                            <a:schemeClr val="bg1"/>
                          </a:solidFill>
                          <a:latin typeface="Montserrat" pitchFamily="2" charset="77"/>
                        </a:rPr>
                        <a:t>26.00%</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extLst>
                  <a:ext uri="{0D108BD9-81ED-4DB2-BD59-A6C34878D82A}">
                    <a16:rowId xmlns:a16="http://schemas.microsoft.com/office/drawing/2014/main" val="3698987259"/>
                  </a:ext>
                </a:extLst>
              </a:tr>
              <a:tr h="182880">
                <a:tc>
                  <a:txBody>
                    <a:bodyPr/>
                    <a:lstStyle/>
                    <a:p>
                      <a:pPr algn="ctr"/>
                      <a:r>
                        <a:rPr lang="en-US" sz="1200" b="1" dirty="0">
                          <a:solidFill>
                            <a:schemeClr val="bg1"/>
                          </a:solidFill>
                          <a:latin typeface="Montserrat" pitchFamily="2" charset="77"/>
                        </a:rPr>
                        <a:t>Tax Rate</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tc>
                  <a:txBody>
                    <a:bodyPr/>
                    <a:lstStyle/>
                    <a:p>
                      <a:pPr algn="ctr"/>
                      <a:r>
                        <a:rPr lang="en-US" sz="1200" dirty="0">
                          <a:solidFill>
                            <a:schemeClr val="bg1"/>
                          </a:solidFill>
                          <a:latin typeface="Montserrat" pitchFamily="2" charset="77"/>
                        </a:rPr>
                        <a:t>23.08%</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tc>
                  <a:txBody>
                    <a:bodyPr/>
                    <a:lstStyle/>
                    <a:p>
                      <a:pPr algn="ctr"/>
                      <a:r>
                        <a:rPr lang="en-US" sz="1200" dirty="0">
                          <a:solidFill>
                            <a:schemeClr val="bg1"/>
                          </a:solidFill>
                          <a:latin typeface="Montserrat" pitchFamily="2" charset="77"/>
                        </a:rPr>
                        <a:t>23.08%</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tc>
                  <a:txBody>
                    <a:bodyPr/>
                    <a:lstStyle/>
                    <a:p>
                      <a:pPr algn="ctr"/>
                      <a:r>
                        <a:rPr lang="en-US" sz="1200" dirty="0">
                          <a:solidFill>
                            <a:schemeClr val="bg1"/>
                          </a:solidFill>
                          <a:latin typeface="Montserrat" pitchFamily="2" charset="77"/>
                        </a:rPr>
                        <a:t>23.08%</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extLst>
                  <a:ext uri="{0D108BD9-81ED-4DB2-BD59-A6C34878D82A}">
                    <a16:rowId xmlns:a16="http://schemas.microsoft.com/office/drawing/2014/main" val="1136714935"/>
                  </a:ext>
                </a:extLst>
              </a:tr>
              <a:tr h="182880">
                <a:tc>
                  <a:txBody>
                    <a:bodyPr/>
                    <a:lstStyle/>
                    <a:p>
                      <a:pPr algn="ctr"/>
                      <a:r>
                        <a:rPr lang="en-US" sz="1200" b="1" dirty="0">
                          <a:solidFill>
                            <a:schemeClr val="bg1"/>
                          </a:solidFill>
                          <a:latin typeface="Montserrat" pitchFamily="2" charset="77"/>
                        </a:rPr>
                        <a:t>Reinvestment Rate</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a:r>
                        <a:rPr lang="en-US" sz="1200" dirty="0">
                          <a:solidFill>
                            <a:schemeClr val="bg1"/>
                          </a:solidFill>
                          <a:latin typeface="Montserrat" pitchFamily="2" charset="77"/>
                        </a:rPr>
                        <a:t>29.93%</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a:r>
                        <a:rPr lang="en-US" sz="1200" dirty="0">
                          <a:solidFill>
                            <a:schemeClr val="bg1"/>
                          </a:solidFill>
                          <a:latin typeface="Montserrat" pitchFamily="2" charset="77"/>
                        </a:rPr>
                        <a:t>27.02%</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a:r>
                        <a:rPr lang="en-US" sz="1200" dirty="0">
                          <a:solidFill>
                            <a:schemeClr val="bg1"/>
                          </a:solidFill>
                          <a:latin typeface="Montserrat" pitchFamily="2" charset="77"/>
                        </a:rPr>
                        <a:t>5.99%</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extLst>
                  <a:ext uri="{0D108BD9-81ED-4DB2-BD59-A6C34878D82A}">
                    <a16:rowId xmlns:a16="http://schemas.microsoft.com/office/drawing/2014/main" val="2548696132"/>
                  </a:ext>
                </a:extLst>
              </a:tr>
              <a:tr h="182880">
                <a:tc>
                  <a:txBody>
                    <a:bodyPr/>
                    <a:lstStyle/>
                    <a:p>
                      <a:pPr algn="ctr"/>
                      <a:r>
                        <a:rPr lang="en-US" sz="1200" b="1" dirty="0">
                          <a:solidFill>
                            <a:schemeClr val="bg1"/>
                          </a:solidFill>
                          <a:latin typeface="Montserrat" pitchFamily="2" charset="77"/>
                        </a:rPr>
                        <a:t>ROIC</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tc>
                  <a:txBody>
                    <a:bodyPr/>
                    <a:lstStyle/>
                    <a:p>
                      <a:pPr algn="ctr"/>
                      <a:r>
                        <a:rPr lang="en-US" sz="1200">
                          <a:solidFill>
                            <a:schemeClr val="bg1"/>
                          </a:solidFill>
                          <a:latin typeface="Montserrat" pitchFamily="2" charset="77"/>
                        </a:rPr>
                        <a:t>44.67%</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tc>
                  <a:txBody>
                    <a:bodyPr/>
                    <a:lstStyle/>
                    <a:p>
                      <a:pPr algn="ctr"/>
                      <a:r>
                        <a:rPr lang="en-US" sz="1200" dirty="0">
                          <a:solidFill>
                            <a:schemeClr val="bg1"/>
                          </a:solidFill>
                          <a:latin typeface="Montserrat" pitchFamily="2" charset="77"/>
                        </a:rPr>
                        <a:t>42.01%</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tc>
                  <a:txBody>
                    <a:bodyPr/>
                    <a:lstStyle/>
                    <a:p>
                      <a:pPr algn="ctr"/>
                      <a:r>
                        <a:rPr lang="en-US" sz="1200" dirty="0">
                          <a:solidFill>
                            <a:schemeClr val="bg1"/>
                          </a:solidFill>
                          <a:latin typeface="Montserrat" pitchFamily="2" charset="77"/>
                        </a:rPr>
                        <a:t>50.12%</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extLst>
                  <a:ext uri="{0D108BD9-81ED-4DB2-BD59-A6C34878D82A}">
                    <a16:rowId xmlns:a16="http://schemas.microsoft.com/office/drawing/2014/main" val="534948742"/>
                  </a:ext>
                </a:extLst>
              </a:tr>
            </a:tbl>
          </a:graphicData>
        </a:graphic>
      </p:graphicFrame>
      <p:sp>
        <p:nvSpPr>
          <p:cNvPr id="7" name="TextBox 6">
            <a:extLst>
              <a:ext uri="{FF2B5EF4-FFF2-40B4-BE49-F238E27FC236}">
                <a16:creationId xmlns:a16="http://schemas.microsoft.com/office/drawing/2014/main" id="{8A30DCF0-6EF1-72A6-692C-A3A4377012B1}"/>
              </a:ext>
            </a:extLst>
          </p:cNvPr>
          <p:cNvSpPr txBox="1"/>
          <p:nvPr/>
        </p:nvSpPr>
        <p:spPr>
          <a:xfrm>
            <a:off x="609598" y="2347988"/>
            <a:ext cx="4554614" cy="307777"/>
          </a:xfrm>
          <a:prstGeom prst="rect">
            <a:avLst/>
          </a:prstGeom>
          <a:noFill/>
        </p:spPr>
        <p:txBody>
          <a:bodyPr wrap="square" lIns="0" rtlCol="0">
            <a:spAutoFit/>
          </a:bodyPr>
          <a:lstStyle/>
          <a:p>
            <a:r>
              <a:rPr lang="en-US" sz="1400" b="1" dirty="0">
                <a:solidFill>
                  <a:schemeClr val="bg1"/>
                </a:solidFill>
                <a:latin typeface="Montserrat" pitchFamily="2" charset="77"/>
              </a:rPr>
              <a:t>Key Operating Assumptions</a:t>
            </a:r>
          </a:p>
        </p:txBody>
      </p:sp>
      <p:sp>
        <p:nvSpPr>
          <p:cNvPr id="13" name="TextBox 12">
            <a:extLst>
              <a:ext uri="{FF2B5EF4-FFF2-40B4-BE49-F238E27FC236}">
                <a16:creationId xmlns:a16="http://schemas.microsoft.com/office/drawing/2014/main" id="{1F27ACF6-CCA1-5B7A-C376-4870AE2682C9}"/>
              </a:ext>
            </a:extLst>
          </p:cNvPr>
          <p:cNvSpPr txBox="1"/>
          <p:nvPr/>
        </p:nvSpPr>
        <p:spPr>
          <a:xfrm>
            <a:off x="7640900" y="2347988"/>
            <a:ext cx="3937000" cy="307777"/>
          </a:xfrm>
          <a:prstGeom prst="rect">
            <a:avLst/>
          </a:prstGeom>
          <a:noFill/>
        </p:spPr>
        <p:txBody>
          <a:bodyPr wrap="square" lIns="0" rtlCol="0">
            <a:spAutoFit/>
          </a:bodyPr>
          <a:lstStyle/>
          <a:p>
            <a:r>
              <a:rPr lang="en-US" sz="1400" b="1" dirty="0">
                <a:solidFill>
                  <a:schemeClr val="bg1"/>
                </a:solidFill>
                <a:latin typeface="Montserrat" pitchFamily="2" charset="77"/>
              </a:rPr>
              <a:t>WACC Calculation</a:t>
            </a:r>
          </a:p>
        </p:txBody>
      </p:sp>
      <p:graphicFrame>
        <p:nvGraphicFramePr>
          <p:cNvPr id="14" name="Table 13">
            <a:extLst>
              <a:ext uri="{FF2B5EF4-FFF2-40B4-BE49-F238E27FC236}">
                <a16:creationId xmlns:a16="http://schemas.microsoft.com/office/drawing/2014/main" id="{0400C739-2816-E0FC-D3ED-B36723E51E7D}"/>
              </a:ext>
            </a:extLst>
          </p:cNvPr>
          <p:cNvGraphicFramePr>
            <a:graphicFrameLocks noGrp="1"/>
          </p:cNvGraphicFramePr>
          <p:nvPr>
            <p:extLst>
              <p:ext uri="{D42A27DB-BD31-4B8C-83A1-F6EECF244321}">
                <p14:modId xmlns:p14="http://schemas.microsoft.com/office/powerpoint/2010/main" val="3863830969"/>
              </p:ext>
            </p:extLst>
          </p:nvPr>
        </p:nvGraphicFramePr>
        <p:xfrm>
          <a:off x="7640900" y="2855702"/>
          <a:ext cx="3937000" cy="3291840"/>
        </p:xfrm>
        <a:graphic>
          <a:graphicData uri="http://schemas.openxmlformats.org/drawingml/2006/table">
            <a:tbl>
              <a:tblPr firstRow="1" bandRow="1">
                <a:tableStyleId>{5C22544A-7EE6-4342-B048-85BDC9FD1C3A}</a:tableStyleId>
              </a:tblPr>
              <a:tblGrid>
                <a:gridCol w="2346881">
                  <a:extLst>
                    <a:ext uri="{9D8B030D-6E8A-4147-A177-3AD203B41FA5}">
                      <a16:colId xmlns:a16="http://schemas.microsoft.com/office/drawing/2014/main" val="2269156936"/>
                    </a:ext>
                  </a:extLst>
                </a:gridCol>
                <a:gridCol w="1590119">
                  <a:extLst>
                    <a:ext uri="{9D8B030D-6E8A-4147-A177-3AD203B41FA5}">
                      <a16:colId xmlns:a16="http://schemas.microsoft.com/office/drawing/2014/main" val="388504203"/>
                    </a:ext>
                  </a:extLst>
                </a:gridCol>
              </a:tblGrid>
              <a:tr h="225575">
                <a:tc>
                  <a:txBody>
                    <a:bodyPr/>
                    <a:lstStyle/>
                    <a:p>
                      <a:pPr algn="l"/>
                      <a:r>
                        <a:rPr lang="en-US" sz="1200" b="0" dirty="0">
                          <a:ln>
                            <a:noFill/>
                          </a:ln>
                          <a:solidFill>
                            <a:schemeClr val="bg1"/>
                          </a:solidFill>
                          <a:latin typeface="Montserrat" pitchFamily="2" charset="77"/>
                        </a:rPr>
                        <a:t>Market Value of Equity</a:t>
                      </a:r>
                    </a:p>
                  </a:txBody>
                  <a:tcPr anchor="b">
                    <a:lnL w="1270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kern="1200">
                          <a:ln>
                            <a:noFill/>
                          </a:ln>
                          <a:solidFill>
                            <a:schemeClr val="bg1"/>
                          </a:solidFill>
                          <a:effectLst/>
                          <a:latin typeface="Montserrat" pitchFamily="2" charset="77"/>
                          <a:ea typeface="+mn-ea"/>
                          <a:cs typeface="+mn-cs"/>
                        </a:rPr>
                        <a:t>€</a:t>
                      </a:r>
                      <a:r>
                        <a:rPr lang="en-US" sz="1200" b="0">
                          <a:ln>
                            <a:noFill/>
                          </a:ln>
                          <a:solidFill>
                            <a:schemeClr val="bg1"/>
                          </a:solidFill>
                          <a:effectLst/>
                          <a:latin typeface="Montserrat" pitchFamily="2" charset="77"/>
                        </a:rPr>
                        <a:t> </a:t>
                      </a:r>
                      <a:r>
                        <a:rPr lang="en-US" sz="1200" b="0">
                          <a:ln>
                            <a:noFill/>
                          </a:ln>
                          <a:solidFill>
                            <a:schemeClr val="bg1"/>
                          </a:solidFill>
                          <a:latin typeface="Montserrat" pitchFamily="2" charset="77"/>
                        </a:rPr>
                        <a:t>54,009,288.30</a:t>
                      </a:r>
                    </a:p>
                  </a:txBody>
                  <a:tcPr anchor="b">
                    <a:lnL w="63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extLst>
                  <a:ext uri="{0D108BD9-81ED-4DB2-BD59-A6C34878D82A}">
                    <a16:rowId xmlns:a16="http://schemas.microsoft.com/office/drawing/2014/main" val="521421900"/>
                  </a:ext>
                </a:extLst>
              </a:tr>
              <a:tr h="225575">
                <a:tc>
                  <a:txBody>
                    <a:bodyPr/>
                    <a:lstStyle/>
                    <a:p>
                      <a:pPr algn="l"/>
                      <a:r>
                        <a:rPr lang="en-US" sz="1200" b="0" dirty="0">
                          <a:ln>
                            <a:noFill/>
                          </a:ln>
                          <a:solidFill>
                            <a:schemeClr val="bg1"/>
                          </a:solidFill>
                          <a:latin typeface="Montserrat" pitchFamily="2" charset="77"/>
                        </a:rPr>
                        <a:t>Total Debt</a:t>
                      </a:r>
                    </a:p>
                  </a:txBody>
                  <a:tcPr anchor="b">
                    <a:lnL w="1270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a:r>
                        <a:rPr lang="en-US" sz="1200" b="0" kern="1200">
                          <a:ln>
                            <a:noFill/>
                          </a:ln>
                          <a:solidFill>
                            <a:schemeClr val="bg1"/>
                          </a:solidFill>
                          <a:effectLst/>
                          <a:latin typeface="Montserrat" pitchFamily="2" charset="77"/>
                          <a:ea typeface="+mn-ea"/>
                          <a:cs typeface="+mn-cs"/>
                        </a:rPr>
                        <a:t>€</a:t>
                      </a:r>
                      <a:r>
                        <a:rPr lang="en-US" sz="1200" b="0">
                          <a:ln>
                            <a:noFill/>
                          </a:ln>
                          <a:solidFill>
                            <a:schemeClr val="bg1"/>
                          </a:solidFill>
                          <a:effectLst/>
                          <a:latin typeface="Montserrat" pitchFamily="2" charset="77"/>
                        </a:rPr>
                        <a:t> 2,884,220.00</a:t>
                      </a:r>
                      <a:endParaRPr lang="en-US" sz="1200" b="0">
                        <a:ln>
                          <a:noFill/>
                        </a:ln>
                        <a:solidFill>
                          <a:schemeClr val="bg1"/>
                        </a:solidFill>
                        <a:latin typeface="Montserrat" pitchFamily="2" charset="77"/>
                      </a:endParaRPr>
                    </a:p>
                  </a:txBody>
                  <a:tcPr anchor="b">
                    <a:lnL w="63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extLst>
                  <a:ext uri="{0D108BD9-81ED-4DB2-BD59-A6C34878D82A}">
                    <a16:rowId xmlns:a16="http://schemas.microsoft.com/office/drawing/2014/main" val="2931169785"/>
                  </a:ext>
                </a:extLst>
              </a:tr>
              <a:tr h="225575">
                <a:tc>
                  <a:txBody>
                    <a:bodyPr/>
                    <a:lstStyle/>
                    <a:p>
                      <a:pPr algn="l"/>
                      <a:r>
                        <a:rPr lang="en-US" sz="1200" b="0" dirty="0">
                          <a:ln>
                            <a:noFill/>
                          </a:ln>
                          <a:solidFill>
                            <a:schemeClr val="bg1"/>
                          </a:solidFill>
                          <a:latin typeface="Montserrat" pitchFamily="2" charset="77"/>
                        </a:rPr>
                        <a:t>W(E)</a:t>
                      </a:r>
                    </a:p>
                  </a:txBody>
                  <a:tcPr anchor="b">
                    <a:lnL w="1270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tc>
                  <a:txBody>
                    <a:bodyPr/>
                    <a:lstStyle/>
                    <a:p>
                      <a:pPr algn="ctr"/>
                      <a:r>
                        <a:rPr lang="en-US" sz="1200" b="0">
                          <a:ln>
                            <a:noFill/>
                          </a:ln>
                          <a:solidFill>
                            <a:schemeClr val="bg1"/>
                          </a:solidFill>
                          <a:latin typeface="Montserrat" pitchFamily="2" charset="77"/>
                        </a:rPr>
                        <a:t>94.9%</a:t>
                      </a:r>
                    </a:p>
                  </a:txBody>
                  <a:tcPr anchor="b">
                    <a:lnL w="63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extLst>
                  <a:ext uri="{0D108BD9-81ED-4DB2-BD59-A6C34878D82A}">
                    <a16:rowId xmlns:a16="http://schemas.microsoft.com/office/drawing/2014/main" val="3205318386"/>
                  </a:ext>
                </a:extLst>
              </a:tr>
              <a:tr h="225575">
                <a:tc>
                  <a:txBody>
                    <a:bodyPr/>
                    <a:lstStyle/>
                    <a:p>
                      <a:pPr algn="l"/>
                      <a:r>
                        <a:rPr lang="en-US" sz="1200" b="0" dirty="0">
                          <a:ln>
                            <a:noFill/>
                          </a:ln>
                          <a:solidFill>
                            <a:schemeClr val="bg1"/>
                          </a:solidFill>
                          <a:latin typeface="Montserrat" pitchFamily="2" charset="77"/>
                        </a:rPr>
                        <a:t>W(D)</a:t>
                      </a:r>
                    </a:p>
                  </a:txBody>
                  <a:tcPr anchor="b">
                    <a:lnL w="1270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a:r>
                        <a:rPr lang="en-US" sz="1200" b="0">
                          <a:ln>
                            <a:noFill/>
                          </a:ln>
                          <a:solidFill>
                            <a:schemeClr val="bg1"/>
                          </a:solidFill>
                          <a:latin typeface="Montserrat" pitchFamily="2" charset="77"/>
                        </a:rPr>
                        <a:t>5.07%</a:t>
                      </a:r>
                    </a:p>
                  </a:txBody>
                  <a:tcPr anchor="b">
                    <a:lnL w="63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extLst>
                  <a:ext uri="{0D108BD9-81ED-4DB2-BD59-A6C34878D82A}">
                    <a16:rowId xmlns:a16="http://schemas.microsoft.com/office/drawing/2014/main" val="1919406344"/>
                  </a:ext>
                </a:extLst>
              </a:tr>
              <a:tr h="225575">
                <a:tc>
                  <a:txBody>
                    <a:bodyPr/>
                    <a:lstStyle/>
                    <a:p>
                      <a:pPr algn="l"/>
                      <a:r>
                        <a:rPr lang="en-US" sz="1200" b="0" dirty="0">
                          <a:ln>
                            <a:noFill/>
                          </a:ln>
                          <a:solidFill>
                            <a:schemeClr val="bg1"/>
                          </a:solidFill>
                          <a:latin typeface="Montserrat" pitchFamily="2" charset="77"/>
                        </a:rPr>
                        <a:t>Beta</a:t>
                      </a:r>
                    </a:p>
                  </a:txBody>
                  <a:tcPr anchor="b">
                    <a:lnL w="1270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tc>
                  <a:txBody>
                    <a:bodyPr/>
                    <a:lstStyle/>
                    <a:p>
                      <a:pPr algn="ctr"/>
                      <a:r>
                        <a:rPr lang="en-US" sz="1200" b="0" dirty="0">
                          <a:ln>
                            <a:noFill/>
                          </a:ln>
                          <a:solidFill>
                            <a:schemeClr val="bg1"/>
                          </a:solidFill>
                          <a:latin typeface="Montserrat" pitchFamily="2" charset="77"/>
                        </a:rPr>
                        <a:t>1.07</a:t>
                      </a:r>
                      <a:r>
                        <a:rPr lang="en-US" sz="1200" b="0" baseline="30000" dirty="0">
                          <a:ln>
                            <a:noFill/>
                          </a:ln>
                          <a:solidFill>
                            <a:schemeClr val="bg1"/>
                          </a:solidFill>
                          <a:latin typeface="Montserrat" pitchFamily="2" charset="77"/>
                        </a:rPr>
                        <a:t>1</a:t>
                      </a:r>
                    </a:p>
                  </a:txBody>
                  <a:tcPr anchor="b">
                    <a:lnL w="63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extLst>
                  <a:ext uri="{0D108BD9-81ED-4DB2-BD59-A6C34878D82A}">
                    <a16:rowId xmlns:a16="http://schemas.microsoft.com/office/drawing/2014/main" val="1222308915"/>
                  </a:ext>
                </a:extLst>
              </a:tr>
              <a:tr h="225575">
                <a:tc>
                  <a:txBody>
                    <a:bodyPr/>
                    <a:lstStyle/>
                    <a:p>
                      <a:pPr algn="l"/>
                      <a:r>
                        <a:rPr lang="en-US" sz="1200" b="0" dirty="0">
                          <a:ln>
                            <a:noFill/>
                          </a:ln>
                          <a:solidFill>
                            <a:schemeClr val="bg1"/>
                          </a:solidFill>
                          <a:latin typeface="Montserrat" pitchFamily="2" charset="77"/>
                        </a:rPr>
                        <a:t>MRP</a:t>
                      </a:r>
                    </a:p>
                  </a:txBody>
                  <a:tcPr anchor="b">
                    <a:lnL w="1270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a:r>
                        <a:rPr lang="en-US" sz="1200" b="0">
                          <a:ln>
                            <a:noFill/>
                          </a:ln>
                          <a:solidFill>
                            <a:schemeClr val="bg1"/>
                          </a:solidFill>
                          <a:latin typeface="Montserrat" pitchFamily="2" charset="77"/>
                        </a:rPr>
                        <a:t>5.5%</a:t>
                      </a:r>
                    </a:p>
                  </a:txBody>
                  <a:tcPr anchor="b">
                    <a:lnL w="63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extLst>
                  <a:ext uri="{0D108BD9-81ED-4DB2-BD59-A6C34878D82A}">
                    <a16:rowId xmlns:a16="http://schemas.microsoft.com/office/drawing/2014/main" val="3502120716"/>
                  </a:ext>
                </a:extLst>
              </a:tr>
              <a:tr h="225575">
                <a:tc>
                  <a:txBody>
                    <a:bodyPr/>
                    <a:lstStyle/>
                    <a:p>
                      <a:pPr algn="l"/>
                      <a:r>
                        <a:rPr lang="en-US" sz="1200" b="0" dirty="0">
                          <a:ln>
                            <a:noFill/>
                          </a:ln>
                          <a:solidFill>
                            <a:schemeClr val="bg1"/>
                          </a:solidFill>
                          <a:latin typeface="Montserrat" pitchFamily="2" charset="77"/>
                        </a:rPr>
                        <a:t>Risk Free Rate</a:t>
                      </a:r>
                    </a:p>
                  </a:txBody>
                  <a:tcPr anchor="b">
                    <a:lnL w="1270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tc>
                  <a:txBody>
                    <a:bodyPr/>
                    <a:lstStyle/>
                    <a:p>
                      <a:pPr algn="ctr"/>
                      <a:r>
                        <a:rPr lang="en-US" sz="1200" b="0" dirty="0">
                          <a:ln>
                            <a:noFill/>
                          </a:ln>
                          <a:solidFill>
                            <a:schemeClr val="bg1"/>
                          </a:solidFill>
                          <a:latin typeface="Montserrat" pitchFamily="2" charset="77"/>
                        </a:rPr>
                        <a:t>2.79%</a:t>
                      </a:r>
                      <a:r>
                        <a:rPr lang="en-US" sz="1200" b="0" baseline="30000" dirty="0">
                          <a:ln>
                            <a:noFill/>
                          </a:ln>
                          <a:solidFill>
                            <a:schemeClr val="bg1"/>
                          </a:solidFill>
                          <a:latin typeface="Montserrat" pitchFamily="2" charset="77"/>
                        </a:rPr>
                        <a:t>2</a:t>
                      </a:r>
                    </a:p>
                  </a:txBody>
                  <a:tcPr anchor="b">
                    <a:lnL w="63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extLst>
                  <a:ext uri="{0D108BD9-81ED-4DB2-BD59-A6C34878D82A}">
                    <a16:rowId xmlns:a16="http://schemas.microsoft.com/office/drawing/2014/main" val="1403738444"/>
                  </a:ext>
                </a:extLst>
              </a:tr>
              <a:tr h="225575">
                <a:tc>
                  <a:txBody>
                    <a:bodyPr/>
                    <a:lstStyle/>
                    <a:p>
                      <a:pPr algn="l"/>
                      <a:r>
                        <a:rPr lang="en-US" sz="1200" b="0">
                          <a:ln>
                            <a:noFill/>
                          </a:ln>
                          <a:solidFill>
                            <a:schemeClr val="bg1"/>
                          </a:solidFill>
                          <a:latin typeface="Montserrat" pitchFamily="2" charset="77"/>
                        </a:rPr>
                        <a:t>Cost of Equity</a:t>
                      </a:r>
                    </a:p>
                  </a:txBody>
                  <a:tcPr anchor="b">
                    <a:lnL w="1270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a:r>
                        <a:rPr lang="en-US" sz="1200" b="0" dirty="0">
                          <a:ln>
                            <a:noFill/>
                          </a:ln>
                          <a:solidFill>
                            <a:schemeClr val="bg1"/>
                          </a:solidFill>
                          <a:latin typeface="Montserrat" pitchFamily="2" charset="77"/>
                        </a:rPr>
                        <a:t>8.67%</a:t>
                      </a:r>
                    </a:p>
                  </a:txBody>
                  <a:tcPr anchor="b">
                    <a:lnL w="63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extLst>
                  <a:ext uri="{0D108BD9-81ED-4DB2-BD59-A6C34878D82A}">
                    <a16:rowId xmlns:a16="http://schemas.microsoft.com/office/drawing/2014/main" val="3614290454"/>
                  </a:ext>
                </a:extLst>
              </a:tr>
              <a:tr h="225575">
                <a:tc>
                  <a:txBody>
                    <a:bodyPr/>
                    <a:lstStyle/>
                    <a:p>
                      <a:pPr algn="l"/>
                      <a:r>
                        <a:rPr lang="en-US" sz="1200" b="0">
                          <a:ln>
                            <a:noFill/>
                          </a:ln>
                          <a:solidFill>
                            <a:schemeClr val="bg1"/>
                          </a:solidFill>
                          <a:latin typeface="Montserrat" pitchFamily="2" charset="77"/>
                        </a:rPr>
                        <a:t>Tax Rate</a:t>
                      </a:r>
                    </a:p>
                  </a:txBody>
                  <a:tcPr anchor="b">
                    <a:lnL w="1270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tc>
                  <a:txBody>
                    <a:bodyPr/>
                    <a:lstStyle/>
                    <a:p>
                      <a:pPr algn="ctr"/>
                      <a:r>
                        <a:rPr lang="en-US" sz="1200" b="0" dirty="0">
                          <a:ln>
                            <a:noFill/>
                          </a:ln>
                          <a:solidFill>
                            <a:schemeClr val="bg1"/>
                          </a:solidFill>
                          <a:latin typeface="Montserrat" pitchFamily="2" charset="77"/>
                        </a:rPr>
                        <a:t>23.08%</a:t>
                      </a:r>
                    </a:p>
                  </a:txBody>
                  <a:tcPr anchor="b">
                    <a:lnL w="63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extLst>
                  <a:ext uri="{0D108BD9-81ED-4DB2-BD59-A6C34878D82A}">
                    <a16:rowId xmlns:a16="http://schemas.microsoft.com/office/drawing/2014/main" val="1592282415"/>
                  </a:ext>
                </a:extLst>
              </a:tr>
              <a:tr h="225575">
                <a:tc>
                  <a:txBody>
                    <a:bodyPr/>
                    <a:lstStyle/>
                    <a:p>
                      <a:pPr algn="l"/>
                      <a:r>
                        <a:rPr lang="en-US" sz="1200" b="0">
                          <a:ln>
                            <a:noFill/>
                          </a:ln>
                          <a:solidFill>
                            <a:schemeClr val="bg1"/>
                          </a:solidFill>
                          <a:latin typeface="Montserrat" pitchFamily="2" charset="77"/>
                        </a:rPr>
                        <a:t>After-Tax Cost of Debt</a:t>
                      </a:r>
                    </a:p>
                  </a:txBody>
                  <a:tcPr anchor="b">
                    <a:lnL w="1270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a:ln>
                            <a:noFill/>
                          </a:ln>
                          <a:solidFill>
                            <a:schemeClr val="bg1"/>
                          </a:solidFill>
                          <a:latin typeface="Montserrat" pitchFamily="2" charset="77"/>
                        </a:rPr>
                        <a:t>1.10%</a:t>
                      </a:r>
                    </a:p>
                  </a:txBody>
                  <a:tcPr anchor="b">
                    <a:lnL w="63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extLst>
                  <a:ext uri="{0D108BD9-81ED-4DB2-BD59-A6C34878D82A}">
                    <a16:rowId xmlns:a16="http://schemas.microsoft.com/office/drawing/2014/main" val="118125377"/>
                  </a:ext>
                </a:extLst>
              </a:tr>
              <a:tr h="225575">
                <a:tc>
                  <a:txBody>
                    <a:bodyPr/>
                    <a:lstStyle/>
                    <a:p>
                      <a:pPr algn="l"/>
                      <a:r>
                        <a:rPr lang="en-US" sz="1200" b="0">
                          <a:ln>
                            <a:noFill/>
                          </a:ln>
                          <a:solidFill>
                            <a:schemeClr val="bg1"/>
                          </a:solidFill>
                          <a:latin typeface="Montserrat" pitchFamily="2" charset="77"/>
                        </a:rPr>
                        <a:t>Terminal Growth Rate</a:t>
                      </a:r>
                    </a:p>
                  </a:txBody>
                  <a:tcPr anchor="b">
                    <a:lnL w="1270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tc>
                  <a:txBody>
                    <a:bodyPr/>
                    <a:lstStyle/>
                    <a:p>
                      <a:pPr algn="ctr"/>
                      <a:r>
                        <a:rPr lang="en-US" sz="1200" b="0" dirty="0">
                          <a:ln>
                            <a:noFill/>
                          </a:ln>
                          <a:solidFill>
                            <a:schemeClr val="bg1"/>
                          </a:solidFill>
                          <a:latin typeface="Montserrat" pitchFamily="2" charset="77"/>
                        </a:rPr>
                        <a:t>3.00%</a:t>
                      </a:r>
                    </a:p>
                  </a:txBody>
                  <a:tcPr anchor="b">
                    <a:lnL w="63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extLst>
                  <a:ext uri="{0D108BD9-81ED-4DB2-BD59-A6C34878D82A}">
                    <a16:rowId xmlns:a16="http://schemas.microsoft.com/office/drawing/2014/main" val="739114968"/>
                  </a:ext>
                </a:extLst>
              </a:tr>
              <a:tr h="225575">
                <a:tc>
                  <a:txBody>
                    <a:bodyPr/>
                    <a:lstStyle/>
                    <a:p>
                      <a:pPr algn="l"/>
                      <a:r>
                        <a:rPr lang="en-US" sz="1200" b="1" dirty="0">
                          <a:ln>
                            <a:noFill/>
                          </a:ln>
                          <a:solidFill>
                            <a:schemeClr val="bg1"/>
                          </a:solidFill>
                          <a:latin typeface="Montserrat" pitchFamily="2" charset="77"/>
                        </a:rPr>
                        <a:t>WACC</a:t>
                      </a:r>
                    </a:p>
                  </a:txBody>
                  <a:tcPr anchor="b">
                    <a:lnL w="1270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D1111"/>
                    </a:solidFill>
                  </a:tcPr>
                </a:tc>
                <a:tc>
                  <a:txBody>
                    <a:bodyPr/>
                    <a:lstStyle/>
                    <a:p>
                      <a:pPr algn="ctr"/>
                      <a:r>
                        <a:rPr lang="en-US" sz="1200" b="1" dirty="0">
                          <a:ln>
                            <a:noFill/>
                          </a:ln>
                          <a:solidFill>
                            <a:schemeClr val="bg1"/>
                          </a:solidFill>
                          <a:latin typeface="Montserrat" pitchFamily="2" charset="77"/>
                        </a:rPr>
                        <a:t>8.29%</a:t>
                      </a:r>
                    </a:p>
                  </a:txBody>
                  <a:tcPr anchor="b">
                    <a:lnL w="63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D1111"/>
                    </a:solidFill>
                  </a:tcPr>
                </a:tc>
                <a:extLst>
                  <a:ext uri="{0D108BD9-81ED-4DB2-BD59-A6C34878D82A}">
                    <a16:rowId xmlns:a16="http://schemas.microsoft.com/office/drawing/2014/main" val="1894724458"/>
                  </a:ext>
                </a:extLst>
              </a:tr>
            </a:tbl>
          </a:graphicData>
        </a:graphic>
      </p:graphicFrame>
      <p:sp>
        <p:nvSpPr>
          <p:cNvPr id="15" name="TextBox 14">
            <a:extLst>
              <a:ext uri="{FF2B5EF4-FFF2-40B4-BE49-F238E27FC236}">
                <a16:creationId xmlns:a16="http://schemas.microsoft.com/office/drawing/2014/main" id="{B225B377-C7F6-32B9-2D22-AF1BC21EB059}"/>
              </a:ext>
            </a:extLst>
          </p:cNvPr>
          <p:cNvSpPr txBox="1"/>
          <p:nvPr/>
        </p:nvSpPr>
        <p:spPr>
          <a:xfrm>
            <a:off x="1663700" y="4795291"/>
            <a:ext cx="4432300" cy="276999"/>
          </a:xfrm>
          <a:prstGeom prst="rect">
            <a:avLst/>
          </a:prstGeom>
          <a:noFill/>
        </p:spPr>
        <p:txBody>
          <a:bodyPr wrap="square" lIns="0" tIns="45720" rIns="0" bIns="45720" rtlCol="0" anchor="t">
            <a:spAutoFit/>
          </a:bodyPr>
          <a:lstStyle/>
          <a:p>
            <a:r>
              <a:rPr lang="en-US" sz="1200" i="1" dirty="0">
                <a:solidFill>
                  <a:schemeClr val="bg1"/>
                </a:solidFill>
                <a:latin typeface="Montserrat" pitchFamily="2" charset="77"/>
              </a:rPr>
              <a:t>Product mix stabilizes at 40% ICE / 40% Hybrid / 20% BEV</a:t>
            </a:r>
          </a:p>
        </p:txBody>
      </p:sp>
      <p:cxnSp>
        <p:nvCxnSpPr>
          <p:cNvPr id="18" name="Straight Arrow Connector 17">
            <a:extLst>
              <a:ext uri="{FF2B5EF4-FFF2-40B4-BE49-F238E27FC236}">
                <a16:creationId xmlns:a16="http://schemas.microsoft.com/office/drawing/2014/main" id="{6A35EA22-CBFE-5C57-71F1-10996F21FBA6}"/>
              </a:ext>
            </a:extLst>
          </p:cNvPr>
          <p:cNvCxnSpPr>
            <a:cxnSpLocks/>
          </p:cNvCxnSpPr>
          <p:nvPr/>
        </p:nvCxnSpPr>
        <p:spPr>
          <a:xfrm flipH="1" flipV="1">
            <a:off x="2336800" y="3263900"/>
            <a:ext cx="546100" cy="1437659"/>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EBE62F9-DF29-1E0B-E6CC-1E62AC74F4F4}"/>
              </a:ext>
            </a:extLst>
          </p:cNvPr>
          <p:cNvCxnSpPr>
            <a:cxnSpLocks/>
            <a:stCxn id="7" idx="3"/>
          </p:cNvCxnSpPr>
          <p:nvPr/>
        </p:nvCxnSpPr>
        <p:spPr>
          <a:xfrm flipH="1">
            <a:off x="4610100" y="2501877"/>
            <a:ext cx="554112" cy="1060329"/>
          </a:xfrm>
          <a:prstGeom prst="straightConnector1">
            <a:avLst/>
          </a:prstGeom>
          <a:ln>
            <a:solidFill>
              <a:srgbClr val="008C45"/>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CFF9F5A2-C7B0-8426-89C2-1D912D48A81C}"/>
              </a:ext>
            </a:extLst>
          </p:cNvPr>
          <p:cNvSpPr txBox="1"/>
          <p:nvPr/>
        </p:nvSpPr>
        <p:spPr>
          <a:xfrm>
            <a:off x="3886200" y="2031688"/>
            <a:ext cx="3263900" cy="461665"/>
          </a:xfrm>
          <a:prstGeom prst="rect">
            <a:avLst/>
          </a:prstGeom>
          <a:noFill/>
        </p:spPr>
        <p:txBody>
          <a:bodyPr wrap="square" lIns="0" tIns="45720" rIns="0" bIns="45720" rtlCol="0" anchor="t">
            <a:spAutoFit/>
          </a:bodyPr>
          <a:lstStyle/>
          <a:p>
            <a:r>
              <a:rPr lang="en-US" sz="1200" i="1" dirty="0">
                <a:solidFill>
                  <a:schemeClr val="bg1"/>
                </a:solidFill>
                <a:latin typeface="Montserrat" pitchFamily="2" charset="77"/>
              </a:rPr>
              <a:t>Temporary compression &amp; elevated R&amp;D with smaller returns during transition </a:t>
            </a:r>
          </a:p>
        </p:txBody>
      </p:sp>
      <p:cxnSp>
        <p:nvCxnSpPr>
          <p:cNvPr id="25" name="Straight Arrow Connector 24">
            <a:extLst>
              <a:ext uri="{FF2B5EF4-FFF2-40B4-BE49-F238E27FC236}">
                <a16:creationId xmlns:a16="http://schemas.microsoft.com/office/drawing/2014/main" id="{E867BED7-19FB-805E-1409-6A426D722922}"/>
              </a:ext>
            </a:extLst>
          </p:cNvPr>
          <p:cNvCxnSpPr>
            <a:cxnSpLocks/>
          </p:cNvCxnSpPr>
          <p:nvPr/>
        </p:nvCxnSpPr>
        <p:spPr>
          <a:xfrm flipH="1">
            <a:off x="4699000" y="2493353"/>
            <a:ext cx="465212" cy="1900847"/>
          </a:xfrm>
          <a:prstGeom prst="straightConnector1">
            <a:avLst/>
          </a:prstGeom>
          <a:ln>
            <a:solidFill>
              <a:srgbClr val="008C45"/>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DC5D3B7A-A0A8-E733-D5A9-C353A1E325A7}"/>
              </a:ext>
            </a:extLst>
          </p:cNvPr>
          <p:cNvSpPr txBox="1"/>
          <p:nvPr/>
        </p:nvSpPr>
        <p:spPr>
          <a:xfrm>
            <a:off x="609598" y="6440070"/>
            <a:ext cx="10495967" cy="297517"/>
          </a:xfrm>
          <a:prstGeom prst="rect">
            <a:avLst/>
          </a:prstGeom>
          <a:noFill/>
        </p:spPr>
        <p:txBody>
          <a:bodyPr wrap="square" lIns="0" rtlCol="0">
            <a:spAutoFit/>
          </a:bodyPr>
          <a:lstStyle/>
          <a:p>
            <a:pPr marL="228600" indent="-228600">
              <a:lnSpc>
                <a:spcPts val="800"/>
              </a:lnSpc>
              <a:buAutoNum type="arabicPeriod"/>
            </a:pPr>
            <a:r>
              <a:rPr lang="en-US" sz="800" dirty="0">
                <a:solidFill>
                  <a:schemeClr val="bg1"/>
                </a:solidFill>
                <a:latin typeface="Montserrat" pitchFamily="2" charset="77"/>
              </a:rPr>
              <a:t>Source: CFRA RACE Report. As of March 2025.</a:t>
            </a:r>
          </a:p>
          <a:p>
            <a:pPr marL="228600" indent="-228600">
              <a:lnSpc>
                <a:spcPts val="800"/>
              </a:lnSpc>
              <a:buAutoNum type="arabicPeriod"/>
            </a:pPr>
            <a:r>
              <a:rPr lang="en-US" sz="800" dirty="0">
                <a:solidFill>
                  <a:schemeClr val="bg1"/>
                </a:solidFill>
                <a:latin typeface="Montserrat" pitchFamily="2" charset="77"/>
              </a:rPr>
              <a:t>Source: </a:t>
            </a:r>
            <a:r>
              <a:rPr lang="en-US" sz="800" dirty="0" err="1">
                <a:solidFill>
                  <a:schemeClr val="bg1"/>
                </a:solidFill>
                <a:latin typeface="Montserrat" pitchFamily="2" charset="77"/>
              </a:rPr>
              <a:t>FRED.stlouisfed.org</a:t>
            </a:r>
            <a:r>
              <a:rPr lang="en-US" sz="800" dirty="0">
                <a:solidFill>
                  <a:schemeClr val="bg1"/>
                </a:solidFill>
                <a:latin typeface="Montserrat" pitchFamily="2" charset="77"/>
              </a:rPr>
              <a:t>. As of February 20, 2026.</a:t>
            </a:r>
          </a:p>
        </p:txBody>
      </p:sp>
      <p:sp>
        <p:nvSpPr>
          <p:cNvPr id="31" name="Slide Number Placeholder 30">
            <a:extLst>
              <a:ext uri="{FF2B5EF4-FFF2-40B4-BE49-F238E27FC236}">
                <a16:creationId xmlns:a16="http://schemas.microsoft.com/office/drawing/2014/main" id="{151D5831-696E-1D2D-B598-AD259067B276}"/>
              </a:ext>
            </a:extLst>
          </p:cNvPr>
          <p:cNvSpPr>
            <a:spLocks noGrp="1"/>
          </p:cNvSpPr>
          <p:nvPr>
            <p:ph type="sldNum" sz="quarter" idx="12"/>
          </p:nvPr>
        </p:nvSpPr>
        <p:spPr/>
        <p:txBody>
          <a:bodyPr/>
          <a:lstStyle/>
          <a:p>
            <a:fld id="{5780461E-0DE5-ED4D-97A3-62EC4F103ED2}" type="slidenum">
              <a:rPr lang="en-US" smtClean="0"/>
              <a:t>8</a:t>
            </a:fld>
            <a:endParaRPr lang="en-US"/>
          </a:p>
        </p:txBody>
      </p:sp>
    </p:spTree>
    <p:extLst>
      <p:ext uri="{BB962C8B-B14F-4D97-AF65-F5344CB8AC3E}">
        <p14:creationId xmlns:p14="http://schemas.microsoft.com/office/powerpoint/2010/main" val="4087716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p:bldP spid="15"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478A0D5-AC27-3A35-9A9E-09BD567E79E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8ADC4B4-87A5-C8A0-BEF2-1F4F353F48FA}"/>
              </a:ext>
            </a:extLst>
          </p:cNvPr>
          <p:cNvSpPr txBox="1"/>
          <p:nvPr/>
        </p:nvSpPr>
        <p:spPr>
          <a:xfrm>
            <a:off x="609600" y="682109"/>
            <a:ext cx="10972800" cy="646331"/>
          </a:xfrm>
          <a:prstGeom prst="rect">
            <a:avLst/>
          </a:prstGeom>
          <a:noFill/>
        </p:spPr>
        <p:txBody>
          <a:bodyPr wrap="square" lIns="0" tIns="45720" rIns="0" bIns="45720" rtlCol="0" anchor="t">
            <a:spAutoFit/>
          </a:bodyPr>
          <a:lstStyle/>
          <a:p>
            <a:r>
              <a:rPr lang="en-US" sz="3600" b="1" dirty="0">
                <a:solidFill>
                  <a:schemeClr val="bg1"/>
                </a:solidFill>
                <a:latin typeface="Montserrat" pitchFamily="2" charset="77"/>
              </a:rPr>
              <a:t>Intrinsic Value vs Market Price</a:t>
            </a:r>
          </a:p>
        </p:txBody>
      </p:sp>
      <p:sp>
        <p:nvSpPr>
          <p:cNvPr id="4" name="TextBox 3">
            <a:extLst>
              <a:ext uri="{FF2B5EF4-FFF2-40B4-BE49-F238E27FC236}">
                <a16:creationId xmlns:a16="http://schemas.microsoft.com/office/drawing/2014/main" id="{1F4FA42B-DD77-84EC-E4EF-CA8753CE4816}"/>
              </a:ext>
            </a:extLst>
          </p:cNvPr>
          <p:cNvSpPr txBox="1"/>
          <p:nvPr/>
        </p:nvSpPr>
        <p:spPr>
          <a:xfrm>
            <a:off x="609598" y="1524100"/>
            <a:ext cx="10744202" cy="400110"/>
          </a:xfrm>
          <a:prstGeom prst="rect">
            <a:avLst/>
          </a:prstGeom>
          <a:noFill/>
        </p:spPr>
        <p:txBody>
          <a:bodyPr wrap="square" lIns="0" tIns="45720" rIns="0" bIns="45720" rtlCol="0" anchor="t">
            <a:spAutoFit/>
          </a:bodyPr>
          <a:lstStyle/>
          <a:p>
            <a:r>
              <a:rPr lang="en-US" sz="2000" dirty="0">
                <a:solidFill>
                  <a:schemeClr val="bg1"/>
                </a:solidFill>
                <a:latin typeface="Montserrat" pitchFamily="2" charset="77"/>
              </a:rPr>
              <a:t>The valuation implies a ~25-30% downside compared to the market </a:t>
            </a:r>
          </a:p>
        </p:txBody>
      </p:sp>
      <p:graphicFrame>
        <p:nvGraphicFramePr>
          <p:cNvPr id="3" name="Table 2">
            <a:extLst>
              <a:ext uri="{FF2B5EF4-FFF2-40B4-BE49-F238E27FC236}">
                <a16:creationId xmlns:a16="http://schemas.microsoft.com/office/drawing/2014/main" id="{B2BECDFE-F5CB-FD7C-B3E1-3EFCED67C378}"/>
              </a:ext>
            </a:extLst>
          </p:cNvPr>
          <p:cNvGraphicFramePr>
            <a:graphicFrameLocks noGrp="1"/>
          </p:cNvGraphicFramePr>
          <p:nvPr>
            <p:extLst>
              <p:ext uri="{D42A27DB-BD31-4B8C-83A1-F6EECF244321}">
                <p14:modId xmlns:p14="http://schemas.microsoft.com/office/powerpoint/2010/main" val="2952261784"/>
              </p:ext>
            </p:extLst>
          </p:nvPr>
        </p:nvGraphicFramePr>
        <p:xfrm>
          <a:off x="609597" y="2420617"/>
          <a:ext cx="2492402" cy="1426847"/>
        </p:xfrm>
        <a:graphic>
          <a:graphicData uri="http://schemas.openxmlformats.org/drawingml/2006/table">
            <a:tbl>
              <a:tblPr firstRow="1" bandRow="1">
                <a:tableStyleId>{5C22544A-7EE6-4342-B048-85BDC9FD1C3A}</a:tableStyleId>
              </a:tblPr>
              <a:tblGrid>
                <a:gridCol w="2492402">
                  <a:extLst>
                    <a:ext uri="{9D8B030D-6E8A-4147-A177-3AD203B41FA5}">
                      <a16:colId xmlns:a16="http://schemas.microsoft.com/office/drawing/2014/main" val="1939591418"/>
                    </a:ext>
                  </a:extLst>
                </a:gridCol>
              </a:tblGrid>
              <a:tr h="594044">
                <a:tc>
                  <a:txBody>
                    <a:bodyPr/>
                    <a:lstStyle/>
                    <a:p>
                      <a:pPr algn="ctr"/>
                      <a:r>
                        <a:rPr lang="en-US" dirty="0">
                          <a:latin typeface="Montserrat" pitchFamily="2" charset="77"/>
                        </a:rPr>
                        <a:t>Enterprise Value</a:t>
                      </a:r>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B1100F">
                            <a:shade val="30000"/>
                            <a:satMod val="115000"/>
                          </a:srgbClr>
                        </a:gs>
                        <a:gs pos="50000">
                          <a:srgbClr val="B1100F">
                            <a:shade val="67500"/>
                            <a:satMod val="115000"/>
                          </a:srgbClr>
                        </a:gs>
                        <a:gs pos="100000">
                          <a:srgbClr val="B1100F">
                            <a:shade val="100000"/>
                            <a:satMod val="115000"/>
                          </a:srgbClr>
                        </a:gs>
                      </a:gsLst>
                      <a:lin ang="16200000" scaled="1"/>
                      <a:tileRect/>
                    </a:gradFill>
                  </a:tcPr>
                </a:tc>
                <a:extLst>
                  <a:ext uri="{0D108BD9-81ED-4DB2-BD59-A6C34878D82A}">
                    <a16:rowId xmlns:a16="http://schemas.microsoft.com/office/drawing/2014/main" val="1764965619"/>
                  </a:ext>
                </a:extLst>
              </a:tr>
              <a:tr h="832803">
                <a:tc>
                  <a:txBody>
                    <a:bodyPr/>
                    <a:lstStyle/>
                    <a:p>
                      <a:pPr algn="ctr"/>
                      <a:r>
                        <a:rPr lang="en-US" sz="1800" b="1" kern="1200" dirty="0">
                          <a:solidFill>
                            <a:schemeClr val="bg1"/>
                          </a:solidFill>
                          <a:latin typeface="Montserrat" pitchFamily="2" charset="77"/>
                          <a:ea typeface="+mn-ea"/>
                          <a:cs typeface="+mn-cs"/>
                        </a:rPr>
                        <a:t>€41.6B</a:t>
                      </a:r>
                    </a:p>
                  </a:txBody>
                  <a:tcPr anchor="ctr">
                    <a:lnL w="12700" cmpd="sng">
                      <a:noFill/>
                    </a:lnL>
                    <a:lnR w="12700" cmpd="sng">
                      <a:noFill/>
                    </a:lnR>
                    <a:lnT w="31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16189988"/>
                  </a:ext>
                </a:extLst>
              </a:tr>
            </a:tbl>
          </a:graphicData>
        </a:graphic>
      </p:graphicFrame>
      <p:graphicFrame>
        <p:nvGraphicFramePr>
          <p:cNvPr id="5" name="Table 4">
            <a:extLst>
              <a:ext uri="{FF2B5EF4-FFF2-40B4-BE49-F238E27FC236}">
                <a16:creationId xmlns:a16="http://schemas.microsoft.com/office/drawing/2014/main" id="{600D576B-F3B9-6128-CE45-F4973F469684}"/>
              </a:ext>
            </a:extLst>
          </p:cNvPr>
          <p:cNvGraphicFramePr>
            <a:graphicFrameLocks noGrp="1"/>
          </p:cNvGraphicFramePr>
          <p:nvPr>
            <p:extLst>
              <p:ext uri="{D42A27DB-BD31-4B8C-83A1-F6EECF244321}">
                <p14:modId xmlns:p14="http://schemas.microsoft.com/office/powerpoint/2010/main" val="2153874061"/>
              </p:ext>
            </p:extLst>
          </p:nvPr>
        </p:nvGraphicFramePr>
        <p:xfrm>
          <a:off x="3102003" y="2420617"/>
          <a:ext cx="2826799" cy="1426847"/>
        </p:xfrm>
        <a:graphic>
          <a:graphicData uri="http://schemas.openxmlformats.org/drawingml/2006/table">
            <a:tbl>
              <a:tblPr firstRow="1" bandRow="1">
                <a:tableStyleId>{5C22544A-7EE6-4342-B048-85BDC9FD1C3A}</a:tableStyleId>
              </a:tblPr>
              <a:tblGrid>
                <a:gridCol w="334397">
                  <a:extLst>
                    <a:ext uri="{9D8B030D-6E8A-4147-A177-3AD203B41FA5}">
                      <a16:colId xmlns:a16="http://schemas.microsoft.com/office/drawing/2014/main" val="839727457"/>
                    </a:ext>
                  </a:extLst>
                </a:gridCol>
                <a:gridCol w="2492402">
                  <a:extLst>
                    <a:ext uri="{9D8B030D-6E8A-4147-A177-3AD203B41FA5}">
                      <a16:colId xmlns:a16="http://schemas.microsoft.com/office/drawing/2014/main" val="349597128"/>
                    </a:ext>
                  </a:extLst>
                </a:gridCol>
              </a:tblGrid>
              <a:tr h="594044">
                <a:tc>
                  <a:txBody>
                    <a:bodyPr/>
                    <a:lstStyle/>
                    <a:p>
                      <a:pPr algn="ctr"/>
                      <a:endParaRPr lang="en-US" dirty="0">
                        <a:latin typeface="Montserrat" pitchFamily="2" charset="77"/>
                      </a:endParaRPr>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Montserrat" pitchFamily="2" charset="77"/>
                        </a:rPr>
                        <a:t>Equity Value</a:t>
                      </a:r>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B1100F">
                            <a:shade val="30000"/>
                            <a:satMod val="115000"/>
                          </a:srgbClr>
                        </a:gs>
                        <a:gs pos="50000">
                          <a:srgbClr val="B1100F">
                            <a:shade val="67500"/>
                            <a:satMod val="115000"/>
                          </a:srgbClr>
                        </a:gs>
                        <a:gs pos="100000">
                          <a:srgbClr val="B1100F">
                            <a:shade val="100000"/>
                            <a:satMod val="115000"/>
                          </a:srgbClr>
                        </a:gs>
                      </a:gsLst>
                      <a:lin ang="16200000" scaled="1"/>
                      <a:tileRect/>
                    </a:gradFill>
                  </a:tcPr>
                </a:tc>
                <a:extLst>
                  <a:ext uri="{0D108BD9-81ED-4DB2-BD59-A6C34878D82A}">
                    <a16:rowId xmlns:a16="http://schemas.microsoft.com/office/drawing/2014/main" val="3027492167"/>
                  </a:ext>
                </a:extLst>
              </a:tr>
              <a:tr h="832803">
                <a:tc>
                  <a:txBody>
                    <a:bodyPr/>
                    <a:lstStyle/>
                    <a:p>
                      <a:pPr algn="ctr"/>
                      <a:endParaRPr lang="en-US" sz="1800" b="1" kern="1200" dirty="0">
                        <a:solidFill>
                          <a:schemeClr val="bg1"/>
                        </a:solidFill>
                        <a:latin typeface="Montserrat" pitchFamily="2" charset="77"/>
                        <a:ea typeface="+mn-ea"/>
                        <a:cs typeface="+mn-cs"/>
                      </a:endParaRPr>
                    </a:p>
                  </a:txBody>
                  <a:tcPr anchor="ctr">
                    <a:lnL w="12700" cmpd="sng">
                      <a:noFill/>
                    </a:lnL>
                    <a:lnR w="12700" cmpd="sng">
                      <a:noFill/>
                    </a:lnR>
                    <a:lnT w="31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800" b="1" kern="1200" dirty="0">
                          <a:solidFill>
                            <a:schemeClr val="bg1"/>
                          </a:solidFill>
                          <a:latin typeface="Montserrat" pitchFamily="2" charset="77"/>
                          <a:ea typeface="+mn-ea"/>
                          <a:cs typeface="+mn-cs"/>
                        </a:rPr>
                        <a:t>€40.2B</a:t>
                      </a:r>
                    </a:p>
                  </a:txBody>
                  <a:tcPr anchor="ctr">
                    <a:lnL w="12700" cmpd="sng">
                      <a:noFill/>
                    </a:lnL>
                    <a:lnR w="12700" cmpd="sng">
                      <a:noFill/>
                    </a:lnR>
                    <a:lnT w="31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91365095"/>
                  </a:ext>
                </a:extLst>
              </a:tr>
            </a:tbl>
          </a:graphicData>
        </a:graphic>
      </p:graphicFrame>
      <p:graphicFrame>
        <p:nvGraphicFramePr>
          <p:cNvPr id="6" name="Table 5">
            <a:extLst>
              <a:ext uri="{FF2B5EF4-FFF2-40B4-BE49-F238E27FC236}">
                <a16:creationId xmlns:a16="http://schemas.microsoft.com/office/drawing/2014/main" id="{E1DB4E9D-4C0E-19C3-417A-9579479D3CF6}"/>
              </a:ext>
            </a:extLst>
          </p:cNvPr>
          <p:cNvGraphicFramePr>
            <a:graphicFrameLocks noGrp="1"/>
          </p:cNvGraphicFramePr>
          <p:nvPr>
            <p:extLst>
              <p:ext uri="{D42A27DB-BD31-4B8C-83A1-F6EECF244321}">
                <p14:modId xmlns:p14="http://schemas.microsoft.com/office/powerpoint/2010/main" val="1245775623"/>
              </p:ext>
            </p:extLst>
          </p:nvPr>
        </p:nvGraphicFramePr>
        <p:xfrm>
          <a:off x="5928802" y="2420617"/>
          <a:ext cx="2826799" cy="1426847"/>
        </p:xfrm>
        <a:graphic>
          <a:graphicData uri="http://schemas.openxmlformats.org/drawingml/2006/table">
            <a:tbl>
              <a:tblPr firstRow="1" bandRow="1">
                <a:tableStyleId>{5C22544A-7EE6-4342-B048-85BDC9FD1C3A}</a:tableStyleId>
              </a:tblPr>
              <a:tblGrid>
                <a:gridCol w="334397">
                  <a:extLst>
                    <a:ext uri="{9D8B030D-6E8A-4147-A177-3AD203B41FA5}">
                      <a16:colId xmlns:a16="http://schemas.microsoft.com/office/drawing/2014/main" val="734510602"/>
                    </a:ext>
                  </a:extLst>
                </a:gridCol>
                <a:gridCol w="2492402">
                  <a:extLst>
                    <a:ext uri="{9D8B030D-6E8A-4147-A177-3AD203B41FA5}">
                      <a16:colId xmlns:a16="http://schemas.microsoft.com/office/drawing/2014/main" val="2856154175"/>
                    </a:ext>
                  </a:extLst>
                </a:gridCol>
              </a:tblGrid>
              <a:tr h="594044">
                <a:tc>
                  <a:txBody>
                    <a:bodyPr/>
                    <a:lstStyle/>
                    <a:p>
                      <a:pPr algn="ctr"/>
                      <a:endParaRPr lang="en-US" dirty="0">
                        <a:latin typeface="Montserrat" pitchFamily="2" charset="77"/>
                      </a:endParaRPr>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Montserrat" pitchFamily="2" charset="77"/>
                        </a:rPr>
                        <a:t>Intrinsic Value</a:t>
                      </a:r>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B1100F">
                            <a:shade val="30000"/>
                            <a:satMod val="115000"/>
                          </a:srgbClr>
                        </a:gs>
                        <a:gs pos="50000">
                          <a:srgbClr val="B1100F">
                            <a:shade val="67500"/>
                            <a:satMod val="115000"/>
                          </a:srgbClr>
                        </a:gs>
                        <a:gs pos="100000">
                          <a:srgbClr val="B1100F">
                            <a:shade val="100000"/>
                            <a:satMod val="115000"/>
                          </a:srgbClr>
                        </a:gs>
                      </a:gsLst>
                      <a:lin ang="16200000" scaled="1"/>
                      <a:tileRect/>
                    </a:gradFill>
                  </a:tcPr>
                </a:tc>
                <a:extLst>
                  <a:ext uri="{0D108BD9-81ED-4DB2-BD59-A6C34878D82A}">
                    <a16:rowId xmlns:a16="http://schemas.microsoft.com/office/drawing/2014/main" val="4187716896"/>
                  </a:ext>
                </a:extLst>
              </a:tr>
              <a:tr h="832803">
                <a:tc>
                  <a:txBody>
                    <a:bodyPr/>
                    <a:lstStyle/>
                    <a:p>
                      <a:pPr algn="ctr"/>
                      <a:endParaRPr lang="en-US" sz="1800" b="1" kern="1200" dirty="0">
                        <a:solidFill>
                          <a:schemeClr val="bg1"/>
                        </a:solidFill>
                        <a:latin typeface="Montserrat" pitchFamily="2" charset="77"/>
                        <a:ea typeface="+mn-ea"/>
                        <a:cs typeface="+mn-cs"/>
                      </a:endParaRPr>
                    </a:p>
                  </a:txBody>
                  <a:tcPr anchor="ctr">
                    <a:lnL w="12700" cmpd="sng">
                      <a:noFill/>
                    </a:lnL>
                    <a:lnR w="12700" cmpd="sng">
                      <a:noFill/>
                    </a:lnR>
                    <a:lnT w="31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800" b="1" kern="1200" dirty="0">
                          <a:solidFill>
                            <a:schemeClr val="bg1"/>
                          </a:solidFill>
                          <a:latin typeface="Montserrat" pitchFamily="2" charset="77"/>
                          <a:ea typeface="+mn-ea"/>
                          <a:cs typeface="+mn-cs"/>
                        </a:rPr>
                        <a:t>€226.84/share</a:t>
                      </a:r>
                    </a:p>
                  </a:txBody>
                  <a:tcPr anchor="ctr">
                    <a:lnL w="12700" cmpd="sng">
                      <a:noFill/>
                    </a:lnL>
                    <a:lnR w="12700" cmpd="sng">
                      <a:noFill/>
                    </a:lnR>
                    <a:lnT w="31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66145268"/>
                  </a:ext>
                </a:extLst>
              </a:tr>
            </a:tbl>
          </a:graphicData>
        </a:graphic>
      </p:graphicFrame>
      <p:graphicFrame>
        <p:nvGraphicFramePr>
          <p:cNvPr id="7" name="Table 6">
            <a:extLst>
              <a:ext uri="{FF2B5EF4-FFF2-40B4-BE49-F238E27FC236}">
                <a16:creationId xmlns:a16="http://schemas.microsoft.com/office/drawing/2014/main" id="{00C194B7-A358-2006-4FE7-FAF6613F9941}"/>
              </a:ext>
            </a:extLst>
          </p:cNvPr>
          <p:cNvGraphicFramePr>
            <a:graphicFrameLocks noGrp="1"/>
          </p:cNvGraphicFramePr>
          <p:nvPr>
            <p:extLst>
              <p:ext uri="{D42A27DB-BD31-4B8C-83A1-F6EECF244321}">
                <p14:modId xmlns:p14="http://schemas.microsoft.com/office/powerpoint/2010/main" val="917152600"/>
              </p:ext>
            </p:extLst>
          </p:nvPr>
        </p:nvGraphicFramePr>
        <p:xfrm>
          <a:off x="8755601" y="2420617"/>
          <a:ext cx="2826799" cy="1426847"/>
        </p:xfrm>
        <a:graphic>
          <a:graphicData uri="http://schemas.openxmlformats.org/drawingml/2006/table">
            <a:tbl>
              <a:tblPr firstRow="1" bandRow="1">
                <a:tableStyleId>{5C22544A-7EE6-4342-B048-85BDC9FD1C3A}</a:tableStyleId>
              </a:tblPr>
              <a:tblGrid>
                <a:gridCol w="334397">
                  <a:extLst>
                    <a:ext uri="{9D8B030D-6E8A-4147-A177-3AD203B41FA5}">
                      <a16:colId xmlns:a16="http://schemas.microsoft.com/office/drawing/2014/main" val="1981462176"/>
                    </a:ext>
                  </a:extLst>
                </a:gridCol>
                <a:gridCol w="2492402">
                  <a:extLst>
                    <a:ext uri="{9D8B030D-6E8A-4147-A177-3AD203B41FA5}">
                      <a16:colId xmlns:a16="http://schemas.microsoft.com/office/drawing/2014/main" val="2897847176"/>
                    </a:ext>
                  </a:extLst>
                </a:gridCol>
              </a:tblGrid>
              <a:tr h="594044">
                <a:tc>
                  <a:txBody>
                    <a:bodyPr/>
                    <a:lstStyle/>
                    <a:p>
                      <a:pPr algn="ctr"/>
                      <a:endParaRPr lang="en-US" dirty="0">
                        <a:latin typeface="Montserrat" pitchFamily="2" charset="77"/>
                      </a:endParaRPr>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Montserrat" pitchFamily="2" charset="77"/>
                        </a:rPr>
                        <a:t>Market Price</a:t>
                      </a:r>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B1100F">
                            <a:shade val="30000"/>
                            <a:satMod val="115000"/>
                          </a:srgbClr>
                        </a:gs>
                        <a:gs pos="50000">
                          <a:srgbClr val="B1100F">
                            <a:shade val="67500"/>
                            <a:satMod val="115000"/>
                          </a:srgbClr>
                        </a:gs>
                        <a:gs pos="100000">
                          <a:srgbClr val="B1100F">
                            <a:shade val="100000"/>
                            <a:satMod val="115000"/>
                          </a:srgbClr>
                        </a:gs>
                      </a:gsLst>
                      <a:lin ang="16200000" scaled="1"/>
                      <a:tileRect/>
                    </a:gradFill>
                  </a:tcPr>
                </a:tc>
                <a:extLst>
                  <a:ext uri="{0D108BD9-81ED-4DB2-BD59-A6C34878D82A}">
                    <a16:rowId xmlns:a16="http://schemas.microsoft.com/office/drawing/2014/main" val="1651263843"/>
                  </a:ext>
                </a:extLst>
              </a:tr>
              <a:tr h="832803">
                <a:tc>
                  <a:txBody>
                    <a:bodyPr/>
                    <a:lstStyle/>
                    <a:p>
                      <a:pPr algn="ctr"/>
                      <a:endParaRPr lang="en-US" sz="1800" b="1" kern="1200" dirty="0">
                        <a:solidFill>
                          <a:schemeClr val="bg1"/>
                        </a:solidFill>
                        <a:latin typeface="Montserrat" pitchFamily="2" charset="77"/>
                        <a:ea typeface="+mn-ea"/>
                        <a:cs typeface="+mn-cs"/>
                      </a:endParaRPr>
                    </a:p>
                  </a:txBody>
                  <a:tcPr anchor="ctr">
                    <a:lnL w="12700" cmpd="sng">
                      <a:noFill/>
                    </a:lnL>
                    <a:lnR w="12700" cmpd="sng">
                      <a:noFill/>
                    </a:lnR>
                    <a:lnT w="31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800" b="1" kern="1200" dirty="0">
                          <a:solidFill>
                            <a:schemeClr val="bg1"/>
                          </a:solidFill>
                          <a:latin typeface="Montserrat" pitchFamily="2" charset="77"/>
                          <a:ea typeface="+mn-ea"/>
                          <a:cs typeface="+mn-cs"/>
                        </a:rPr>
                        <a:t>~€304/share</a:t>
                      </a:r>
                      <a:r>
                        <a:rPr lang="en-US" sz="1800" b="1" kern="1200" baseline="30000" dirty="0">
                          <a:solidFill>
                            <a:schemeClr val="bg1"/>
                          </a:solidFill>
                          <a:latin typeface="Montserrat" pitchFamily="2" charset="77"/>
                          <a:ea typeface="+mn-ea"/>
                          <a:cs typeface="+mn-cs"/>
                        </a:rPr>
                        <a:t>1</a:t>
                      </a:r>
                    </a:p>
                  </a:txBody>
                  <a:tcPr anchor="ctr">
                    <a:lnL w="12700" cmpd="sng">
                      <a:noFill/>
                    </a:lnL>
                    <a:lnR w="12700" cmpd="sng">
                      <a:noFill/>
                    </a:lnR>
                    <a:lnT w="31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59388465"/>
                  </a:ext>
                </a:extLst>
              </a:tr>
            </a:tbl>
          </a:graphicData>
        </a:graphic>
      </p:graphicFrame>
      <p:graphicFrame>
        <p:nvGraphicFramePr>
          <p:cNvPr id="8" name="Table 7">
            <a:extLst>
              <a:ext uri="{FF2B5EF4-FFF2-40B4-BE49-F238E27FC236}">
                <a16:creationId xmlns:a16="http://schemas.microsoft.com/office/drawing/2014/main" id="{C1AEA431-2F47-D848-E529-67EDCE9B1709}"/>
              </a:ext>
            </a:extLst>
          </p:cNvPr>
          <p:cNvGraphicFramePr>
            <a:graphicFrameLocks noGrp="1"/>
          </p:cNvGraphicFramePr>
          <p:nvPr>
            <p:extLst>
              <p:ext uri="{D42A27DB-BD31-4B8C-83A1-F6EECF244321}">
                <p14:modId xmlns:p14="http://schemas.microsoft.com/office/powerpoint/2010/main" val="325797432"/>
              </p:ext>
            </p:extLst>
          </p:nvPr>
        </p:nvGraphicFramePr>
        <p:xfrm>
          <a:off x="609596" y="4434196"/>
          <a:ext cx="10972804" cy="1038123"/>
        </p:xfrm>
        <a:graphic>
          <a:graphicData uri="http://schemas.openxmlformats.org/drawingml/2006/table">
            <a:tbl>
              <a:tblPr firstRow="1" firstCol="1" bandRow="1">
                <a:tableStyleId>{5C22544A-7EE6-4342-B048-85BDC9FD1C3A}</a:tableStyleId>
              </a:tblPr>
              <a:tblGrid>
                <a:gridCol w="3688879">
                  <a:extLst>
                    <a:ext uri="{9D8B030D-6E8A-4147-A177-3AD203B41FA5}">
                      <a16:colId xmlns:a16="http://schemas.microsoft.com/office/drawing/2014/main" val="358750292"/>
                    </a:ext>
                  </a:extLst>
                </a:gridCol>
                <a:gridCol w="2427975">
                  <a:extLst>
                    <a:ext uri="{9D8B030D-6E8A-4147-A177-3AD203B41FA5}">
                      <a16:colId xmlns:a16="http://schemas.microsoft.com/office/drawing/2014/main" val="2008500934"/>
                    </a:ext>
                  </a:extLst>
                </a:gridCol>
                <a:gridCol w="2427975">
                  <a:extLst>
                    <a:ext uri="{9D8B030D-6E8A-4147-A177-3AD203B41FA5}">
                      <a16:colId xmlns:a16="http://schemas.microsoft.com/office/drawing/2014/main" val="971121026"/>
                    </a:ext>
                  </a:extLst>
                </a:gridCol>
                <a:gridCol w="2427975">
                  <a:extLst>
                    <a:ext uri="{9D8B030D-6E8A-4147-A177-3AD203B41FA5}">
                      <a16:colId xmlns:a16="http://schemas.microsoft.com/office/drawing/2014/main" val="4167252438"/>
                    </a:ext>
                  </a:extLst>
                </a:gridCol>
              </a:tblGrid>
              <a:tr h="206280">
                <a:tc>
                  <a:txBody>
                    <a:bodyPr/>
                    <a:lstStyle/>
                    <a:p>
                      <a:pPr marL="0" marR="0" algn="ctr">
                        <a:lnSpc>
                          <a:spcPct val="116000"/>
                        </a:lnSpc>
                        <a:buNone/>
                      </a:pPr>
                      <a:r>
                        <a:rPr lang="en-US" sz="1200" dirty="0">
                          <a:effectLst/>
                          <a:latin typeface="Montserrat" pitchFamily="2" charset="77"/>
                        </a:rPr>
                        <a:t>WACC / Terminal Growth</a:t>
                      </a:r>
                      <a:endParaRPr lang="en-US" sz="1200" dirty="0">
                        <a:effectLst/>
                        <a:latin typeface="Montserrat" pitchFamily="2" charset="77"/>
                        <a:ea typeface="Times New Roman" panose="02020603050405020304" pitchFamily="18" charset="0"/>
                      </a:endParaRPr>
                    </a:p>
                  </a:txBody>
                  <a:tcPr marL="68580" marR="68580" marT="0" marB="0" anchor="ctr">
                    <a:lnL w="12700" cmpd="sng">
                      <a:noFill/>
                    </a:lnL>
                    <a:lnR w="28575" cap="flat" cmpd="sng" algn="ctr">
                      <a:solidFill>
                        <a:schemeClr val="bg1"/>
                      </a:solidFill>
                      <a:prstDash val="solid"/>
                      <a:round/>
                      <a:headEnd type="none" w="med" len="med"/>
                      <a:tailEnd type="none" w="med" len="med"/>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1100F"/>
                    </a:solidFill>
                  </a:tcPr>
                </a:tc>
                <a:tc>
                  <a:txBody>
                    <a:bodyPr/>
                    <a:lstStyle/>
                    <a:p>
                      <a:pPr marL="0" marR="0" algn="ctr">
                        <a:lnSpc>
                          <a:spcPct val="116000"/>
                        </a:lnSpc>
                        <a:buNone/>
                      </a:pPr>
                      <a:r>
                        <a:rPr lang="en-US" sz="1200" dirty="0">
                          <a:effectLst/>
                          <a:latin typeface="Montserrat" pitchFamily="2" charset="77"/>
                        </a:rPr>
                        <a:t>2.50%</a:t>
                      </a:r>
                      <a:endParaRPr lang="en-US" sz="1200" dirty="0">
                        <a:effectLst/>
                        <a:latin typeface="Montserrat" pitchFamily="2" charset="77"/>
                        <a:ea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1100F"/>
                    </a:solidFill>
                  </a:tcPr>
                </a:tc>
                <a:tc>
                  <a:txBody>
                    <a:bodyPr/>
                    <a:lstStyle/>
                    <a:p>
                      <a:pPr marL="0" marR="0" algn="ctr">
                        <a:lnSpc>
                          <a:spcPct val="116000"/>
                        </a:lnSpc>
                        <a:buNone/>
                      </a:pPr>
                      <a:r>
                        <a:rPr lang="en-US" sz="1200" dirty="0">
                          <a:effectLst/>
                          <a:latin typeface="Montserrat" pitchFamily="2" charset="77"/>
                        </a:rPr>
                        <a:t>3.00%</a:t>
                      </a:r>
                      <a:endParaRPr lang="en-US" sz="1200" dirty="0">
                        <a:effectLst/>
                        <a:latin typeface="Montserrat" pitchFamily="2" charset="77"/>
                        <a:ea typeface="Times New Roman" panose="02020603050405020304" pitchFamily="18" charset="0"/>
                      </a:endParaRPr>
                    </a:p>
                  </a:txBody>
                  <a:tcPr marL="68580" marR="6858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1100F"/>
                    </a:solidFill>
                  </a:tcPr>
                </a:tc>
                <a:tc>
                  <a:txBody>
                    <a:bodyPr/>
                    <a:lstStyle/>
                    <a:p>
                      <a:pPr marL="0" marR="0" algn="ctr">
                        <a:lnSpc>
                          <a:spcPct val="116000"/>
                        </a:lnSpc>
                        <a:buNone/>
                      </a:pPr>
                      <a:r>
                        <a:rPr lang="en-US" sz="1200" dirty="0">
                          <a:effectLst/>
                          <a:latin typeface="Montserrat" pitchFamily="2" charset="77"/>
                        </a:rPr>
                        <a:t>3.50%</a:t>
                      </a:r>
                      <a:endParaRPr lang="en-US" sz="1200" dirty="0">
                        <a:effectLst/>
                        <a:latin typeface="Montserrat" pitchFamily="2" charset="77"/>
                        <a:ea typeface="Times New Roman" panose="02020603050405020304" pitchFamily="18" charset="0"/>
                      </a:endParaRPr>
                    </a:p>
                  </a:txBody>
                  <a:tcPr marL="68580" marR="68580" marT="0" marB="0" anchor="ctr">
                    <a:lnL w="3175" cap="flat" cmpd="sng" algn="ctr">
                      <a:solidFill>
                        <a:schemeClr val="bg1"/>
                      </a:solidFill>
                      <a:prstDash val="solid"/>
                      <a:round/>
                      <a:headEnd type="none" w="med" len="med"/>
                      <a:tailEnd type="none" w="med" len="med"/>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1100F"/>
                    </a:solidFill>
                  </a:tcPr>
                </a:tc>
                <a:extLst>
                  <a:ext uri="{0D108BD9-81ED-4DB2-BD59-A6C34878D82A}">
                    <a16:rowId xmlns:a16="http://schemas.microsoft.com/office/drawing/2014/main" val="3198522085"/>
                  </a:ext>
                </a:extLst>
              </a:tr>
              <a:tr h="206280">
                <a:tc>
                  <a:txBody>
                    <a:bodyPr/>
                    <a:lstStyle/>
                    <a:p>
                      <a:pPr marL="0" marR="0" algn="ctr">
                        <a:lnSpc>
                          <a:spcPct val="116000"/>
                        </a:lnSpc>
                        <a:buNone/>
                      </a:pPr>
                      <a:r>
                        <a:rPr lang="en-US" sz="1200" dirty="0">
                          <a:effectLst/>
                          <a:latin typeface="Montserrat" pitchFamily="2" charset="77"/>
                        </a:rPr>
                        <a:t>7.00%</a:t>
                      </a:r>
                      <a:endParaRPr lang="en-US" sz="1200" dirty="0">
                        <a:effectLst/>
                        <a:latin typeface="Montserrat" pitchFamily="2" charset="77"/>
                        <a:ea typeface="Times New Roman" panose="02020603050405020304" pitchFamily="18" charset="0"/>
                      </a:endParaRPr>
                    </a:p>
                  </a:txBody>
                  <a:tcPr marL="68580" marR="68580" marT="0" marB="0" anchor="ctr">
                    <a:lnL w="12700" cmpd="sng">
                      <a:noFill/>
                    </a:lnL>
                    <a:lnR w="28575"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tc>
                  <a:txBody>
                    <a:bodyPr/>
                    <a:lstStyle/>
                    <a:p>
                      <a:pPr marL="0" marR="0" algn="ctr">
                        <a:lnSpc>
                          <a:spcPct val="116000"/>
                        </a:lnSpc>
                        <a:buNone/>
                      </a:pPr>
                      <a:r>
                        <a:rPr lang="en-US" sz="1200" dirty="0">
                          <a:solidFill>
                            <a:schemeClr val="bg1"/>
                          </a:solidFill>
                          <a:effectLst/>
                          <a:latin typeface="Montserrat" pitchFamily="2" charset="77"/>
                        </a:rPr>
                        <a:t>€283.06</a:t>
                      </a:r>
                      <a:endParaRPr lang="en-US" sz="1200" dirty="0">
                        <a:solidFill>
                          <a:schemeClr val="bg1"/>
                        </a:solidFill>
                        <a:effectLst/>
                        <a:latin typeface="Montserrat" pitchFamily="2" charset="77"/>
                        <a:ea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tc>
                  <a:txBody>
                    <a:bodyPr/>
                    <a:lstStyle/>
                    <a:p>
                      <a:pPr marL="0" marR="0" algn="ctr">
                        <a:lnSpc>
                          <a:spcPct val="116000"/>
                        </a:lnSpc>
                        <a:buNone/>
                      </a:pPr>
                      <a:r>
                        <a:rPr lang="en-US" sz="1200" dirty="0">
                          <a:solidFill>
                            <a:schemeClr val="bg1"/>
                          </a:solidFill>
                          <a:effectLst/>
                          <a:latin typeface="Montserrat" pitchFamily="2" charset="77"/>
                        </a:rPr>
                        <a:t>€310.86</a:t>
                      </a:r>
                      <a:endParaRPr lang="en-US" sz="1200" dirty="0">
                        <a:solidFill>
                          <a:schemeClr val="bg1"/>
                        </a:solidFill>
                        <a:effectLst/>
                        <a:latin typeface="Montserrat" pitchFamily="2" charset="77"/>
                        <a:ea typeface="Times New Roman" panose="02020603050405020304" pitchFamily="18" charset="0"/>
                      </a:endParaRPr>
                    </a:p>
                  </a:txBody>
                  <a:tcPr marL="68580" marR="6858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tc>
                  <a:txBody>
                    <a:bodyPr/>
                    <a:lstStyle/>
                    <a:p>
                      <a:pPr marL="0" marR="0" algn="ctr">
                        <a:lnSpc>
                          <a:spcPct val="116000"/>
                        </a:lnSpc>
                        <a:buNone/>
                      </a:pPr>
                      <a:r>
                        <a:rPr lang="en-US" sz="1200" dirty="0">
                          <a:solidFill>
                            <a:schemeClr val="bg1"/>
                          </a:solidFill>
                          <a:effectLst/>
                          <a:latin typeface="Montserrat" pitchFamily="2" charset="77"/>
                        </a:rPr>
                        <a:t>€346.62</a:t>
                      </a:r>
                      <a:endParaRPr lang="en-US" sz="1200" dirty="0">
                        <a:solidFill>
                          <a:schemeClr val="bg1"/>
                        </a:solidFill>
                        <a:effectLst/>
                        <a:latin typeface="Montserrat" pitchFamily="2" charset="77"/>
                        <a:ea typeface="Times New Roman" panose="02020603050405020304" pitchFamily="18" charset="0"/>
                      </a:endParaRPr>
                    </a:p>
                  </a:txBody>
                  <a:tcPr marL="68580" marR="68580" marT="0" marB="0" anchor="ctr">
                    <a:lnL w="3175" cap="flat" cmpd="sng" algn="ctr">
                      <a:solidFill>
                        <a:schemeClr val="bg1"/>
                      </a:solidFill>
                      <a:prstDash val="solid"/>
                      <a:round/>
                      <a:headEnd type="none" w="med" len="med"/>
                      <a:tailEnd type="none" w="med" len="med"/>
                    </a:lnL>
                    <a:lnR w="12700" cmpd="sng">
                      <a:noFill/>
                    </a:lnR>
                    <a:lnT w="19050"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extLst>
                  <a:ext uri="{0D108BD9-81ED-4DB2-BD59-A6C34878D82A}">
                    <a16:rowId xmlns:a16="http://schemas.microsoft.com/office/drawing/2014/main" val="4260664794"/>
                  </a:ext>
                </a:extLst>
              </a:tr>
              <a:tr h="206280">
                <a:tc>
                  <a:txBody>
                    <a:bodyPr/>
                    <a:lstStyle/>
                    <a:p>
                      <a:pPr marL="0" marR="0" algn="ctr">
                        <a:lnSpc>
                          <a:spcPct val="116000"/>
                        </a:lnSpc>
                        <a:buNone/>
                      </a:pPr>
                      <a:r>
                        <a:rPr lang="en-US" sz="1200" dirty="0">
                          <a:effectLst/>
                          <a:latin typeface="Montserrat" pitchFamily="2" charset="77"/>
                        </a:rPr>
                        <a:t>8.00%</a:t>
                      </a:r>
                      <a:endParaRPr lang="en-US" sz="1200" dirty="0">
                        <a:effectLst/>
                        <a:latin typeface="Montserrat" pitchFamily="2" charset="77"/>
                        <a:ea typeface="Times New Roman" panose="02020603050405020304" pitchFamily="18" charset="0"/>
                      </a:endParaRPr>
                    </a:p>
                  </a:txBody>
                  <a:tcPr marL="68580" marR="68580" marT="0" marB="0" anchor="ctr">
                    <a:lnL w="12700" cmpd="sng">
                      <a:noFill/>
                    </a:lnL>
                    <a:lnR w="285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marL="0" marR="0" algn="ctr">
                        <a:lnSpc>
                          <a:spcPct val="116000"/>
                        </a:lnSpc>
                        <a:buNone/>
                      </a:pPr>
                      <a:r>
                        <a:rPr lang="en-US" sz="1200" dirty="0">
                          <a:solidFill>
                            <a:schemeClr val="bg1"/>
                          </a:solidFill>
                          <a:effectLst/>
                          <a:latin typeface="Montserrat" pitchFamily="2" charset="77"/>
                        </a:rPr>
                        <a:t>€225.03</a:t>
                      </a:r>
                      <a:endParaRPr lang="en-US" sz="1200" dirty="0">
                        <a:solidFill>
                          <a:schemeClr val="bg1"/>
                        </a:solidFill>
                        <a:effectLst/>
                        <a:latin typeface="Montserrat" pitchFamily="2" charset="77"/>
                        <a:ea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marL="0" marR="0" algn="ctr">
                        <a:lnSpc>
                          <a:spcPct val="116000"/>
                        </a:lnSpc>
                        <a:buNone/>
                      </a:pPr>
                      <a:r>
                        <a:rPr lang="en-US" sz="1200" dirty="0">
                          <a:solidFill>
                            <a:schemeClr val="bg1"/>
                          </a:solidFill>
                          <a:effectLst/>
                          <a:latin typeface="Montserrat" pitchFamily="2" charset="77"/>
                        </a:rPr>
                        <a:t>€241.77</a:t>
                      </a:r>
                      <a:endParaRPr lang="en-US" sz="1200" dirty="0">
                        <a:solidFill>
                          <a:schemeClr val="bg1"/>
                        </a:solidFill>
                        <a:effectLst/>
                        <a:latin typeface="Montserrat" pitchFamily="2" charset="77"/>
                        <a:ea typeface="Times New Roman" panose="02020603050405020304" pitchFamily="18" charset="0"/>
                      </a:endParaRPr>
                    </a:p>
                  </a:txBody>
                  <a:tcPr marL="68580" marR="6858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marL="0" marR="0" algn="ctr">
                        <a:lnSpc>
                          <a:spcPct val="116000"/>
                        </a:lnSpc>
                        <a:buNone/>
                      </a:pPr>
                      <a:r>
                        <a:rPr lang="en-US" sz="1200" dirty="0">
                          <a:solidFill>
                            <a:schemeClr val="bg1"/>
                          </a:solidFill>
                          <a:effectLst/>
                          <a:latin typeface="Montserrat" pitchFamily="2" charset="77"/>
                        </a:rPr>
                        <a:t>€262.23</a:t>
                      </a:r>
                      <a:endParaRPr lang="en-US" sz="1200" dirty="0">
                        <a:solidFill>
                          <a:schemeClr val="bg1"/>
                        </a:solidFill>
                        <a:effectLst/>
                        <a:latin typeface="Montserrat" pitchFamily="2" charset="77"/>
                        <a:ea typeface="Times New Roman" panose="02020603050405020304" pitchFamily="18" charset="0"/>
                      </a:endParaRPr>
                    </a:p>
                  </a:txBody>
                  <a:tcPr marL="68580" marR="68580" marT="0" marB="0" anchor="ctr">
                    <a:lnL w="3175" cap="flat" cmpd="sng" algn="ctr">
                      <a:solidFill>
                        <a:schemeClr val="bg1"/>
                      </a:solidFill>
                      <a:prstDash val="solid"/>
                      <a:round/>
                      <a:headEnd type="none" w="med" len="med"/>
                      <a:tailEnd type="none" w="med" len="med"/>
                    </a:lnL>
                    <a:lnR w="12700" cmpd="sng">
                      <a:noFill/>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extLst>
                  <a:ext uri="{0D108BD9-81ED-4DB2-BD59-A6C34878D82A}">
                    <a16:rowId xmlns:a16="http://schemas.microsoft.com/office/drawing/2014/main" val="3120213132"/>
                  </a:ext>
                </a:extLst>
              </a:tr>
              <a:tr h="206280">
                <a:tc>
                  <a:txBody>
                    <a:bodyPr/>
                    <a:lstStyle/>
                    <a:p>
                      <a:pPr marL="0" marR="0" algn="ctr">
                        <a:lnSpc>
                          <a:spcPct val="116000"/>
                        </a:lnSpc>
                        <a:buNone/>
                      </a:pPr>
                      <a:r>
                        <a:rPr lang="en-US" sz="1200" dirty="0">
                          <a:effectLst/>
                          <a:latin typeface="Montserrat" pitchFamily="2" charset="77"/>
                        </a:rPr>
                        <a:t>8.29%</a:t>
                      </a:r>
                      <a:endParaRPr lang="en-US" sz="1200" dirty="0">
                        <a:effectLst/>
                        <a:latin typeface="Montserrat" pitchFamily="2" charset="77"/>
                        <a:ea typeface="Times New Roman" panose="02020603050405020304" pitchFamily="18" charset="0"/>
                      </a:endParaRPr>
                    </a:p>
                  </a:txBody>
                  <a:tcPr marL="68580" marR="68580" marT="0" marB="0" anchor="ctr">
                    <a:lnL w="12700" cmpd="sng">
                      <a:noFill/>
                    </a:lnL>
                    <a:lnR w="285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tc>
                  <a:txBody>
                    <a:bodyPr/>
                    <a:lstStyle/>
                    <a:p>
                      <a:pPr marL="0" marR="0" algn="ctr">
                        <a:lnSpc>
                          <a:spcPct val="116000"/>
                        </a:lnSpc>
                        <a:buNone/>
                      </a:pPr>
                      <a:r>
                        <a:rPr lang="en-US" sz="1200" dirty="0">
                          <a:solidFill>
                            <a:schemeClr val="bg1"/>
                          </a:solidFill>
                          <a:effectLst/>
                          <a:latin typeface="Montserrat" pitchFamily="2" charset="77"/>
                        </a:rPr>
                        <a:t>€212.15</a:t>
                      </a:r>
                      <a:endParaRPr lang="en-US" sz="1200" dirty="0">
                        <a:solidFill>
                          <a:schemeClr val="bg1"/>
                        </a:solidFill>
                        <a:effectLst/>
                        <a:latin typeface="Montserrat" pitchFamily="2" charset="77"/>
                        <a:ea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tc>
                  <a:txBody>
                    <a:bodyPr/>
                    <a:lstStyle/>
                    <a:p>
                      <a:pPr marL="0" marR="0" algn="ctr">
                        <a:lnSpc>
                          <a:spcPct val="116000"/>
                        </a:lnSpc>
                        <a:buNone/>
                      </a:pPr>
                      <a:r>
                        <a:rPr lang="en-US" sz="1200" dirty="0">
                          <a:solidFill>
                            <a:schemeClr val="bg1"/>
                          </a:solidFill>
                          <a:effectLst/>
                          <a:latin typeface="Montserrat" pitchFamily="2" charset="77"/>
                        </a:rPr>
                        <a:t>€226.84</a:t>
                      </a:r>
                      <a:endParaRPr lang="en-US" sz="1200" dirty="0">
                        <a:solidFill>
                          <a:schemeClr val="bg1"/>
                        </a:solidFill>
                        <a:effectLst/>
                        <a:latin typeface="Montserrat" pitchFamily="2" charset="77"/>
                        <a:ea typeface="Times New Roman" panose="02020603050405020304" pitchFamily="18" charset="0"/>
                      </a:endParaRPr>
                    </a:p>
                  </a:txBody>
                  <a:tcPr marL="68580" marR="6858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tc>
                  <a:txBody>
                    <a:bodyPr/>
                    <a:lstStyle/>
                    <a:p>
                      <a:pPr marL="0" marR="0" algn="ctr">
                        <a:lnSpc>
                          <a:spcPct val="116000"/>
                        </a:lnSpc>
                        <a:buNone/>
                      </a:pPr>
                      <a:r>
                        <a:rPr lang="en-US" sz="1200" dirty="0">
                          <a:solidFill>
                            <a:schemeClr val="bg1"/>
                          </a:solidFill>
                          <a:effectLst/>
                          <a:latin typeface="Montserrat" pitchFamily="2" charset="77"/>
                        </a:rPr>
                        <a:t>€244.60</a:t>
                      </a:r>
                      <a:endParaRPr lang="en-US" sz="1200" dirty="0">
                        <a:solidFill>
                          <a:schemeClr val="bg1"/>
                        </a:solidFill>
                        <a:effectLst/>
                        <a:latin typeface="Montserrat" pitchFamily="2" charset="77"/>
                        <a:ea typeface="Times New Roman" panose="02020603050405020304" pitchFamily="18" charset="0"/>
                      </a:endParaRPr>
                    </a:p>
                  </a:txBody>
                  <a:tcPr marL="68580" marR="68580" marT="0" marB="0" anchor="ctr">
                    <a:lnL w="3175" cap="flat" cmpd="sng" algn="ctr">
                      <a:solidFill>
                        <a:schemeClr val="bg1"/>
                      </a:solidFill>
                      <a:prstDash val="solid"/>
                      <a:round/>
                      <a:headEnd type="none" w="med" len="med"/>
                      <a:tailEnd type="none" w="med" len="med"/>
                    </a:lnL>
                    <a:lnR w="12700" cmpd="sng">
                      <a:noFill/>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extLst>
                  <a:ext uri="{0D108BD9-81ED-4DB2-BD59-A6C34878D82A}">
                    <a16:rowId xmlns:a16="http://schemas.microsoft.com/office/drawing/2014/main" val="1142171606"/>
                  </a:ext>
                </a:extLst>
              </a:tr>
              <a:tr h="213003">
                <a:tc>
                  <a:txBody>
                    <a:bodyPr/>
                    <a:lstStyle/>
                    <a:p>
                      <a:pPr marL="0" marR="0" algn="ctr">
                        <a:lnSpc>
                          <a:spcPct val="116000"/>
                        </a:lnSpc>
                        <a:buNone/>
                      </a:pPr>
                      <a:r>
                        <a:rPr lang="en-US" sz="1200" dirty="0">
                          <a:effectLst/>
                          <a:latin typeface="Montserrat" pitchFamily="2" charset="77"/>
                        </a:rPr>
                        <a:t>9.00%</a:t>
                      </a:r>
                      <a:endParaRPr lang="en-US" sz="1200" dirty="0">
                        <a:effectLst/>
                        <a:latin typeface="Montserrat" pitchFamily="2" charset="77"/>
                        <a:ea typeface="Times New Roman" panose="02020603050405020304" pitchFamily="18" charset="0"/>
                      </a:endParaRPr>
                    </a:p>
                  </a:txBody>
                  <a:tcPr marL="68580" marR="68580" marT="0" marB="0" anchor="ctr">
                    <a:lnL w="12700" cmpd="sng">
                      <a:noFill/>
                    </a:lnL>
                    <a:lnR w="285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75000"/>
                        <a:lumOff val="25000"/>
                      </a:schemeClr>
                    </a:solidFill>
                  </a:tcPr>
                </a:tc>
                <a:tc>
                  <a:txBody>
                    <a:bodyPr/>
                    <a:lstStyle/>
                    <a:p>
                      <a:pPr marL="0" marR="0" algn="ctr">
                        <a:lnSpc>
                          <a:spcPct val="116000"/>
                        </a:lnSpc>
                        <a:buNone/>
                      </a:pPr>
                      <a:r>
                        <a:rPr lang="en-US" sz="1200" dirty="0">
                          <a:solidFill>
                            <a:schemeClr val="bg1"/>
                          </a:solidFill>
                          <a:effectLst/>
                          <a:latin typeface="Montserrat" pitchFamily="2" charset="77"/>
                        </a:rPr>
                        <a:t>€185.20</a:t>
                      </a:r>
                      <a:endParaRPr lang="en-US" sz="1200" dirty="0">
                        <a:solidFill>
                          <a:schemeClr val="bg1"/>
                        </a:solidFill>
                        <a:effectLst/>
                        <a:latin typeface="Montserrat" pitchFamily="2" charset="77"/>
                        <a:ea typeface="Times New Roman" panose="02020603050405020304" pitchFamily="18" charset="0"/>
                      </a:endParaRPr>
                    </a:p>
                  </a:txBody>
                  <a:tcPr marL="68580" marR="68580" marT="0" marB="0" anchor="ctr">
                    <a:lnL w="285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75000"/>
                        <a:lumOff val="25000"/>
                      </a:schemeClr>
                    </a:solidFill>
                  </a:tcPr>
                </a:tc>
                <a:tc>
                  <a:txBody>
                    <a:bodyPr/>
                    <a:lstStyle/>
                    <a:p>
                      <a:pPr marL="0" marR="0" algn="ctr">
                        <a:lnSpc>
                          <a:spcPct val="116000"/>
                        </a:lnSpc>
                        <a:buNone/>
                      </a:pPr>
                      <a:r>
                        <a:rPr lang="en-US" sz="1200" dirty="0">
                          <a:solidFill>
                            <a:schemeClr val="bg1"/>
                          </a:solidFill>
                          <a:effectLst/>
                          <a:latin typeface="Montserrat" pitchFamily="2" charset="77"/>
                        </a:rPr>
                        <a:t>€196.06</a:t>
                      </a:r>
                      <a:endParaRPr lang="en-US" sz="1200" dirty="0">
                        <a:solidFill>
                          <a:schemeClr val="bg1"/>
                        </a:solidFill>
                        <a:effectLst/>
                        <a:latin typeface="Montserrat" pitchFamily="2" charset="77"/>
                        <a:ea typeface="Times New Roman" panose="02020603050405020304" pitchFamily="18" charset="0"/>
                      </a:endParaRPr>
                    </a:p>
                  </a:txBody>
                  <a:tcPr marL="68580" marR="6858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75000"/>
                        <a:lumOff val="25000"/>
                      </a:schemeClr>
                    </a:solidFill>
                  </a:tcPr>
                </a:tc>
                <a:tc>
                  <a:txBody>
                    <a:bodyPr/>
                    <a:lstStyle/>
                    <a:p>
                      <a:pPr marL="0" marR="0" algn="ctr">
                        <a:lnSpc>
                          <a:spcPct val="116000"/>
                        </a:lnSpc>
                        <a:buNone/>
                      </a:pPr>
                      <a:r>
                        <a:rPr lang="en-US" sz="1200" dirty="0">
                          <a:solidFill>
                            <a:schemeClr val="bg1"/>
                          </a:solidFill>
                          <a:effectLst/>
                          <a:latin typeface="Montserrat" pitchFamily="2" charset="77"/>
                        </a:rPr>
                        <a:t>€208.90</a:t>
                      </a:r>
                      <a:endParaRPr lang="en-US" sz="1200" dirty="0">
                        <a:solidFill>
                          <a:schemeClr val="bg1"/>
                        </a:solidFill>
                        <a:effectLst/>
                        <a:latin typeface="Montserrat" pitchFamily="2" charset="77"/>
                        <a:ea typeface="Times New Roman" panose="02020603050405020304" pitchFamily="18" charset="0"/>
                      </a:endParaRPr>
                    </a:p>
                  </a:txBody>
                  <a:tcPr marL="68580" marR="68580" marT="0" marB="0" anchor="ctr">
                    <a:lnL w="3175" cap="flat" cmpd="sng" algn="ctr">
                      <a:solidFill>
                        <a:schemeClr val="bg1"/>
                      </a:solidFill>
                      <a:prstDash val="solid"/>
                      <a:round/>
                      <a:headEnd type="none" w="med" len="med"/>
                      <a:tailEnd type="none" w="med" len="med"/>
                    </a:lnL>
                    <a:lnR w="12700" cmpd="sng">
                      <a:noFill/>
                    </a:lnR>
                    <a:lnT w="3175"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75000"/>
                        <a:lumOff val="25000"/>
                      </a:schemeClr>
                    </a:solidFill>
                  </a:tcPr>
                </a:tc>
                <a:extLst>
                  <a:ext uri="{0D108BD9-81ED-4DB2-BD59-A6C34878D82A}">
                    <a16:rowId xmlns:a16="http://schemas.microsoft.com/office/drawing/2014/main" val="2867438642"/>
                  </a:ext>
                </a:extLst>
              </a:tr>
            </a:tbl>
          </a:graphicData>
        </a:graphic>
      </p:graphicFrame>
      <p:sp>
        <p:nvSpPr>
          <p:cNvPr id="9" name="TextBox 8">
            <a:extLst>
              <a:ext uri="{FF2B5EF4-FFF2-40B4-BE49-F238E27FC236}">
                <a16:creationId xmlns:a16="http://schemas.microsoft.com/office/drawing/2014/main" id="{87F34442-9EC4-425C-11D8-D4734B269E18}"/>
              </a:ext>
            </a:extLst>
          </p:cNvPr>
          <p:cNvSpPr txBox="1"/>
          <p:nvPr/>
        </p:nvSpPr>
        <p:spPr>
          <a:xfrm>
            <a:off x="609600" y="3944074"/>
            <a:ext cx="4554614" cy="307777"/>
          </a:xfrm>
          <a:prstGeom prst="rect">
            <a:avLst/>
          </a:prstGeom>
          <a:noFill/>
        </p:spPr>
        <p:txBody>
          <a:bodyPr wrap="square" lIns="0" rtlCol="0">
            <a:spAutoFit/>
          </a:bodyPr>
          <a:lstStyle/>
          <a:p>
            <a:r>
              <a:rPr lang="en-US" sz="1400" b="1" dirty="0">
                <a:solidFill>
                  <a:schemeClr val="bg1"/>
                </a:solidFill>
                <a:latin typeface="Montserrat" pitchFamily="2" charset="77"/>
              </a:rPr>
              <a:t>Sensitivity Analysis (EBIT vs Terminal Growth)</a:t>
            </a:r>
          </a:p>
        </p:txBody>
      </p:sp>
      <p:sp>
        <p:nvSpPr>
          <p:cNvPr id="13" name="Oval 12">
            <a:extLst>
              <a:ext uri="{FF2B5EF4-FFF2-40B4-BE49-F238E27FC236}">
                <a16:creationId xmlns:a16="http://schemas.microsoft.com/office/drawing/2014/main" id="{3FC4B397-3F5A-4D7B-5CEC-47BBCA7EE321}"/>
              </a:ext>
            </a:extLst>
          </p:cNvPr>
          <p:cNvSpPr/>
          <p:nvPr/>
        </p:nvSpPr>
        <p:spPr>
          <a:xfrm>
            <a:off x="7451678" y="5024438"/>
            <a:ext cx="928047" cy="272956"/>
          </a:xfrm>
          <a:prstGeom prst="ellipse">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74621A3-0369-60A0-C56E-B23EA27FF39B}"/>
              </a:ext>
            </a:extLst>
          </p:cNvPr>
          <p:cNvSpPr txBox="1"/>
          <p:nvPr/>
        </p:nvSpPr>
        <p:spPr>
          <a:xfrm>
            <a:off x="609600" y="5868114"/>
            <a:ext cx="10972802" cy="307777"/>
          </a:xfrm>
          <a:prstGeom prst="rect">
            <a:avLst/>
          </a:prstGeom>
          <a:solidFill>
            <a:srgbClr val="B1100F"/>
          </a:solidFill>
        </p:spPr>
        <p:txBody>
          <a:bodyPr wrap="square" lIns="0" tIns="45720" rIns="0" bIns="45720" rtlCol="0" anchor="t">
            <a:spAutoFit/>
          </a:bodyPr>
          <a:lstStyle/>
          <a:p>
            <a:pPr algn="ctr"/>
            <a:r>
              <a:rPr lang="en-US" sz="1400" dirty="0">
                <a:solidFill>
                  <a:schemeClr val="bg1"/>
                </a:solidFill>
                <a:latin typeface="Montserrat" pitchFamily="2" charset="77"/>
              </a:rPr>
              <a:t>Even under relatively optimistic cases, the valuation requires sustained margin strength and minimal structural erosion.</a:t>
            </a:r>
          </a:p>
        </p:txBody>
      </p:sp>
      <p:sp>
        <p:nvSpPr>
          <p:cNvPr id="16" name="TextBox 15">
            <a:extLst>
              <a:ext uri="{FF2B5EF4-FFF2-40B4-BE49-F238E27FC236}">
                <a16:creationId xmlns:a16="http://schemas.microsoft.com/office/drawing/2014/main" id="{483FB38F-EB4B-93A5-8369-F4CD6B264549}"/>
              </a:ext>
            </a:extLst>
          </p:cNvPr>
          <p:cNvSpPr txBox="1"/>
          <p:nvPr/>
        </p:nvSpPr>
        <p:spPr>
          <a:xfrm>
            <a:off x="609598" y="6440070"/>
            <a:ext cx="10495967" cy="197618"/>
          </a:xfrm>
          <a:prstGeom prst="rect">
            <a:avLst/>
          </a:prstGeom>
          <a:noFill/>
        </p:spPr>
        <p:txBody>
          <a:bodyPr wrap="square" lIns="0" rtlCol="0">
            <a:spAutoFit/>
          </a:bodyPr>
          <a:lstStyle/>
          <a:p>
            <a:pPr marL="228600" indent="-228600">
              <a:lnSpc>
                <a:spcPts val="800"/>
              </a:lnSpc>
              <a:buAutoNum type="arabicPeriod"/>
            </a:pPr>
            <a:r>
              <a:rPr lang="en-US" sz="800" dirty="0">
                <a:solidFill>
                  <a:schemeClr val="bg1"/>
                </a:solidFill>
                <a:latin typeface="Montserrat" pitchFamily="2" charset="77"/>
              </a:rPr>
              <a:t>As of February 23, 2026.</a:t>
            </a:r>
          </a:p>
        </p:txBody>
      </p:sp>
      <p:sp>
        <p:nvSpPr>
          <p:cNvPr id="18" name="Slide Number Placeholder 17">
            <a:extLst>
              <a:ext uri="{FF2B5EF4-FFF2-40B4-BE49-F238E27FC236}">
                <a16:creationId xmlns:a16="http://schemas.microsoft.com/office/drawing/2014/main" id="{15D7035D-58EA-9BDD-BACE-46B4239C72F8}"/>
              </a:ext>
            </a:extLst>
          </p:cNvPr>
          <p:cNvSpPr>
            <a:spLocks noGrp="1"/>
          </p:cNvSpPr>
          <p:nvPr>
            <p:ph type="sldNum" sz="quarter" idx="12"/>
          </p:nvPr>
        </p:nvSpPr>
        <p:spPr/>
        <p:txBody>
          <a:bodyPr/>
          <a:lstStyle/>
          <a:p>
            <a:fld id="{5780461E-0DE5-ED4D-97A3-62EC4F103ED2}" type="slidenum">
              <a:rPr lang="en-US" smtClean="0"/>
              <a:t>9</a:t>
            </a:fld>
            <a:endParaRPr lang="en-US"/>
          </a:p>
        </p:txBody>
      </p:sp>
    </p:spTree>
    <p:extLst>
      <p:ext uri="{BB962C8B-B14F-4D97-AF65-F5344CB8AC3E}">
        <p14:creationId xmlns:p14="http://schemas.microsoft.com/office/powerpoint/2010/main" val="39154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2B50928-10C4-8603-5D74-31F211A483F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FAACE2B-C6A3-BB6B-79E8-CD1B3D71EDEA}"/>
              </a:ext>
            </a:extLst>
          </p:cNvPr>
          <p:cNvSpPr txBox="1"/>
          <p:nvPr/>
        </p:nvSpPr>
        <p:spPr>
          <a:xfrm>
            <a:off x="609600" y="682109"/>
            <a:ext cx="10972800" cy="646331"/>
          </a:xfrm>
          <a:prstGeom prst="rect">
            <a:avLst/>
          </a:prstGeom>
          <a:noFill/>
        </p:spPr>
        <p:txBody>
          <a:bodyPr wrap="square" lIns="0" tIns="45720" rIns="0" bIns="45720" rtlCol="0" anchor="t">
            <a:spAutoFit/>
          </a:bodyPr>
          <a:lstStyle/>
          <a:p>
            <a:r>
              <a:rPr lang="en-US" sz="3600" b="1" dirty="0">
                <a:solidFill>
                  <a:schemeClr val="bg1"/>
                </a:solidFill>
                <a:latin typeface="Montserrat" pitchFamily="2" charset="77"/>
              </a:rPr>
              <a:t>Final Recommendation: Short Ferrari</a:t>
            </a:r>
          </a:p>
        </p:txBody>
      </p:sp>
      <p:sp>
        <p:nvSpPr>
          <p:cNvPr id="4" name="TextBox 3">
            <a:extLst>
              <a:ext uri="{FF2B5EF4-FFF2-40B4-BE49-F238E27FC236}">
                <a16:creationId xmlns:a16="http://schemas.microsoft.com/office/drawing/2014/main" id="{69F9A51A-D803-AEC8-BB4F-5005E88AD117}"/>
              </a:ext>
            </a:extLst>
          </p:cNvPr>
          <p:cNvSpPr txBox="1"/>
          <p:nvPr/>
        </p:nvSpPr>
        <p:spPr>
          <a:xfrm>
            <a:off x="609598" y="1524100"/>
            <a:ext cx="10744202" cy="400110"/>
          </a:xfrm>
          <a:prstGeom prst="rect">
            <a:avLst/>
          </a:prstGeom>
          <a:noFill/>
        </p:spPr>
        <p:txBody>
          <a:bodyPr wrap="square" lIns="0" tIns="45720" rIns="0" bIns="45720" rtlCol="0" anchor="t">
            <a:spAutoFit/>
          </a:bodyPr>
          <a:lstStyle/>
          <a:p>
            <a:r>
              <a:rPr lang="en-US" sz="2000">
                <a:solidFill>
                  <a:schemeClr val="bg1"/>
                </a:solidFill>
                <a:latin typeface="Montserrat" pitchFamily="2" charset="77"/>
              </a:rPr>
              <a:t>Will the transition to full electrification put Ferrari’s pricing power at risk? </a:t>
            </a:r>
          </a:p>
        </p:txBody>
      </p:sp>
      <p:pic>
        <p:nvPicPr>
          <p:cNvPr id="8" name="Graphic 7" descr="Castle scene with solid fill">
            <a:extLst>
              <a:ext uri="{FF2B5EF4-FFF2-40B4-BE49-F238E27FC236}">
                <a16:creationId xmlns:a16="http://schemas.microsoft.com/office/drawing/2014/main" id="{21FE87FB-E292-FBCC-D49D-C315D83F70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57756" y="3380587"/>
            <a:ext cx="1559585" cy="1581738"/>
          </a:xfrm>
          <a:prstGeom prst="rect">
            <a:avLst/>
          </a:prstGeom>
          <a:ln w="34925">
            <a:noFill/>
          </a:ln>
          <a:effectLst>
            <a:glow rad="101600">
              <a:schemeClr val="accent1">
                <a:satMod val="175000"/>
                <a:alpha val="40000"/>
              </a:schemeClr>
            </a:glow>
            <a:outerShdw blurRad="149987" dist="250190" dir="8460000" algn="ctr">
              <a:srgbClr val="000000">
                <a:alpha val="28000"/>
              </a:srgbClr>
            </a:outerShdw>
          </a:effectLst>
        </p:spPr>
      </p:pic>
      <p:pic>
        <p:nvPicPr>
          <p:cNvPr id="10" name="Graphic 9" descr="High voltage with solid fill">
            <a:extLst>
              <a:ext uri="{FF2B5EF4-FFF2-40B4-BE49-F238E27FC236}">
                <a16:creationId xmlns:a16="http://schemas.microsoft.com/office/drawing/2014/main" id="{9418C2DC-6318-9210-7DF3-F68F4144E2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94068" y="2164879"/>
            <a:ext cx="975853" cy="975853"/>
          </a:xfrm>
          <a:prstGeom prst="rect">
            <a:avLst/>
          </a:prstGeom>
          <a:effectLst>
            <a:glow rad="101600">
              <a:schemeClr val="accent1">
                <a:satMod val="175000"/>
                <a:alpha val="40000"/>
              </a:schemeClr>
            </a:glow>
          </a:effectLst>
        </p:spPr>
      </p:pic>
      <p:pic>
        <p:nvPicPr>
          <p:cNvPr id="12" name="Graphic 11" descr="Race Car with solid fill">
            <a:extLst>
              <a:ext uri="{FF2B5EF4-FFF2-40B4-BE49-F238E27FC236}">
                <a16:creationId xmlns:a16="http://schemas.microsoft.com/office/drawing/2014/main" id="{623C417D-912B-6BB4-CFE2-5825F09137B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73821" y="3175334"/>
            <a:ext cx="1786991" cy="1786991"/>
          </a:xfrm>
          <a:prstGeom prst="rect">
            <a:avLst/>
          </a:prstGeom>
          <a:effectLst>
            <a:glow rad="101600">
              <a:schemeClr val="accent1">
                <a:satMod val="175000"/>
                <a:alpha val="40000"/>
              </a:schemeClr>
            </a:glow>
          </a:effectLst>
        </p:spPr>
      </p:pic>
      <p:sp>
        <p:nvSpPr>
          <p:cNvPr id="13" name="Terminator 12">
            <a:extLst>
              <a:ext uri="{FF2B5EF4-FFF2-40B4-BE49-F238E27FC236}">
                <a16:creationId xmlns:a16="http://schemas.microsoft.com/office/drawing/2014/main" id="{4102F850-2BCA-3958-DDC5-5864259B79E5}"/>
              </a:ext>
            </a:extLst>
          </p:cNvPr>
          <p:cNvSpPr/>
          <p:nvPr/>
        </p:nvSpPr>
        <p:spPr>
          <a:xfrm>
            <a:off x="5298869" y="5253134"/>
            <a:ext cx="1594262" cy="584428"/>
          </a:xfrm>
          <a:prstGeom prst="flowChartTerminator">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latin typeface="Montserrat" pitchFamily="2" charset="77"/>
              </a:rPr>
              <a:t>€ </a:t>
            </a:r>
            <a:r>
              <a:rPr lang="en-US" b="1">
                <a:latin typeface="Montserrat" pitchFamily="2" charset="77"/>
              </a:rPr>
              <a:t>226.84</a:t>
            </a:r>
          </a:p>
        </p:txBody>
      </p:sp>
      <p:sp>
        <p:nvSpPr>
          <p:cNvPr id="14" name="TextBox 13">
            <a:extLst>
              <a:ext uri="{FF2B5EF4-FFF2-40B4-BE49-F238E27FC236}">
                <a16:creationId xmlns:a16="http://schemas.microsoft.com/office/drawing/2014/main" id="{AF20C525-0CD5-3849-830E-73DF9DF8B54C}"/>
              </a:ext>
            </a:extLst>
          </p:cNvPr>
          <p:cNvSpPr txBox="1"/>
          <p:nvPr/>
        </p:nvSpPr>
        <p:spPr>
          <a:xfrm>
            <a:off x="1427734" y="5016287"/>
            <a:ext cx="2619628" cy="338554"/>
          </a:xfrm>
          <a:prstGeom prst="rect">
            <a:avLst/>
          </a:prstGeom>
          <a:noFill/>
        </p:spPr>
        <p:txBody>
          <a:bodyPr wrap="none" rtlCol="0">
            <a:spAutoFit/>
          </a:bodyPr>
          <a:lstStyle/>
          <a:p>
            <a:r>
              <a:rPr lang="en-US" sz="1600" b="1" dirty="0">
                <a:solidFill>
                  <a:schemeClr val="bg1"/>
                </a:solidFill>
                <a:latin typeface="Montserrat" pitchFamily="2" charset="77"/>
              </a:rPr>
              <a:t>Scarcity Driven Luxury</a:t>
            </a:r>
          </a:p>
        </p:txBody>
      </p:sp>
      <p:sp>
        <p:nvSpPr>
          <p:cNvPr id="16" name="TextBox 15">
            <a:extLst>
              <a:ext uri="{FF2B5EF4-FFF2-40B4-BE49-F238E27FC236}">
                <a16:creationId xmlns:a16="http://schemas.microsoft.com/office/drawing/2014/main" id="{5680953E-A4D1-5C4E-4AA8-F90D64F2F169}"/>
              </a:ext>
            </a:extLst>
          </p:cNvPr>
          <p:cNvSpPr txBox="1"/>
          <p:nvPr/>
        </p:nvSpPr>
        <p:spPr>
          <a:xfrm>
            <a:off x="4801095" y="3106783"/>
            <a:ext cx="2589809" cy="338554"/>
          </a:xfrm>
          <a:prstGeom prst="rect">
            <a:avLst/>
          </a:prstGeom>
          <a:noFill/>
        </p:spPr>
        <p:txBody>
          <a:bodyPr wrap="square">
            <a:spAutoFit/>
          </a:bodyPr>
          <a:lstStyle/>
          <a:p>
            <a:pPr algn="ctr"/>
            <a:r>
              <a:rPr lang="en-US" sz="1600" b="1" dirty="0">
                <a:solidFill>
                  <a:schemeClr val="bg1"/>
                </a:solidFill>
                <a:latin typeface="Montserrat" pitchFamily="2" charset="77"/>
              </a:rPr>
              <a:t>Full BEV Transition</a:t>
            </a:r>
          </a:p>
        </p:txBody>
      </p:sp>
      <p:sp>
        <p:nvSpPr>
          <p:cNvPr id="19" name="TextBox 18">
            <a:extLst>
              <a:ext uri="{FF2B5EF4-FFF2-40B4-BE49-F238E27FC236}">
                <a16:creationId xmlns:a16="http://schemas.microsoft.com/office/drawing/2014/main" id="{7D0D0E42-116E-E350-2A61-13DA2514AB3F}"/>
              </a:ext>
            </a:extLst>
          </p:cNvPr>
          <p:cNvSpPr txBox="1"/>
          <p:nvPr/>
        </p:nvSpPr>
        <p:spPr>
          <a:xfrm>
            <a:off x="7671661" y="4426708"/>
            <a:ext cx="3313618" cy="338554"/>
          </a:xfrm>
          <a:prstGeom prst="rect">
            <a:avLst/>
          </a:prstGeom>
          <a:noFill/>
        </p:spPr>
        <p:txBody>
          <a:bodyPr wrap="square">
            <a:spAutoFit/>
          </a:bodyPr>
          <a:lstStyle/>
          <a:p>
            <a:pPr algn="ctr"/>
            <a:r>
              <a:rPr lang="en-US" sz="1600" b="1" dirty="0">
                <a:solidFill>
                  <a:schemeClr val="bg1"/>
                </a:solidFill>
                <a:latin typeface="Montserrat" pitchFamily="2" charset="77"/>
              </a:rPr>
              <a:t>Commoditized Performance</a:t>
            </a:r>
          </a:p>
        </p:txBody>
      </p:sp>
      <p:sp>
        <p:nvSpPr>
          <p:cNvPr id="21" name="TextBox 20">
            <a:extLst>
              <a:ext uri="{FF2B5EF4-FFF2-40B4-BE49-F238E27FC236}">
                <a16:creationId xmlns:a16="http://schemas.microsoft.com/office/drawing/2014/main" id="{2ABCC7BD-697D-10E8-7A6C-F1A37910F37A}"/>
              </a:ext>
            </a:extLst>
          </p:cNvPr>
          <p:cNvSpPr txBox="1"/>
          <p:nvPr/>
        </p:nvSpPr>
        <p:spPr>
          <a:xfrm>
            <a:off x="5298869" y="5922446"/>
            <a:ext cx="1594262" cy="338554"/>
          </a:xfrm>
          <a:prstGeom prst="rect">
            <a:avLst/>
          </a:prstGeom>
          <a:noFill/>
        </p:spPr>
        <p:txBody>
          <a:bodyPr wrap="square">
            <a:spAutoFit/>
          </a:bodyPr>
          <a:lstStyle/>
          <a:p>
            <a:pPr algn="ctr"/>
            <a:r>
              <a:rPr lang="en-US" sz="1600" b="1" dirty="0">
                <a:solidFill>
                  <a:schemeClr val="bg1"/>
                </a:solidFill>
                <a:latin typeface="Montserrat" pitchFamily="2" charset="77"/>
              </a:rPr>
              <a:t>Overvalued</a:t>
            </a:r>
            <a:endParaRPr lang="en-US" b="1" dirty="0">
              <a:solidFill>
                <a:schemeClr val="bg1"/>
              </a:solidFill>
              <a:latin typeface="Montserrat" pitchFamily="2" charset="77"/>
            </a:endParaRPr>
          </a:p>
        </p:txBody>
      </p:sp>
      <p:sp>
        <p:nvSpPr>
          <p:cNvPr id="24" name="Bent Arrow 23">
            <a:extLst>
              <a:ext uri="{FF2B5EF4-FFF2-40B4-BE49-F238E27FC236}">
                <a16:creationId xmlns:a16="http://schemas.microsoft.com/office/drawing/2014/main" id="{C204F835-8613-CF8C-B344-6C9D6144FF59}"/>
              </a:ext>
            </a:extLst>
          </p:cNvPr>
          <p:cNvSpPr/>
          <p:nvPr/>
        </p:nvSpPr>
        <p:spPr>
          <a:xfrm>
            <a:off x="2638268" y="2268724"/>
            <a:ext cx="2367685" cy="960121"/>
          </a:xfrm>
          <a:prstGeom prst="bentArrow">
            <a:avLst>
              <a:gd name="adj1" fmla="val 16375"/>
              <a:gd name="adj2" fmla="val 25778"/>
              <a:gd name="adj3" fmla="val 25000"/>
              <a:gd name="adj4" fmla="val 82409"/>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6" name="Picture 5" descr="A white horse on a black background&#10;&#10;AI-generated content may be incorrect.">
            <a:extLst>
              <a:ext uri="{FF2B5EF4-FFF2-40B4-BE49-F238E27FC236}">
                <a16:creationId xmlns:a16="http://schemas.microsoft.com/office/drawing/2014/main" id="{9A83C67E-C668-3B31-5EA7-3AA64BCFDE23}"/>
              </a:ext>
            </a:extLst>
          </p:cNvPr>
          <p:cNvPicPr>
            <a:picLocks noChangeAspect="1"/>
          </p:cNvPicPr>
          <p:nvPr/>
        </p:nvPicPr>
        <p:blipFill>
          <a:blip r:embed="rId6">
            <a:clrChange>
              <a:clrFrom>
                <a:srgbClr val="000000"/>
              </a:clrFrom>
              <a:clrTo>
                <a:srgbClr val="000000">
                  <a:alpha val="0"/>
                </a:srgbClr>
              </a:clrTo>
            </a:clrChange>
            <a:alphaModFix amt="20000"/>
          </a:blip>
          <a:stretch>
            <a:fillRect/>
          </a:stretch>
        </p:blipFill>
        <p:spPr>
          <a:xfrm>
            <a:off x="5191186" y="3106783"/>
            <a:ext cx="1786991" cy="2283965"/>
          </a:xfrm>
          <a:prstGeom prst="rect">
            <a:avLst/>
          </a:prstGeom>
        </p:spPr>
      </p:pic>
      <p:sp>
        <p:nvSpPr>
          <p:cNvPr id="3" name="Slide Number Placeholder 2">
            <a:extLst>
              <a:ext uri="{FF2B5EF4-FFF2-40B4-BE49-F238E27FC236}">
                <a16:creationId xmlns:a16="http://schemas.microsoft.com/office/drawing/2014/main" id="{67CB83F3-BF7F-D02B-2D83-19AAC11B9D8E}"/>
              </a:ext>
            </a:extLst>
          </p:cNvPr>
          <p:cNvSpPr>
            <a:spLocks noGrp="1"/>
          </p:cNvSpPr>
          <p:nvPr>
            <p:ph type="sldNum" sz="quarter" idx="12"/>
          </p:nvPr>
        </p:nvSpPr>
        <p:spPr/>
        <p:txBody>
          <a:bodyPr/>
          <a:lstStyle/>
          <a:p>
            <a:fld id="{5780461E-0DE5-ED4D-97A3-62EC4F103ED2}" type="slidenum">
              <a:rPr lang="en-US" smtClean="0"/>
              <a:t>10</a:t>
            </a:fld>
            <a:endParaRPr lang="en-US"/>
          </a:p>
        </p:txBody>
      </p:sp>
      <p:sp>
        <p:nvSpPr>
          <p:cNvPr id="5" name="Bent Arrow 4">
            <a:extLst>
              <a:ext uri="{FF2B5EF4-FFF2-40B4-BE49-F238E27FC236}">
                <a16:creationId xmlns:a16="http://schemas.microsoft.com/office/drawing/2014/main" id="{B26247FE-3793-4AA2-C65D-1B7E3EC83700}"/>
              </a:ext>
            </a:extLst>
          </p:cNvPr>
          <p:cNvSpPr/>
          <p:nvPr/>
        </p:nvSpPr>
        <p:spPr>
          <a:xfrm flipH="1" flipV="1">
            <a:off x="7118364" y="4877441"/>
            <a:ext cx="2367685" cy="960121"/>
          </a:xfrm>
          <a:prstGeom prst="bentArrow">
            <a:avLst>
              <a:gd name="adj1" fmla="val 16375"/>
              <a:gd name="adj2" fmla="val 25778"/>
              <a:gd name="adj3" fmla="val 25000"/>
              <a:gd name="adj4" fmla="val 82409"/>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Bent Arrow 8">
            <a:extLst>
              <a:ext uri="{FF2B5EF4-FFF2-40B4-BE49-F238E27FC236}">
                <a16:creationId xmlns:a16="http://schemas.microsoft.com/office/drawing/2014/main" id="{E8B345C6-90DB-51DB-190B-E74661177A85}"/>
              </a:ext>
            </a:extLst>
          </p:cNvPr>
          <p:cNvSpPr/>
          <p:nvPr/>
        </p:nvSpPr>
        <p:spPr>
          <a:xfrm rot="5400000">
            <a:off x="7955843" y="1614817"/>
            <a:ext cx="1015681" cy="2589808"/>
          </a:xfrm>
          <a:prstGeom prst="bentArrow">
            <a:avLst>
              <a:gd name="adj1" fmla="val 16375"/>
              <a:gd name="adj2" fmla="val 25778"/>
              <a:gd name="adj3" fmla="val 23474"/>
              <a:gd name="adj4" fmla="val 76526"/>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77285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2" presetClass="entr" presetSubtype="1"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p:tgtEl>
                                          <p:spTgt spid="24"/>
                                        </p:tgtEl>
                                        <p:attrNameLst>
                                          <p:attrName>ppt_y</p:attrName>
                                        </p:attrNameLst>
                                      </p:cBhvr>
                                      <p:tavLst>
                                        <p:tav tm="0">
                                          <p:val>
                                            <p:strVal val="#ppt_y-#ppt_h*1.125000"/>
                                          </p:val>
                                        </p:tav>
                                        <p:tav tm="100000">
                                          <p:val>
                                            <p:strVal val="#ppt_y"/>
                                          </p:val>
                                        </p:tav>
                                      </p:tavLst>
                                    </p:anim>
                                    <p:animEffect transition="in" filter="wipe(down)">
                                      <p:cBhvr>
                                        <p:cTn id="14" dur="500"/>
                                        <p:tgtEl>
                                          <p:spTgt spid="24"/>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2" presetClass="entr" presetSubtype="1"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p:tgtEl>
                                          <p:spTgt spid="9"/>
                                        </p:tgtEl>
                                        <p:attrNameLst>
                                          <p:attrName>ppt_y</p:attrName>
                                        </p:attrNameLst>
                                      </p:cBhvr>
                                      <p:tavLst>
                                        <p:tav tm="0">
                                          <p:val>
                                            <p:strVal val="#ppt_y-#ppt_h*1.125000"/>
                                          </p:val>
                                        </p:tav>
                                        <p:tav tm="100000">
                                          <p:val>
                                            <p:strVal val="#ppt_y"/>
                                          </p:val>
                                        </p:tav>
                                      </p:tavLst>
                                    </p:anim>
                                    <p:animEffect transition="in" filter="wipe(down)">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p:tgtEl>
                                          <p:spTgt spid="5"/>
                                        </p:tgtEl>
                                        <p:attrNameLst>
                                          <p:attrName>ppt_y</p:attrName>
                                        </p:attrNameLst>
                                      </p:cBhvr>
                                      <p:tavLst>
                                        <p:tav tm="0">
                                          <p:val>
                                            <p:strVal val="#ppt_y+#ppt_h*1.125000"/>
                                          </p:val>
                                        </p:tav>
                                        <p:tav tm="100000">
                                          <p:val>
                                            <p:strVal val="#ppt_y"/>
                                          </p:val>
                                        </p:tav>
                                      </p:tavLst>
                                    </p:anim>
                                    <p:animEffect transition="in" filter="wipe(up)">
                                      <p:cBhvr>
                                        <p:cTn id="38" dur="500"/>
                                        <p:tgtEl>
                                          <p:spTgt spid="5"/>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6" grpId="0"/>
      <p:bldP spid="19" grpId="0"/>
      <p:bldP spid="21" grpId="0"/>
      <p:bldP spid="24" grpId="0" animBg="1"/>
      <p:bldP spid="5"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11000">
              <a:srgbClr val="BD1111">
                <a:lumMod val="100000"/>
              </a:srgbClr>
            </a:gs>
            <a:gs pos="100000">
              <a:schemeClr val="tx1"/>
            </a:gs>
            <a:gs pos="67000">
              <a:schemeClr val="tx1"/>
            </a:gs>
          </a:gsLst>
          <a:path path="rect">
            <a:fillToRect l="100000" b="100000"/>
          </a:path>
          <a:tileRect t="-100000" r="-100000"/>
        </a:gradFill>
        <a:effectLst/>
      </p:bgPr>
    </p:bg>
    <p:spTree>
      <p:nvGrpSpPr>
        <p:cNvPr id="1" name="">
          <a:extLst>
            <a:ext uri="{FF2B5EF4-FFF2-40B4-BE49-F238E27FC236}">
              <a16:creationId xmlns:a16="http://schemas.microsoft.com/office/drawing/2014/main" id="{A2D13604-E33E-37DC-9F1C-41276E8692F2}"/>
            </a:ext>
          </a:extLst>
        </p:cNvPr>
        <p:cNvGrpSpPr/>
        <p:nvPr/>
      </p:nvGrpSpPr>
      <p:grpSpPr>
        <a:xfrm>
          <a:off x="0" y="0"/>
          <a:ext cx="0" cy="0"/>
          <a:chOff x="0" y="0"/>
          <a:chExt cx="0" cy="0"/>
        </a:xfrm>
      </p:grpSpPr>
      <p:pic>
        <p:nvPicPr>
          <p:cNvPr id="2" name="Picture 1" descr="A white horse on a black background&#10;&#10;AI-generated content may be incorrect.">
            <a:extLst>
              <a:ext uri="{FF2B5EF4-FFF2-40B4-BE49-F238E27FC236}">
                <a16:creationId xmlns:a16="http://schemas.microsoft.com/office/drawing/2014/main" id="{545A8BB9-7A3F-EDDE-5506-A57B3BACCA3F}"/>
              </a:ext>
            </a:extLst>
          </p:cNvPr>
          <p:cNvPicPr>
            <a:picLocks noChangeAspect="1"/>
          </p:cNvPicPr>
          <p:nvPr/>
        </p:nvPicPr>
        <p:blipFill>
          <a:blip r:embed="rId2">
            <a:clrChange>
              <a:clrFrom>
                <a:srgbClr val="000000"/>
              </a:clrFrom>
              <a:clrTo>
                <a:srgbClr val="000000">
                  <a:alpha val="0"/>
                </a:srgbClr>
              </a:clrTo>
            </a:clrChange>
          </a:blip>
          <a:stretch>
            <a:fillRect/>
          </a:stretch>
        </p:blipFill>
        <p:spPr>
          <a:xfrm>
            <a:off x="4912405" y="1913709"/>
            <a:ext cx="2146300" cy="2743200"/>
          </a:xfrm>
          <a:prstGeom prst="rect">
            <a:avLst/>
          </a:prstGeom>
        </p:spPr>
      </p:pic>
      <p:sp>
        <p:nvSpPr>
          <p:cNvPr id="3" name="Slide Number Placeholder 2">
            <a:extLst>
              <a:ext uri="{FF2B5EF4-FFF2-40B4-BE49-F238E27FC236}">
                <a16:creationId xmlns:a16="http://schemas.microsoft.com/office/drawing/2014/main" id="{1EBBDAB6-FD40-8FD5-E019-ED45D1F9C8FD}"/>
              </a:ext>
            </a:extLst>
          </p:cNvPr>
          <p:cNvSpPr>
            <a:spLocks noGrp="1"/>
          </p:cNvSpPr>
          <p:nvPr>
            <p:ph type="sldNum" sz="quarter" idx="12"/>
          </p:nvPr>
        </p:nvSpPr>
        <p:spPr/>
        <p:txBody>
          <a:bodyPr/>
          <a:lstStyle/>
          <a:p>
            <a:fld id="{5780461E-0DE5-ED4D-97A3-62EC4F103ED2}" type="slidenum">
              <a:rPr lang="en-US" smtClean="0"/>
              <a:t>11</a:t>
            </a:fld>
            <a:endParaRPr lang="en-US"/>
          </a:p>
        </p:txBody>
      </p:sp>
    </p:spTree>
    <p:extLst>
      <p:ext uri="{BB962C8B-B14F-4D97-AF65-F5344CB8AC3E}">
        <p14:creationId xmlns:p14="http://schemas.microsoft.com/office/powerpoint/2010/main" val="5918723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556</TotalTime>
  <Words>819</Words>
  <Application>Microsoft Macintosh PowerPoint</Application>
  <PresentationFormat>Widescreen</PresentationFormat>
  <Paragraphs>181</Paragraphs>
  <Slides>11</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Aptos Display</vt:lpstr>
      <vt:lpstr>Arial</vt:lpstr>
      <vt:lpstr>Bodoni MT</vt:lpstr>
      <vt:lpstr>Calibri</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Ananyan, Albina</dc:creator>
  <cp:lastModifiedBy>Albina Ananyan</cp:lastModifiedBy>
  <cp:revision>5</cp:revision>
  <dcterms:created xsi:type="dcterms:W3CDTF">2026-02-23T22:28:38Z</dcterms:created>
  <dcterms:modified xsi:type="dcterms:W3CDTF">2026-03-20T16:55:20Z</dcterms:modified>
</cp:coreProperties>
</file>